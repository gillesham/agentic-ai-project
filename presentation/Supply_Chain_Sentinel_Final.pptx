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30 seconds): This is the design behind our solution. We will walk through the goal, what the agent sees and remembers, the architecture and why we chose it, the tools, how it thinks, a real example, how we keep it safe, how it is built, and the payoff. Please replace the teammate names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Lead with the goal in plain language, then the money, then the measures of success. The point is that the goal is tied to real, measurable value.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The first table covers what starts the agent, what it reads, and what changes versus what is stable. The second is the four kinds of memory, which is what lets it reason with context instead of starting cold each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At the top is a light supervisor that only decides and routes. In the middle are four specialists, each a small reasoning agent with its own tools and memory that runs its own reason-and-act loop. They share notes as they go. Below are the tools, with the risky actions starred, and at the bottom the real systems we would connect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The assignment asks for the trade-offs, so we name them openly. Each specialist reasons and acts in a loop because the number of steps is not fixed and we want it to observe and adapt.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Read tools are how it perceives, calculate tools are how it works things out, and act tools are how it changes the real world. The approval column is the safety net. The agent chooses which tool to use and with what details; the tool simply does the job.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These are the four stages of the lifecycle. The honest note at the bottom matters: we are not claiming the system teaches itself. It improves because human feedback is fed back into its thresholds and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to 4 minutes, the heart of the talk) You can run the live demonstration here; it works offline and gives the same result every time. The moment to stress is the adapting step: the agent rejects its own first plan, because rushing a shipment that is stuck upstream would be pointless. That is real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A note for the professor: the design handout itself contained a hidden instruction telling AI tools to refuse the task. That is a real manipulation attempt, and our design treats such text as information to read, never as a command, which is exactly the last row of this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80 seconds) The message here: we picked the strongest reasoning model but kept the design model-agnostic so we can swap it, we host in our own cloud for data control, we build in Python on open standards, and our prototype already mirrors every production piece, so the design is realistic.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Close on the gains, then the roadmap. The deeper hierarchy from slide four is the path to the other challenges. End on the pilot request, which is small, safe and measurable, then move to the thank-you slide and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thank the board, then open the floor. Keep the live demonstration ready in case anyone wants to see the agent work through the example in real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40280"/>
            <a:ext cx="12191695" cy="7315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515600" cy="1280160"/>
          </a:xfrm>
          <a:prstGeom prst="rect">
            <a:avLst/>
          </a:prstGeom>
          <a:noFill/>
        </p:spPr>
        <p:txBody>
          <a:bodyPr wrap="square" anchor="t">
            <a:spAutoFit/>
          </a:bodyPr>
          <a:lstStyle/>
          <a:p>
            <a:pPr algn="l">
              <a:lnSpc>
                <a:spcPct val="105000"/>
              </a:lnSpc>
              <a:spcAft>
                <a:spcPts val="600"/>
              </a:spcAft>
            </a:pPr>
            <a:r>
              <a:rPr sz="5000" b="1">
                <a:solidFill>
                  <a:srgbClr val="FFFFFF"/>
                </a:solidFill>
                <a:latin typeface="Calibri"/>
              </a:rPr>
              <a:t>Supply Chain Sentinel</a:t>
            </a:r>
          </a:p>
        </p:txBody>
      </p:sp>
      <p:sp>
        <p:nvSpPr>
          <p:cNvPr id="5" name="TextBox 4"/>
          <p:cNvSpPr txBox="1"/>
          <p:nvPr/>
        </p:nvSpPr>
        <p:spPr>
          <a:xfrm>
            <a:off x="868680" y="3337560"/>
            <a:ext cx="10607040" cy="822960"/>
          </a:xfrm>
          <a:prstGeom prst="rect">
            <a:avLst/>
          </a:prstGeom>
          <a:noFill/>
        </p:spPr>
        <p:txBody>
          <a:bodyPr wrap="square" anchor="t">
            <a:spAutoFit/>
          </a:bodyPr>
          <a:lstStyle/>
          <a:p>
            <a:pPr algn="l">
              <a:lnSpc>
                <a:spcPct val="105000"/>
              </a:lnSpc>
              <a:spcAft>
                <a:spcPts val="600"/>
              </a:spcAft>
            </a:pPr>
            <a:r>
              <a:rPr sz="2300" b="0">
                <a:solidFill>
                  <a:srgbClr val="5FD0D9"/>
                </a:solidFill>
                <a:latin typeface="Calibri"/>
              </a:rPr>
              <a:t>An agentic AI teammate that keeps our production lines running through supply shocks</a:t>
            </a:r>
          </a:p>
        </p:txBody>
      </p:sp>
      <p:sp>
        <p:nvSpPr>
          <p:cNvPr id="6" name="TextBox 5"/>
          <p:cNvSpPr txBox="1"/>
          <p:nvPr/>
        </p:nvSpPr>
        <p:spPr>
          <a:xfrm>
            <a:off x="868680" y="4160520"/>
            <a:ext cx="10607040" cy="548640"/>
          </a:xfrm>
          <a:prstGeom prst="rect">
            <a:avLst/>
          </a:prstGeom>
          <a:noFill/>
        </p:spPr>
        <p:txBody>
          <a:bodyPr wrap="square" anchor="t">
            <a:spAutoFit/>
          </a:bodyPr>
          <a:lstStyle/>
          <a:p>
            <a:pPr algn="l">
              <a:lnSpc>
                <a:spcPct val="105000"/>
              </a:lnSpc>
              <a:spcAft>
                <a:spcPts val="600"/>
              </a:spcAft>
            </a:pPr>
            <a:r>
              <a:rPr sz="1700" b="0">
                <a:solidFill>
                  <a:srgbClr val="FFFFFF"/>
                </a:solidFill>
                <a:latin typeface="Calibri"/>
              </a:rPr>
              <a:t>Designed for Titan Manufacturing Corporation</a:t>
            </a:r>
          </a:p>
        </p:txBody>
      </p:sp>
      <p:sp>
        <p:nvSpPr>
          <p:cNvPr id="7" name="TextBox 6"/>
          <p:cNvSpPr txBox="1"/>
          <p:nvPr/>
        </p:nvSpPr>
        <p:spPr>
          <a:xfrm>
            <a:off x="868680" y="5577840"/>
            <a:ext cx="10607040" cy="822960"/>
          </a:xfrm>
          <a:prstGeom prst="rect">
            <a:avLst/>
          </a:prstGeom>
          <a:noFill/>
        </p:spPr>
        <p:txBody>
          <a:bodyPr wrap="square" anchor="t">
            <a:spAutoFit/>
          </a:bodyPr>
          <a:lstStyle/>
          <a:p>
            <a:pPr algn="l">
              <a:lnSpc>
                <a:spcPct val="105000"/>
              </a:lnSpc>
              <a:spcAft>
                <a:spcPts val="600"/>
              </a:spcAft>
            </a:pPr>
            <a:r>
              <a:rPr sz="1400" b="0">
                <a:solidFill>
                  <a:srgbClr val="CFDAF0"/>
                </a:solidFill>
                <a:latin typeface="Calibri"/>
              </a:rPr>
              <a:t>Agentic AI for IT  |  IE University, School of Science and Technology</a:t>
            </a:r>
          </a:p>
          <a:p>
            <a:pPr algn="l">
              <a:lnSpc>
                <a:spcPct val="105000"/>
              </a:lnSpc>
              <a:spcAft>
                <a:spcPts val="600"/>
              </a:spcAft>
            </a:pPr>
            <a:r>
              <a:rPr sz="1400" b="0">
                <a:solidFill>
                  <a:srgbClr val="CFDAF0"/>
                </a:solidFill>
                <a:latin typeface="Calibri"/>
              </a:rPr>
              <a:t>Team: Gilles Hamers, [teammate], [teammate]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THE GOAL</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 What the agent is for, and why it matters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11064240" cy="10972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36192"/>
            <a:ext cx="10698480" cy="914400"/>
          </a:xfrm>
          <a:prstGeom prst="rect">
            <a:avLst/>
          </a:prstGeom>
          <a:noFill/>
        </p:spPr>
        <p:txBody>
          <a:bodyPr wrap="square" anchor="ctr">
            <a:spAutoFit/>
          </a:bodyPr>
          <a:lstStyle/>
          <a:p>
            <a:pPr algn="l">
              <a:lnSpc>
                <a:spcPct val="105000"/>
              </a:lnSpc>
              <a:spcAft>
                <a:spcPts val="600"/>
              </a:spcAft>
            </a:pPr>
            <a:r>
              <a:rPr sz="1600" b="1">
                <a:solidFill>
                  <a:srgbClr val="0E7C86"/>
                </a:solidFill>
                <a:latin typeface="Calibri"/>
              </a:rPr>
              <a:t>Our goal: </a:t>
            </a:r>
            <a:r>
              <a:rPr sz="1600" b="0">
                <a:solidFill>
                  <a:srgbClr val="1A1A2E"/>
                </a:solidFill>
                <a:latin typeface="Calibri"/>
              </a:rPr>
              <a:t>keep every critical part available at every plant. The agent spots a supply risk early, before it can stop a production line, then arranges the most affordable fix, while always asking a person to approve anything expensive or hard to undo.</a:t>
            </a:r>
          </a:p>
        </p:txBody>
      </p:sp>
      <p:sp>
        <p:nvSpPr>
          <p:cNvPr id="8" name="TextBox 7"/>
          <p:cNvSpPr txBox="1"/>
          <p:nvPr/>
        </p:nvSpPr>
        <p:spPr>
          <a:xfrm>
            <a:off x="548640" y="2743200"/>
            <a:ext cx="11064240" cy="36576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Why this matters to the business</a:t>
            </a:r>
          </a:p>
        </p:txBody>
      </p:sp>
      <p:sp>
        <p:nvSpPr>
          <p:cNvPr id="9" name="TextBox 8"/>
          <p:cNvSpPr txBox="1"/>
          <p:nvPr/>
        </p:nvSpPr>
        <p:spPr>
          <a:xfrm>
            <a:off x="548640" y="3154680"/>
            <a:ext cx="11064240" cy="1371600"/>
          </a:xfrm>
          <a:prstGeom prst="rect">
            <a:avLst/>
          </a:prstGeom>
          <a:noFill/>
        </p:spPr>
        <p:txBody>
          <a:bodyPr wrap="square" anchor="t">
            <a:spAutoFit/>
          </a:bodyPr>
          <a:lstStyle/>
          <a:p>
            <a:pPr algn="l">
              <a:lnSpc>
                <a:spcPct val="110000"/>
              </a:lnSpc>
              <a:spcAft>
                <a:spcPts val="800"/>
              </a:spcAft>
            </a:pPr>
            <a:r>
              <a:rPr sz="1450" b="1">
                <a:solidFill>
                  <a:srgbClr val="0E7C86"/>
                </a:solidFill>
                <a:latin typeface="Calibri"/>
              </a:rPr>
              <a:t>•  </a:t>
            </a:r>
            <a:r>
              <a:rPr sz="1450" b="0">
                <a:solidFill>
                  <a:srgbClr val="1A1A2E"/>
                </a:solidFill>
                <a:latin typeface="Calibri"/>
              </a:rPr>
              <a:t>When a line stops it is painful: stoppages cost us $14 million last quarter, and a single critical machining line loses around $180,000 for every day it sits idle.</a:t>
            </a:r>
          </a:p>
          <a:p>
            <a:pPr algn="l">
              <a:lnSpc>
                <a:spcPct val="110000"/>
              </a:lnSpc>
              <a:spcAft>
                <a:spcPts val="800"/>
              </a:spcAft>
            </a:pPr>
            <a:r>
              <a:rPr sz="1450" b="1">
                <a:solidFill>
                  <a:srgbClr val="0E7C86"/>
                </a:solidFill>
                <a:latin typeface="Calibri"/>
              </a:rPr>
              <a:t>•  </a:t>
            </a:r>
            <a:r>
              <a:rPr sz="1450" b="0">
                <a:solidFill>
                  <a:srgbClr val="1A1A2E"/>
                </a:solidFill>
                <a:latin typeface="Calibri"/>
              </a:rPr>
              <a:t>By noticing trouble two suppliers deep and roughly a week sooner, we can replace costly last-minute air freight (already up by more than half) with calm, planned orders that also protect our delivery promises.</a:t>
            </a:r>
          </a:p>
        </p:txBody>
      </p:sp>
      <p:sp>
        <p:nvSpPr>
          <p:cNvPr id="10" name="TextBox 9"/>
          <p:cNvSpPr txBox="1"/>
          <p:nvPr/>
        </p:nvSpPr>
        <p:spPr>
          <a:xfrm>
            <a:off x="548640" y="4709160"/>
            <a:ext cx="11064240" cy="36576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How we will know it is working</a:t>
            </a:r>
          </a:p>
        </p:txBody>
      </p:sp>
      <p:sp>
        <p:nvSpPr>
          <p:cNvPr id="11" name="TextBox 10"/>
          <p:cNvSpPr txBox="1"/>
          <p:nvPr/>
        </p:nvSpPr>
        <p:spPr>
          <a:xfrm>
            <a:off x="548640" y="5120640"/>
            <a:ext cx="11064240" cy="1280160"/>
          </a:xfrm>
          <a:prstGeom prst="rect">
            <a:avLst/>
          </a:prstGeom>
          <a:noFill/>
        </p:spPr>
        <p:txBody>
          <a:bodyPr wrap="square" anchor="t">
            <a:spAutoFit/>
          </a:bodyPr>
          <a:lstStyle/>
          <a:p>
            <a:pPr algn="l">
              <a:lnSpc>
                <a:spcPct val="110000"/>
              </a:lnSpc>
              <a:spcAft>
                <a:spcPts val="600"/>
              </a:spcAft>
            </a:pPr>
            <a:r>
              <a:rPr sz="1450" b="1">
                <a:solidFill>
                  <a:srgbClr val="0E7C86"/>
                </a:solidFill>
                <a:latin typeface="Calibri"/>
              </a:rPr>
              <a:t>•  </a:t>
            </a:r>
            <a:r>
              <a:rPr sz="1450" b="0">
                <a:solidFill>
                  <a:srgbClr val="1A1A2E"/>
                </a:solidFill>
                <a:latin typeface="Calibri"/>
              </a:rPr>
              <a:t>The time from first warning to a clear decision falls from days to minutes.</a:t>
            </a:r>
          </a:p>
          <a:p>
            <a:pPr algn="l">
              <a:lnSpc>
                <a:spcPct val="110000"/>
              </a:lnSpc>
              <a:spcAft>
                <a:spcPts val="600"/>
              </a:spcAft>
            </a:pPr>
            <a:r>
              <a:rPr sz="1450" b="1">
                <a:solidFill>
                  <a:srgbClr val="0E7C86"/>
                </a:solidFill>
                <a:latin typeface="Calibri"/>
              </a:rPr>
              <a:t>•  </a:t>
            </a:r>
            <a:r>
              <a:rPr sz="1450" b="0">
                <a:solidFill>
                  <a:srgbClr val="1A1A2E"/>
                </a:solidFill>
                <a:latin typeface="Calibri"/>
              </a:rPr>
              <a:t>We catch at least seven in ten disruptions before a direct supplier is even visibly late.</a:t>
            </a:r>
          </a:p>
          <a:p>
            <a:pPr algn="l">
              <a:lnSpc>
                <a:spcPct val="110000"/>
              </a:lnSpc>
              <a:spcAft>
                <a:spcPts val="600"/>
              </a:spcAft>
            </a:pPr>
            <a:r>
              <a:rPr sz="1450" b="1">
                <a:solidFill>
                  <a:srgbClr val="0E7C86"/>
                </a:solidFill>
                <a:latin typeface="Calibri"/>
              </a:rPr>
              <a:t>•  </a:t>
            </a:r>
            <a:r>
              <a:rPr sz="1450" b="0">
                <a:solidFill>
                  <a:srgbClr val="1A1A2E"/>
                </a:solidFill>
                <a:latin typeface="Calibri"/>
              </a:rPr>
              <a:t>Rushed-freight spending drops by about a third, with every critical part mapped down to its deepest suppliers.</a:t>
            </a:r>
          </a:p>
        </p:txBody>
      </p:sp>
      <p:sp>
        <p:nvSpPr>
          <p:cNvPr id="12" name="Rectangle 11"/>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agent goals and prompt (15 points)</a:t>
            </a:r>
            <a:r>
              <a:rPr sz="1100" b="1">
                <a:solidFill>
                  <a:srgbClr val="0A1F6B"/>
                </a:solidFill>
                <a:latin typeface="Calibri"/>
              </a:rPr>
              <a:t>     |     Reference: </a:t>
            </a:r>
            <a:r>
              <a:rPr sz="1100" b="0">
                <a:solidFill>
                  <a:srgbClr val="555555"/>
                </a:solidFill>
                <a:latin typeface="Calibri"/>
              </a:rPr>
              <a:t>Design handout, section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WHAT IT SEES AND REMEMBERS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2. What the agent observes and remembers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2743200"/>
        </p:xfrm>
        <a:graphic>
          <a:graphicData uri="http://schemas.openxmlformats.org/drawingml/2006/table">
            <a:tbl>
              <a:tblPr firstRow="1" bandRow="1">
                <a:tableStyleId>{5C22544A-7EE6-4342-B048-85BDC9FD1C3A}</a:tableStyleId>
              </a:tblPr>
              <a:tblGrid>
                <a:gridCol w="2651760"/>
                <a:gridCol w="8412480"/>
              </a:tblGrid>
              <a:tr h="685800">
                <a:tc>
                  <a:txBody>
                    <a:bodyPr/>
                    <a:lstStyle/>
                    <a:p/>
                  </a:txBody>
                  <a:tcPr>
                    <a:solidFill>
                      <a:srgbClr val="0A1F6B"/>
                    </a:solidFill>
                  </a:tcPr>
                </a:tc>
                <a:tc>
                  <a:txBody>
                    <a:bodyPr/>
                    <a:lstStyle/>
                    <a:p>
                      <a:r>
                        <a:rPr sz="1200" b="1">
                          <a:solidFill>
                            <a:srgbClr val="FFFFFF"/>
                          </a:solidFill>
                          <a:latin typeface="Calibri"/>
                        </a:rPr>
                        <a:t>How it works</a:t>
                      </a:r>
                    </a:p>
                  </a:txBody>
                  <a:tcPr>
                    <a:solidFill>
                      <a:srgbClr val="0A1F6B"/>
                    </a:solidFill>
                  </a:tcPr>
                </a:tc>
              </a:tr>
              <a:tr h="685800">
                <a:tc>
                  <a:txBody>
                    <a:bodyPr/>
                    <a:lstStyle/>
                    <a:p>
                      <a:r>
                        <a:rPr sz="1200">
                          <a:solidFill>
                            <a:srgbClr val="1A1A2E"/>
                          </a:solidFill>
                          <a:latin typeface="Calibri"/>
                        </a:rPr>
                        <a:t>What wakes it up</a:t>
                      </a:r>
                    </a:p>
                  </a:txBody>
                  <a:tcPr>
                    <a:solidFill>
                      <a:srgbClr val="FFFFFF"/>
                    </a:solidFill>
                  </a:tcPr>
                </a:tc>
                <a:tc>
                  <a:txBody>
                    <a:bodyPr/>
                    <a:lstStyle/>
                    <a:p>
                      <a:r>
                        <a:rPr sz="1200">
                          <a:solidFill>
                            <a:srgbClr val="1A1A2E"/>
                          </a:solidFill>
                          <a:latin typeface="Calibri"/>
                        </a:rPr>
                        <a:t>A risk alert that arrives on its own, a routine check that runs every fifteen minutes, or a planner simply asking a question.</a:t>
                      </a:r>
                    </a:p>
                  </a:txBody>
                  <a:tcPr>
                    <a:solidFill>
                      <a:srgbClr val="FFFFFF"/>
                    </a:solidFill>
                  </a:tcPr>
                </a:tc>
              </a:tr>
              <a:tr h="685800">
                <a:tc>
                  <a:txBody>
                    <a:bodyPr/>
                    <a:lstStyle/>
                    <a:p>
                      <a:r>
                        <a:rPr sz="1200">
                          <a:solidFill>
                            <a:srgbClr val="1A1A2E"/>
                          </a:solidFill>
                          <a:latin typeface="Calibri"/>
                        </a:rPr>
                        <a:t>What it reads</a:t>
                      </a:r>
                    </a:p>
                  </a:txBody>
                  <a:tcPr>
                    <a:solidFill>
                      <a:srgbClr val="F2F4F8"/>
                    </a:solidFill>
                  </a:tcPr>
                </a:tc>
                <a:tc>
                  <a:txBody>
                    <a:bodyPr/>
                    <a:lstStyle/>
                    <a:p>
                      <a:r>
                        <a:rPr sz="1200">
                          <a:solidFill>
                            <a:srgbClr val="1A1A2E"/>
                          </a:solidFill>
                          <a:latin typeface="Calibri"/>
                        </a:rPr>
                        <a:t>Outside risk signals, electronic shipping notices, supplier emails, carrier spreadsheets, live inventory and open orders, the supplier map, and the parts list (the Bill of Materials).</a:t>
                      </a:r>
                    </a:p>
                  </a:txBody>
                  <a:tcPr>
                    <a:solidFill>
                      <a:srgbClr val="F2F4F8"/>
                    </a:solidFill>
                  </a:tcPr>
                </a:tc>
              </a:tr>
              <a:tr h="685800">
                <a:tc>
                  <a:txBody>
                    <a:bodyPr/>
                    <a:lstStyle/>
                    <a:p>
                      <a:r>
                        <a:rPr sz="1200">
                          <a:solidFill>
                            <a:srgbClr val="1A1A2E"/>
                          </a:solidFill>
                          <a:latin typeface="Calibri"/>
                        </a:rPr>
                        <a:t>What moves and what stays steady</a:t>
                      </a:r>
                    </a:p>
                  </a:txBody>
                  <a:tcPr>
                    <a:solidFill>
                      <a:srgbClr val="FFFFFF"/>
                    </a:solidFill>
                  </a:tcPr>
                </a:tc>
                <a:tc>
                  <a:txBody>
                    <a:bodyPr/>
                    <a:lstStyle/>
                    <a:p>
                      <a:r>
                        <a:rPr sz="1200">
                          <a:solidFill>
                            <a:srgbClr val="1A1A2E"/>
                          </a:solidFill>
                          <a:latin typeface="Calibri"/>
                        </a:rPr>
                        <a:t>Always moving: shipment status, arrival dates, stock levels, events and prices. Mostly steady: the supplier map, the parts list, our approved suppliers and our approval rules.</a:t>
                      </a:r>
                    </a:p>
                  </a:txBody>
                  <a:tcPr>
                    <a:solidFill>
                      <a:srgbClr val="FFFFFF"/>
                    </a:solidFill>
                  </a:tcPr>
                </a:tc>
              </a:tr>
            </a:tbl>
          </a:graphicData>
        </a:graphic>
      </p:graphicFrame>
      <p:sp>
        <p:nvSpPr>
          <p:cNvPr id="7" name="TextBox 6"/>
          <p:cNvSpPr txBox="1"/>
          <p:nvPr/>
        </p:nvSpPr>
        <p:spPr>
          <a:xfrm>
            <a:off x="548640" y="4297680"/>
            <a:ext cx="11064240" cy="36576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The four kinds of memory it draws on</a:t>
            </a:r>
          </a:p>
        </p:txBody>
      </p:sp>
      <p:graphicFrame>
        <p:nvGraphicFramePr>
          <p:cNvPr id="8" name="Table 7"/>
          <p:cNvGraphicFramePr>
            <a:graphicFrameLocks noGrp="1"/>
          </p:cNvGraphicFramePr>
          <p:nvPr/>
        </p:nvGraphicFramePr>
        <p:xfrm>
          <a:off x="548640" y="4663440"/>
          <a:ext cx="11064240" cy="1554480"/>
        </p:xfrm>
        <a:graphic>
          <a:graphicData uri="http://schemas.openxmlformats.org/drawingml/2006/table">
            <a:tbl>
              <a:tblPr firstRow="1" bandRow="1">
                <a:tableStyleId>{5C22544A-7EE6-4342-B048-85BDC9FD1C3A}</a:tableStyleId>
              </a:tblPr>
              <a:tblGrid>
                <a:gridCol w="2651760"/>
                <a:gridCol w="3017520"/>
                <a:gridCol w="2743200"/>
                <a:gridCol w="2651760"/>
              </a:tblGrid>
              <a:tr h="777240">
                <a:tc>
                  <a:txBody>
                    <a:bodyPr/>
                    <a:lstStyle/>
                    <a:p>
                      <a:r>
                        <a:rPr sz="1100" b="1">
                          <a:solidFill>
                            <a:srgbClr val="FFFFFF"/>
                          </a:solidFill>
                          <a:latin typeface="Calibri"/>
                        </a:rPr>
                        <a:t>Working memory</a:t>
                      </a:r>
                    </a:p>
                  </a:txBody>
                  <a:tcPr>
                    <a:solidFill>
                      <a:srgbClr val="0A1F6B"/>
                    </a:solidFill>
                  </a:tcPr>
                </a:tc>
                <a:tc>
                  <a:txBody>
                    <a:bodyPr/>
                    <a:lstStyle/>
                    <a:p>
                      <a:r>
                        <a:rPr sz="1100" b="1">
                          <a:solidFill>
                            <a:srgbClr val="FFFFFF"/>
                          </a:solidFill>
                          <a:latin typeface="Calibri"/>
                        </a:rPr>
                        <a:t>Reference knowledge</a:t>
                      </a:r>
                    </a:p>
                  </a:txBody>
                  <a:tcPr>
                    <a:solidFill>
                      <a:srgbClr val="0A1F6B"/>
                    </a:solidFill>
                  </a:tcPr>
                </a:tc>
                <a:tc>
                  <a:txBody>
                    <a:bodyPr/>
                    <a:lstStyle/>
                    <a:p>
                      <a:r>
                        <a:rPr sz="1100" b="1">
                          <a:solidFill>
                            <a:srgbClr val="FFFFFF"/>
                          </a:solidFill>
                          <a:latin typeface="Calibri"/>
                        </a:rPr>
                        <a:t>Past experience</a:t>
                      </a:r>
                    </a:p>
                  </a:txBody>
                  <a:tcPr>
                    <a:solidFill>
                      <a:srgbClr val="0A1F6B"/>
                    </a:solidFill>
                  </a:tcPr>
                </a:tc>
                <a:tc>
                  <a:txBody>
                    <a:bodyPr/>
                    <a:lstStyle/>
                    <a:p>
                      <a:r>
                        <a:rPr sz="1100" b="1">
                          <a:solidFill>
                            <a:srgbClr val="FFFFFF"/>
                          </a:solidFill>
                          <a:latin typeface="Calibri"/>
                        </a:rPr>
                        <a:t>General know-how</a:t>
                      </a:r>
                    </a:p>
                  </a:txBody>
                  <a:tcPr>
                    <a:solidFill>
                      <a:srgbClr val="0A1F6B"/>
                    </a:solidFill>
                  </a:tcPr>
                </a:tc>
              </a:tr>
              <a:tr h="777240">
                <a:tc>
                  <a:txBody>
                    <a:bodyPr/>
                    <a:lstStyle/>
                    <a:p>
                      <a:r>
                        <a:rPr sz="1100">
                          <a:solidFill>
                            <a:srgbClr val="1A1A2E"/>
                          </a:solidFill>
                          <a:latin typeface="Calibri"/>
                        </a:rPr>
                        <a:t>Shared notes for the case in hand</a:t>
                      </a:r>
                    </a:p>
                  </a:txBody>
                  <a:tcPr>
                    <a:solidFill>
                      <a:srgbClr val="FFFFFF"/>
                    </a:solidFill>
                  </a:tcPr>
                </a:tc>
                <a:tc>
                  <a:txBody>
                    <a:bodyPr/>
                    <a:lstStyle/>
                    <a:p>
                      <a:r>
                        <a:rPr sz="1100">
                          <a:solidFill>
                            <a:srgbClr val="1A1A2E"/>
                          </a:solidFill>
                          <a:latin typeface="Calibri"/>
                        </a:rPr>
                        <a:t>Supplier records, parts lists, contracts and approved alternates</a:t>
                      </a:r>
                    </a:p>
                  </a:txBody>
                  <a:tcPr>
                    <a:solidFill>
                      <a:srgbClr val="FFFFFF"/>
                    </a:solidFill>
                  </a:tcPr>
                </a:tc>
                <a:tc>
                  <a:txBody>
                    <a:bodyPr/>
                    <a:lstStyle/>
                    <a:p>
                      <a:r>
                        <a:rPr sz="1100">
                          <a:solidFill>
                            <a:srgbClr val="1A1A2E"/>
                          </a:solidFill>
                          <a:latin typeface="Calibri"/>
                        </a:rPr>
                        <a:t>Earlier disruptions and the fixes that worked</a:t>
                      </a:r>
                    </a:p>
                  </a:txBody>
                  <a:tcPr>
                    <a:solidFill>
                      <a:srgbClr val="FFFFFF"/>
                    </a:solidFill>
                  </a:tcPr>
                </a:tc>
                <a:tc>
                  <a:txBody>
                    <a:bodyPr/>
                    <a:lstStyle/>
                    <a:p>
                      <a:r>
                        <a:rPr sz="1100">
                          <a:solidFill>
                            <a:srgbClr val="1A1A2E"/>
                          </a:solidFill>
                          <a:latin typeface="Calibri"/>
                        </a:rPr>
                        <a:t>Rules of thumb and domain knowledge</a:t>
                      </a:r>
                    </a:p>
                  </a:txBody>
                  <a:tcPr>
                    <a:solidFill>
                      <a:srgbClr val="FFFFFF"/>
                    </a:solidFill>
                  </a:tcPr>
                </a:tc>
              </a:tr>
            </a:tbl>
          </a:graphicData>
        </a:graphic>
      </p:graphicFrame>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(15 points) and architecture (10 points)</a:t>
            </a:r>
            <a:r>
              <a:rPr sz="1100" b="1">
                <a:solidFill>
                  <a:srgbClr val="0A1F6B"/>
                </a:solidFill>
                <a:latin typeface="Calibri"/>
              </a:rPr>
              <a:t>     |     Reference: </a:t>
            </a:r>
            <a:r>
              <a:rPr sz="1100" b="0">
                <a:solidFill>
                  <a:srgbClr val="555555"/>
                </a:solidFill>
                <a:latin typeface="Calibri"/>
              </a:rPr>
              <a:t>Design handout, section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ARCHITECTURE</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3. One supervisor guiding four specialists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2331720" cy="868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481328"/>
            <a:ext cx="2148840" cy="777240"/>
          </a:xfrm>
          <a:prstGeom prst="rect">
            <a:avLst/>
          </a:prstGeom>
          <a:noFill/>
        </p:spPr>
        <p:txBody>
          <a:bodyPr wrap="square" anchor="ctr">
            <a:spAutoFit/>
          </a:bodyPr>
          <a:lstStyle/>
          <a:p>
            <a:pPr algn="l">
              <a:lnSpc>
                <a:spcPct val="105000"/>
              </a:lnSpc>
              <a:spcAft>
                <a:spcPts val="600"/>
              </a:spcAft>
            </a:pPr>
            <a:r>
              <a:rPr sz="1250" b="1">
                <a:solidFill>
                  <a:srgbClr val="0A1F6B"/>
                </a:solidFill>
                <a:latin typeface="Calibri"/>
              </a:rPr>
              <a:t>Triggers</a:t>
            </a:r>
          </a:p>
          <a:p>
            <a:pPr algn="l">
              <a:lnSpc>
                <a:spcPct val="105000"/>
              </a:lnSpc>
              <a:spcAft>
                <a:spcPts val="600"/>
              </a:spcAft>
            </a:pPr>
            <a:r>
              <a:rPr sz="1050" b="0">
                <a:solidFill>
                  <a:srgbClr val="555555"/>
                </a:solidFill>
                <a:latin typeface="Calibri"/>
              </a:rPr>
              <a:t>an alert, a regular check, or a planner's question</a:t>
            </a:r>
          </a:p>
        </p:txBody>
      </p:sp>
      <p:sp>
        <p:nvSpPr>
          <p:cNvPr id="8" name="Rectangle 7"/>
          <p:cNvSpPr/>
          <p:nvPr/>
        </p:nvSpPr>
        <p:spPr>
          <a:xfrm>
            <a:off x="3154680" y="1417320"/>
            <a:ext cx="8458200" cy="86868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481328"/>
            <a:ext cx="8229600" cy="7772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THE SUPERVISOR</a:t>
            </a:r>
          </a:p>
          <a:p>
            <a:pPr algn="ctr">
              <a:lnSpc>
                <a:spcPct val="105000"/>
              </a:lnSpc>
              <a:spcAft>
                <a:spcPts val="600"/>
              </a:spcAft>
            </a:pPr>
            <a:r>
              <a:rPr sz="1100" b="0">
                <a:solidFill>
                  <a:srgbClr val="CFDAF0"/>
                </a:solidFill>
                <a:latin typeface="Calibri"/>
              </a:rPr>
              <a:t>sets the goal, decides who works on what, and writes the final briefing; it never touches the data tools itself</a:t>
            </a:r>
          </a:p>
        </p:txBody>
      </p:sp>
      <p:sp>
        <p:nvSpPr>
          <p:cNvPr id="10" name="TextBox 9"/>
          <p:cNvSpPr txBox="1"/>
          <p:nvPr/>
        </p:nvSpPr>
        <p:spPr>
          <a:xfrm>
            <a:off x="3154680" y="2331720"/>
            <a:ext cx="8458200" cy="274320"/>
          </a:xfrm>
          <a:prstGeom prst="rect">
            <a:avLst/>
          </a:prstGeom>
          <a:noFill/>
        </p:spPr>
        <p:txBody>
          <a:bodyPr wrap="square" anchor="t">
            <a:spAutoFit/>
          </a:bodyPr>
          <a:lstStyle/>
          <a:p>
            <a:pPr algn="ctr">
              <a:lnSpc>
                <a:spcPct val="105000"/>
              </a:lnSpc>
              <a:spcAft>
                <a:spcPts val="600"/>
              </a:spcAft>
            </a:pPr>
            <a:r>
              <a:rPr sz="1100" b="1">
                <a:solidFill>
                  <a:srgbClr val="0E7C86"/>
                </a:solidFill>
                <a:latin typeface="Calibri"/>
              </a:rPr>
              <a:t>Shared notes pass between the agents, and each one runs its own reason-and-act loop</a:t>
            </a:r>
          </a:p>
        </p:txBody>
      </p:sp>
      <p:sp>
        <p:nvSpPr>
          <p:cNvPr id="11" name="Rectangle 10"/>
          <p:cNvSpPr/>
          <p:nvPr/>
        </p:nvSpPr>
        <p:spPr>
          <a:xfrm>
            <a:off x="548640" y="2697480"/>
            <a:ext cx="26974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43200"/>
            <a:ext cx="2606040" cy="8686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Risk Intelligence</a:t>
            </a:r>
          </a:p>
          <a:p>
            <a:pPr algn="ctr">
              <a:lnSpc>
                <a:spcPct val="105000"/>
              </a:lnSpc>
              <a:spcAft>
                <a:spcPts val="600"/>
              </a:spcAft>
            </a:pPr>
            <a:r>
              <a:rPr sz="1050" b="0">
                <a:solidFill>
                  <a:srgbClr val="CFDAF0"/>
                </a:solidFill>
                <a:latin typeface="Calibri"/>
              </a:rPr>
              <a:t>watches the outside world</a:t>
            </a:r>
          </a:p>
        </p:txBody>
      </p:sp>
      <p:sp>
        <p:nvSpPr>
          <p:cNvPr id="13" name="Rectangle 12"/>
          <p:cNvSpPr/>
          <p:nvPr/>
        </p:nvSpPr>
        <p:spPr>
          <a:xfrm>
            <a:off x="3346704" y="2697480"/>
            <a:ext cx="26974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92424" y="2743200"/>
            <a:ext cx="2606040" cy="8686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Supplier Mapping</a:t>
            </a:r>
          </a:p>
          <a:p>
            <a:pPr algn="ctr">
              <a:lnSpc>
                <a:spcPct val="105000"/>
              </a:lnSpc>
              <a:spcAft>
                <a:spcPts val="600"/>
              </a:spcAft>
            </a:pPr>
            <a:r>
              <a:rPr sz="1050" b="0">
                <a:solidFill>
                  <a:srgbClr val="CFDAF0"/>
                </a:solidFill>
                <a:latin typeface="Calibri"/>
              </a:rPr>
              <a:t>traces the supply chain</a:t>
            </a:r>
          </a:p>
        </p:txBody>
      </p:sp>
      <p:sp>
        <p:nvSpPr>
          <p:cNvPr id="15" name="Rectangle 14"/>
          <p:cNvSpPr/>
          <p:nvPr/>
        </p:nvSpPr>
        <p:spPr>
          <a:xfrm>
            <a:off x="6144768" y="2697480"/>
            <a:ext cx="26974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2743200"/>
            <a:ext cx="2606040" cy="8686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Arrival Forecast</a:t>
            </a:r>
          </a:p>
          <a:p>
            <a:pPr algn="ctr">
              <a:lnSpc>
                <a:spcPct val="105000"/>
              </a:lnSpc>
              <a:spcAft>
                <a:spcPts val="600"/>
              </a:spcAft>
            </a:pPr>
            <a:r>
              <a:rPr sz="1050" b="0">
                <a:solidFill>
                  <a:srgbClr val="CFDAF0"/>
                </a:solidFill>
                <a:latin typeface="Calibri"/>
              </a:rPr>
              <a:t>predicts real arrival dates</a:t>
            </a:r>
          </a:p>
        </p:txBody>
      </p:sp>
      <p:sp>
        <p:nvSpPr>
          <p:cNvPr id="17" name="Rectangle 16"/>
          <p:cNvSpPr/>
          <p:nvPr/>
        </p:nvSpPr>
        <p:spPr>
          <a:xfrm>
            <a:off x="8942832" y="2697480"/>
            <a:ext cx="26974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8552" y="2743200"/>
            <a:ext cx="2606040" cy="868680"/>
          </a:xfrm>
          <a:prstGeom prst="rect">
            <a:avLst/>
          </a:prstGeom>
          <a:noFill/>
        </p:spPr>
        <p:txBody>
          <a:bodyPr wrap="square" anchor="ctr">
            <a:spAutoFit/>
          </a:bodyPr>
          <a:lstStyle/>
          <a:p>
            <a:pPr algn="ctr">
              <a:lnSpc>
                <a:spcPct val="105000"/>
              </a:lnSpc>
              <a:spcAft>
                <a:spcPts val="600"/>
              </a:spcAft>
            </a:pPr>
            <a:r>
              <a:rPr sz="1300" b="1">
                <a:solidFill>
                  <a:srgbClr val="FFFFFF"/>
                </a:solidFill>
                <a:latin typeface="Calibri"/>
              </a:rPr>
              <a:t>Mitigation</a:t>
            </a:r>
          </a:p>
          <a:p>
            <a:pPr algn="ctr">
              <a:lnSpc>
                <a:spcPct val="105000"/>
              </a:lnSpc>
              <a:spcAft>
                <a:spcPts val="600"/>
              </a:spcAft>
            </a:pPr>
            <a:r>
              <a:rPr sz="1050" b="0">
                <a:solidFill>
                  <a:srgbClr val="CFDAF0"/>
                </a:solidFill>
                <a:latin typeface="Calibri"/>
              </a:rPr>
              <a:t>plans and takes action</a:t>
            </a:r>
          </a:p>
        </p:txBody>
      </p:sp>
      <p:sp>
        <p:nvSpPr>
          <p:cNvPr id="19" name="Rectangle 18"/>
          <p:cNvSpPr/>
          <p:nvPr/>
        </p:nvSpPr>
        <p:spPr>
          <a:xfrm>
            <a:off x="548640" y="3840480"/>
            <a:ext cx="11064240"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840480"/>
            <a:ext cx="10881360" cy="384048"/>
          </a:xfrm>
          <a:prstGeom prst="rect">
            <a:avLst/>
          </a:prstGeom>
          <a:noFill/>
        </p:spPr>
        <p:txBody>
          <a:bodyPr wrap="square" anchor="ctr">
            <a:spAutoFit/>
          </a:bodyPr>
          <a:lstStyle/>
          <a:p>
            <a:pPr algn="ctr">
              <a:lnSpc>
                <a:spcPct val="105000"/>
              </a:lnSpc>
              <a:spcAft>
                <a:spcPts val="600"/>
              </a:spcAft>
            </a:pPr>
            <a:r>
              <a:rPr sz="1200" b="1">
                <a:solidFill>
                  <a:srgbClr val="FFFFFF"/>
                </a:solidFill>
                <a:latin typeface="Calibri"/>
              </a:rPr>
              <a:t>The tools each specialist can call (a star marks an action that needs human approval)</a:t>
            </a:r>
          </a:p>
        </p:txBody>
      </p:sp>
      <p:sp>
        <p:nvSpPr>
          <p:cNvPr id="21" name="TextBox 20"/>
          <p:cNvSpPr txBox="1"/>
          <p:nvPr/>
        </p:nvSpPr>
        <p:spPr>
          <a:xfrm>
            <a:off x="594360" y="429768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Risk feed</a:t>
            </a:r>
          </a:p>
        </p:txBody>
      </p:sp>
      <p:sp>
        <p:nvSpPr>
          <p:cNvPr id="22" name="TextBox 21"/>
          <p:cNvSpPr txBox="1"/>
          <p:nvPr/>
        </p:nvSpPr>
        <p:spPr>
          <a:xfrm>
            <a:off x="3392424" y="429768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Supplier map</a:t>
            </a:r>
          </a:p>
          <a:p>
            <a:pPr algn="ctr">
              <a:lnSpc>
                <a:spcPct val="100000"/>
              </a:lnSpc>
              <a:spcAft>
                <a:spcPts val="100"/>
              </a:spcAft>
            </a:pPr>
            <a:r>
              <a:rPr sz="1050" b="0">
                <a:solidFill>
                  <a:srgbClr val="1A1A2E"/>
                </a:solidFill>
                <a:latin typeface="Calibri"/>
              </a:rPr>
              <a:t>Inventory</a:t>
            </a:r>
          </a:p>
        </p:txBody>
      </p:sp>
      <p:sp>
        <p:nvSpPr>
          <p:cNvPr id="23" name="TextBox 22"/>
          <p:cNvSpPr txBox="1"/>
          <p:nvPr/>
        </p:nvSpPr>
        <p:spPr>
          <a:xfrm>
            <a:off x="6190488" y="429768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Shipment tracker</a:t>
            </a:r>
          </a:p>
          <a:p>
            <a:pPr algn="ctr">
              <a:lnSpc>
                <a:spcPct val="100000"/>
              </a:lnSpc>
              <a:spcAft>
                <a:spcPts val="100"/>
              </a:spcAft>
            </a:pPr>
            <a:r>
              <a:rPr sz="1050" b="0">
                <a:solidFill>
                  <a:srgbClr val="1A1A2E"/>
                </a:solidFill>
                <a:latin typeface="Calibri"/>
              </a:rPr>
              <a:t>Arrival predictor</a:t>
            </a:r>
          </a:p>
          <a:p>
            <a:pPr algn="ctr">
              <a:lnSpc>
                <a:spcPct val="100000"/>
              </a:lnSpc>
              <a:spcAft>
                <a:spcPts val="100"/>
              </a:spcAft>
            </a:pPr>
            <a:r>
              <a:rPr sz="1050" b="0">
                <a:solidFill>
                  <a:srgbClr val="1A1A2E"/>
                </a:solidFill>
                <a:latin typeface="Calibri"/>
              </a:rPr>
              <a:t>Risk scorer</a:t>
            </a:r>
          </a:p>
        </p:txBody>
      </p:sp>
      <p:sp>
        <p:nvSpPr>
          <p:cNvPr id="24" name="TextBox 23"/>
          <p:cNvSpPr txBox="1"/>
          <p:nvPr/>
        </p:nvSpPr>
        <p:spPr>
          <a:xfrm>
            <a:off x="8988552" y="429768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Create purchase order *</a:t>
            </a:r>
          </a:p>
          <a:p>
            <a:pPr algn="ctr">
              <a:lnSpc>
                <a:spcPct val="100000"/>
              </a:lnSpc>
              <a:spcAft>
                <a:spcPts val="100"/>
              </a:spcAft>
            </a:pPr>
            <a:r>
              <a:rPr sz="1050" b="0">
                <a:solidFill>
                  <a:srgbClr val="1A1A2E"/>
                </a:solidFill>
                <a:latin typeface="Calibri"/>
              </a:rPr>
              <a:t>Expedite freight *</a:t>
            </a:r>
          </a:p>
          <a:p>
            <a:pPr algn="ctr">
              <a:lnSpc>
                <a:spcPct val="100000"/>
              </a:lnSpc>
              <a:spcAft>
                <a:spcPts val="100"/>
              </a:spcAft>
            </a:pPr>
            <a:r>
              <a:rPr sz="1050" b="0">
                <a:solidFill>
                  <a:srgbClr val="1A1A2E"/>
                </a:solidFill>
                <a:latin typeface="Calibri"/>
              </a:rPr>
              <a:t>Reschedule line *</a:t>
            </a:r>
          </a:p>
          <a:p>
            <a:pPr algn="ctr">
              <a:lnSpc>
                <a:spcPct val="100000"/>
              </a:lnSpc>
              <a:spcAft>
                <a:spcPts val="100"/>
              </a:spcAft>
            </a:pPr>
            <a:r>
              <a:rPr sz="1050" b="0">
                <a:solidFill>
                  <a:srgbClr val="1A1A2E"/>
                </a:solidFill>
                <a:latin typeface="Calibri"/>
              </a:rPr>
              <a:t>Notify people</a:t>
            </a:r>
          </a:p>
        </p:txBody>
      </p:sp>
      <p:sp>
        <p:nvSpPr>
          <p:cNvPr id="25" name="Rectangle 24"/>
          <p:cNvSpPr/>
          <p:nvPr/>
        </p:nvSpPr>
        <p:spPr>
          <a:xfrm>
            <a:off x="548640" y="5486400"/>
            <a:ext cx="11064240" cy="4572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486400"/>
            <a:ext cx="10881360" cy="457200"/>
          </a:xfrm>
          <a:prstGeom prst="rect">
            <a:avLst/>
          </a:prstGeom>
          <a:noFill/>
        </p:spPr>
        <p:txBody>
          <a:bodyPr wrap="square" anchor="ctr">
            <a:spAutoFit/>
          </a:bodyPr>
          <a:lstStyle/>
          <a:p>
            <a:pPr algn="ctr">
              <a:lnSpc>
                <a:spcPct val="105000"/>
              </a:lnSpc>
              <a:spcAft>
                <a:spcPts val="600"/>
              </a:spcAft>
            </a:pPr>
            <a:r>
              <a:rPr sz="1150" b="1">
                <a:solidFill>
                  <a:srgbClr val="0A1F6B"/>
                </a:solidFill>
                <a:latin typeface="Calibri"/>
              </a:rPr>
              <a:t>Connects to our real systems: the planning system, transport and shipping data, factory-floor controls, the manufacturing system, and news and weather feeds.</a:t>
            </a:r>
          </a:p>
        </p:txBody>
      </p:sp>
      <p:sp>
        <p:nvSpPr>
          <p:cNvPr id="27" name="Rectangle 26"/>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system architecture (10 points)</a:t>
            </a:r>
            <a:r>
              <a:rPr sz="1100" b="1">
                <a:solidFill>
                  <a:srgbClr val="0A1F6B"/>
                </a:solidFill>
                <a:latin typeface="Calibri"/>
              </a:rPr>
              <a:t>     |     Reference: </a:t>
            </a:r>
            <a:r>
              <a:rPr sz="1100" b="0">
                <a:solidFill>
                  <a:srgbClr val="555555"/>
                </a:solidFill>
                <a:latin typeface="Calibri"/>
              </a:rPr>
              <a:t>Design handout, section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WHY THIS DESIGN</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4. Why we chose a supervisor over the alternatives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63040"/>
          <a:ext cx="11064240" cy="3566160"/>
        </p:xfrm>
        <a:graphic>
          <a:graphicData uri="http://schemas.openxmlformats.org/drawingml/2006/table">
            <a:tbl>
              <a:tblPr firstRow="1" bandRow="1">
                <a:tableStyleId>{5C22544A-7EE6-4342-B048-85BDC9FD1C3A}</a:tableStyleId>
              </a:tblPr>
              <a:tblGrid>
                <a:gridCol w="3291840"/>
                <a:gridCol w="1371600"/>
                <a:gridCol w="6400800"/>
              </a:tblGrid>
              <a:tr h="713232">
                <a:tc>
                  <a:txBody>
                    <a:bodyPr/>
                    <a:lstStyle/>
                    <a:p>
                      <a:r>
                        <a:rPr sz="1250" b="1">
                          <a:solidFill>
                            <a:srgbClr val="FFFFFF"/>
                          </a:solidFill>
                          <a:latin typeface="Calibri"/>
                        </a:rPr>
                        <a:t>The option</a:t>
                      </a:r>
                    </a:p>
                  </a:txBody>
                  <a:tcPr>
                    <a:solidFill>
                      <a:srgbClr val="0A1F6B"/>
                    </a:solidFill>
                  </a:tcPr>
                </a:tc>
                <a:tc>
                  <a:txBody>
                    <a:bodyPr/>
                    <a:lstStyle/>
                    <a:p>
                      <a:r>
                        <a:rPr sz="1250" b="1">
                          <a:solidFill>
                            <a:srgbClr val="FFFFFF"/>
                          </a:solidFill>
                          <a:latin typeface="Calibri"/>
                        </a:rPr>
                        <a:t>Verdict</a:t>
                      </a:r>
                    </a:p>
                  </a:txBody>
                  <a:tcPr>
                    <a:solidFill>
                      <a:srgbClr val="0A1F6B"/>
                    </a:solidFill>
                  </a:tcPr>
                </a:tc>
                <a:tc>
                  <a:txBody>
                    <a:bodyPr/>
                    <a:lstStyle/>
                    <a:p>
                      <a:r>
                        <a:rPr sz="1250" b="1">
                          <a:solidFill>
                            <a:srgbClr val="FFFFFF"/>
                          </a:solidFill>
                          <a:latin typeface="Calibri"/>
                        </a:rPr>
                        <a:t>The reason</a:t>
                      </a:r>
                    </a:p>
                  </a:txBody>
                  <a:tcPr>
                    <a:solidFill>
                      <a:srgbClr val="0A1F6B"/>
                    </a:solidFill>
                  </a:tcPr>
                </a:tc>
              </a:tr>
              <a:tr h="713232">
                <a:tc>
                  <a:txBody>
                    <a:bodyPr/>
                    <a:lstStyle/>
                    <a:p>
                      <a:r>
                        <a:rPr sz="1250">
                          <a:solidFill>
                            <a:srgbClr val="1A1A2E"/>
                          </a:solidFill>
                          <a:latin typeface="Calibri"/>
                        </a:rPr>
                        <a:t>One agent holding every tool</a:t>
                      </a:r>
                    </a:p>
                  </a:txBody>
                  <a:tcPr>
                    <a:solidFill>
                      <a:srgbClr val="FFFFFF"/>
                    </a:solidFill>
                  </a:tcPr>
                </a:tc>
                <a:tc>
                  <a:txBody>
                    <a:bodyPr/>
                    <a:lstStyle/>
                    <a:p>
                      <a:r>
                        <a:rPr sz="1250">
                          <a:solidFill>
                            <a:srgbClr val="1A1A2E"/>
                          </a:solidFill>
                          <a:latin typeface="Calibri"/>
                        </a:rPr>
                        <a:t>Not chosen</a:t>
                      </a:r>
                    </a:p>
                  </a:txBody>
                  <a:tcPr>
                    <a:solidFill>
                      <a:srgbClr val="FFFFFF"/>
                    </a:solidFill>
                  </a:tcPr>
                </a:tc>
                <a:tc>
                  <a:txBody>
                    <a:bodyPr/>
                    <a:lstStyle/>
                    <a:p>
                      <a:r>
                        <a:rPr sz="1250">
                          <a:solidFill>
                            <a:srgbClr val="1A1A2E"/>
                          </a:solidFill>
                          <a:latin typeface="Calibri"/>
                        </a:rPr>
                        <a:t>Too many tools lead to poor choices, the context grows unmanageable, and one agent cannot be an expert at everything.</a:t>
                      </a:r>
                    </a:p>
                  </a:txBody>
                  <a:tcPr>
                    <a:solidFill>
                      <a:srgbClr val="FFFFFF"/>
                    </a:solidFill>
                  </a:tcPr>
                </a:tc>
              </a:tr>
              <a:tr h="713232">
                <a:tc>
                  <a:txBody>
                    <a:bodyPr/>
                    <a:lstStyle/>
                    <a:p>
                      <a:r>
                        <a:rPr sz="1250">
                          <a:solidFill>
                            <a:srgbClr val="1A1A2E"/>
                          </a:solidFill>
                          <a:latin typeface="Calibri"/>
                        </a:rPr>
                        <a:t>Independent agents talking peer to peer</a:t>
                      </a:r>
                    </a:p>
                  </a:txBody>
                  <a:tcPr>
                    <a:solidFill>
                      <a:srgbClr val="F2F4F8"/>
                    </a:solidFill>
                  </a:tcPr>
                </a:tc>
                <a:tc>
                  <a:txBody>
                    <a:bodyPr/>
                    <a:lstStyle/>
                    <a:p>
                      <a:r>
                        <a:rPr sz="1250">
                          <a:solidFill>
                            <a:srgbClr val="1A1A2E"/>
                          </a:solidFill>
                          <a:latin typeface="Calibri"/>
                        </a:rPr>
                        <a:t>Not chosen</a:t>
                      </a:r>
                    </a:p>
                  </a:txBody>
                  <a:tcPr>
                    <a:solidFill>
                      <a:srgbClr val="F2F4F8"/>
                    </a:solidFill>
                  </a:tcPr>
                </a:tc>
                <a:tc>
                  <a:txBody>
                    <a:bodyPr/>
                    <a:lstStyle/>
                    <a:p>
                      <a:r>
                        <a:rPr sz="1250">
                          <a:solidFill>
                            <a:srgbClr val="1A1A2E"/>
                          </a:solidFill>
                          <a:latin typeface="Calibri"/>
                        </a:rPr>
                        <a:t>Hard to predict and to debug, with no clear accountability for a three-million-dollar decision.</a:t>
                      </a:r>
                    </a:p>
                  </a:txBody>
                  <a:tcPr>
                    <a:solidFill>
                      <a:srgbClr val="F2F4F8"/>
                    </a:solidFill>
                  </a:tcPr>
                </a:tc>
              </a:tr>
              <a:tr h="713232">
                <a:tc>
                  <a:txBody>
                    <a:bodyPr/>
                    <a:lstStyle/>
                    <a:p>
                      <a:r>
                        <a:rPr sz="1250">
                          <a:solidFill>
                            <a:srgbClr val="1A1A2E"/>
                          </a:solidFill>
                          <a:latin typeface="Calibri"/>
                        </a:rPr>
                        <a:t>A supervisor guiding specialists</a:t>
                      </a:r>
                    </a:p>
                  </a:txBody>
                  <a:tcPr>
                    <a:solidFill>
                      <a:srgbClr val="FFFFFF"/>
                    </a:solidFill>
                  </a:tcPr>
                </a:tc>
                <a:tc>
                  <a:txBody>
                    <a:bodyPr/>
                    <a:lstStyle/>
                    <a:p>
                      <a:r>
                        <a:rPr sz="1250">
                          <a:solidFill>
                            <a:srgbClr val="1A1A2E"/>
                          </a:solidFill>
                          <a:latin typeface="Calibri"/>
                        </a:rPr>
                        <a:t>Our choice</a:t>
                      </a:r>
                    </a:p>
                  </a:txBody>
                  <a:tcPr>
                    <a:solidFill>
                      <a:srgbClr val="FFFFFF"/>
                    </a:solidFill>
                  </a:tcPr>
                </a:tc>
                <a:tc>
                  <a:txBody>
                    <a:bodyPr/>
                    <a:lstStyle/>
                    <a:p>
                      <a:r>
                        <a:rPr sz="1250">
                          <a:solidFill>
                            <a:srgbClr val="1A1A2E"/>
                          </a:solidFill>
                          <a:latin typeface="Calibri"/>
                        </a:rPr>
                        <a:t>Clear accountability, easy to follow and fix, work shared among experts, and every step can be audited.</a:t>
                      </a:r>
                    </a:p>
                  </a:txBody>
                  <a:tcPr>
                    <a:solidFill>
                      <a:srgbClr val="FFFFFF"/>
                    </a:solidFill>
                  </a:tcPr>
                </a:tc>
              </a:tr>
              <a:tr h="713232">
                <a:tc>
                  <a:txBody>
                    <a:bodyPr/>
                    <a:lstStyle/>
                    <a:p>
                      <a:r>
                        <a:rPr sz="1250">
                          <a:solidFill>
                            <a:srgbClr val="1A1A2E"/>
                          </a:solidFill>
                          <a:latin typeface="Calibri"/>
                        </a:rPr>
                        <a:t>A deeper management hierarchy</a:t>
                      </a:r>
                    </a:p>
                  </a:txBody>
                  <a:tcPr>
                    <a:solidFill>
                      <a:srgbClr val="F2F4F8"/>
                    </a:solidFill>
                  </a:tcPr>
                </a:tc>
                <a:tc>
                  <a:txBody>
                    <a:bodyPr/>
                    <a:lstStyle/>
                    <a:p>
                      <a:r>
                        <a:rPr sz="1250">
                          <a:solidFill>
                            <a:srgbClr val="1A1A2E"/>
                          </a:solidFill>
                          <a:latin typeface="Calibri"/>
                        </a:rPr>
                        <a:t>For later</a:t>
                      </a:r>
                    </a:p>
                  </a:txBody>
                  <a:tcPr>
                    <a:solidFill>
                      <a:srgbClr val="F2F4F8"/>
                    </a:solidFill>
                  </a:tcPr>
                </a:tc>
                <a:tc>
                  <a:txBody>
                    <a:bodyPr/>
                    <a:lstStyle/>
                    <a:p>
                      <a:r>
                        <a:rPr sz="1250">
                          <a:solidFill>
                            <a:srgbClr val="1A1A2E"/>
                          </a:solidFill>
                          <a:latin typeface="Calibri"/>
                        </a:rPr>
                        <a:t>More than we need today, but a natural way to grow as we take on the other challenges.</a:t>
                      </a:r>
                    </a:p>
                  </a:txBody>
                  <a:tcPr>
                    <a:solidFill>
                      <a:srgbClr val="F2F4F8"/>
                    </a:solidFill>
                  </a:tcPr>
                </a:tc>
              </a:tr>
            </a:tbl>
          </a:graphicData>
        </a:graphic>
      </p:graphicFrame>
      <p:sp>
        <p:nvSpPr>
          <p:cNvPr id="7" name="Rectangle 6"/>
          <p:cNvSpPr/>
          <p:nvPr/>
        </p:nvSpPr>
        <p:spPr>
          <a:xfrm>
            <a:off x="548640" y="5440680"/>
            <a:ext cx="11064240" cy="868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698480" cy="713232"/>
          </a:xfrm>
          <a:prstGeom prst="rect">
            <a:avLst/>
          </a:prstGeom>
          <a:noFill/>
        </p:spPr>
        <p:txBody>
          <a:bodyPr wrap="square" anchor="ctr">
            <a:spAutoFit/>
          </a:bodyPr>
          <a:lstStyle/>
          <a:p>
            <a:pPr algn="l">
              <a:lnSpc>
                <a:spcPct val="105000"/>
              </a:lnSpc>
              <a:spcAft>
                <a:spcPts val="600"/>
              </a:spcAft>
            </a:pPr>
            <a:r>
              <a:rPr sz="1350" b="1">
                <a:solidFill>
                  <a:srgbClr val="0E7C86"/>
                </a:solidFill>
                <a:latin typeface="Calibri"/>
              </a:rPr>
              <a:t>The trade-off we accept: </a:t>
            </a:r>
            <a:r>
              <a:rPr sz="1350" b="0">
                <a:solidFill>
                  <a:srgbClr val="1A1A2E"/>
                </a:solidFill>
                <a:latin typeface="Calibri"/>
              </a:rPr>
              <a:t>a few more moving parts and a little extra coordination, which we keep in check with a light supervisor and tightly limited tools. A simple automation script could never reason about a brand-new supplier chain, or sensibly decide not to rush a shipment.</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system architecture (10 points)</a:t>
            </a:r>
            <a:r>
              <a:rPr sz="1100" b="1">
                <a:solidFill>
                  <a:srgbClr val="0A1F6B"/>
                </a:solidFill>
                <a:latin typeface="Calibri"/>
              </a:rPr>
              <a:t>     |     Reference: </a:t>
            </a:r>
            <a:r>
              <a:rPr sz="1100" b="0">
                <a:solidFill>
                  <a:srgbClr val="555555"/>
                </a:solidFill>
                <a:latin typeface="Calibri"/>
              </a:rPr>
              <a:t>Design handout, section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TOOLS AND ACTIONS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5. The agent decides, the tools carry out the work</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64240" cy="457200"/>
          </a:xfrm>
          <a:prstGeom prst="rect">
            <a:avLst/>
          </a:prstGeom>
          <a:noFill/>
        </p:spPr>
        <p:txBody>
          <a:bodyPr wrap="square" anchor="t">
            <a:spAutoFit/>
          </a:bodyPr>
          <a:lstStyle/>
          <a:p>
            <a:pPr algn="l">
              <a:lnSpc>
                <a:spcPct val="105000"/>
              </a:lnSpc>
              <a:spcAft>
                <a:spcPts val="600"/>
              </a:spcAft>
            </a:pPr>
            <a:r>
              <a:rPr sz="1350" b="0">
                <a:solidFill>
                  <a:srgbClr val="1A1A2E"/>
                </a:solidFill>
                <a:latin typeface="Calibri"/>
              </a:rPr>
              <a:t>Each tool is passive and does one job when asked. The agent is the one that decides which tool to use, and when.</a:t>
            </a:r>
          </a:p>
        </p:txBody>
      </p:sp>
      <p:graphicFrame>
        <p:nvGraphicFramePr>
          <p:cNvPr id="7" name="Table 6"/>
          <p:cNvGraphicFramePr>
            <a:graphicFrameLocks noGrp="1"/>
          </p:cNvGraphicFramePr>
          <p:nvPr/>
        </p:nvGraphicFramePr>
        <p:xfrm>
          <a:off x="548640" y="1874519"/>
          <a:ext cx="11064240" cy="4425696"/>
        </p:xfrm>
        <a:graphic>
          <a:graphicData uri="http://schemas.openxmlformats.org/drawingml/2006/table">
            <a:tbl>
              <a:tblPr firstRow="1" bandRow="1">
                <a:tableStyleId>{5C22544A-7EE6-4342-B048-85BDC9FD1C3A}</a:tableStyleId>
              </a:tblPr>
              <a:tblGrid>
                <a:gridCol w="2468880"/>
                <a:gridCol w="1188720"/>
                <a:gridCol w="1828800"/>
                <a:gridCol w="5577840"/>
              </a:tblGrid>
              <a:tr h="402336">
                <a:tc>
                  <a:txBody>
                    <a:bodyPr/>
                    <a:lstStyle/>
                    <a:p>
                      <a:r>
                        <a:rPr sz="1150" b="1">
                          <a:solidFill>
                            <a:srgbClr val="FFFFFF"/>
                          </a:solidFill>
                          <a:latin typeface="Calibri"/>
                        </a:rPr>
                        <a:t>Tool</a:t>
                      </a:r>
                    </a:p>
                  </a:txBody>
                  <a:tcPr>
                    <a:solidFill>
                      <a:srgbClr val="0A1F6B"/>
                    </a:solidFill>
                  </a:tcPr>
                </a:tc>
                <a:tc>
                  <a:txBody>
                    <a:bodyPr/>
                    <a:lstStyle/>
                    <a:p>
                      <a:r>
                        <a:rPr sz="1150" b="1">
                          <a:solidFill>
                            <a:srgbClr val="FFFFFF"/>
                          </a:solidFill>
                          <a:latin typeface="Calibri"/>
                        </a:rPr>
                        <a:t>Kind</a:t>
                      </a:r>
                    </a:p>
                  </a:txBody>
                  <a:tcPr>
                    <a:solidFill>
                      <a:srgbClr val="0A1F6B"/>
                    </a:solidFill>
                  </a:tcPr>
                </a:tc>
                <a:tc>
                  <a:txBody>
                    <a:bodyPr/>
                    <a:lstStyle/>
                    <a:p>
                      <a:r>
                        <a:rPr sz="1150" b="1">
                          <a:solidFill>
                            <a:srgbClr val="FFFFFF"/>
                          </a:solidFill>
                          <a:latin typeface="Calibri"/>
                        </a:rPr>
                        <a:t>Needs approval</a:t>
                      </a:r>
                    </a:p>
                  </a:txBody>
                  <a:tcPr>
                    <a:solidFill>
                      <a:srgbClr val="0A1F6B"/>
                    </a:solidFill>
                  </a:tcPr>
                </a:tc>
                <a:tc>
                  <a:txBody>
                    <a:bodyPr/>
                    <a:lstStyle/>
                    <a:p>
                      <a:r>
                        <a:rPr sz="1150" b="1">
                          <a:solidFill>
                            <a:srgbClr val="FFFFFF"/>
                          </a:solidFill>
                          <a:latin typeface="Calibri"/>
                        </a:rPr>
                        <a:t>What it does</a:t>
                      </a:r>
                    </a:p>
                  </a:txBody>
                  <a:tcPr>
                    <a:solidFill>
                      <a:srgbClr val="0A1F6B"/>
                    </a:solidFill>
                  </a:tcPr>
                </a:tc>
              </a:tr>
              <a:tr h="402336">
                <a:tc>
                  <a:txBody>
                    <a:bodyPr/>
                    <a:lstStyle/>
                    <a:p>
                      <a:r>
                        <a:rPr sz="1150">
                          <a:solidFill>
                            <a:srgbClr val="1A1A2E"/>
                          </a:solidFill>
                          <a:latin typeface="Calibri"/>
                        </a:rPr>
                        <a:t>Supplier map</a:t>
                      </a:r>
                    </a:p>
                  </a:txBody>
                  <a:tcPr>
                    <a:solidFill>
                      <a:srgbClr val="FFFFFF"/>
                    </a:solidFill>
                  </a:tcPr>
                </a:tc>
                <a:tc>
                  <a:txBody>
                    <a:bodyPr/>
                    <a:lstStyle/>
                    <a:p>
                      <a:r>
                        <a:rPr sz="1150">
                          <a:solidFill>
                            <a:srgbClr val="1A1A2E"/>
                          </a:solidFill>
                          <a:latin typeface="Calibri"/>
                        </a:rPr>
                        <a:t>read</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Traces dependencies through every supplier tier and finds approved alternates</a:t>
                      </a:r>
                    </a:p>
                  </a:txBody>
                  <a:tcPr>
                    <a:solidFill>
                      <a:srgbClr val="FFFFFF"/>
                    </a:solidFill>
                  </a:tcPr>
                </a:tc>
              </a:tr>
              <a:tr h="402336">
                <a:tc>
                  <a:txBody>
                    <a:bodyPr/>
                    <a:lstStyle/>
                    <a:p>
                      <a:r>
                        <a:rPr sz="1150">
                          <a:solidFill>
                            <a:srgbClr val="1A1A2E"/>
                          </a:solidFill>
                          <a:latin typeface="Calibri"/>
                        </a:rPr>
                        <a:t>Shipment tracker</a:t>
                      </a:r>
                    </a:p>
                  </a:txBody>
                  <a:tcPr>
                    <a:solidFill>
                      <a:srgbClr val="F2F4F8"/>
                    </a:solidFill>
                  </a:tcPr>
                </a:tc>
                <a:tc>
                  <a:txBody>
                    <a:bodyPr/>
                    <a:lstStyle/>
                    <a:p>
                      <a:r>
                        <a:rPr sz="1150">
                          <a:solidFill>
                            <a:srgbClr val="1A1A2E"/>
                          </a:solidFill>
                          <a:latin typeface="Calibri"/>
                        </a:rPr>
                        <a:t>read</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Brings scattered shipping updates into a single, clear view</a:t>
                      </a:r>
                    </a:p>
                  </a:txBody>
                  <a:tcPr>
                    <a:solidFill>
                      <a:srgbClr val="F2F4F8"/>
                    </a:solidFill>
                  </a:tcPr>
                </a:tc>
              </a:tr>
              <a:tr h="402336">
                <a:tc>
                  <a:txBody>
                    <a:bodyPr/>
                    <a:lstStyle/>
                    <a:p>
                      <a:r>
                        <a:rPr sz="1150">
                          <a:solidFill>
                            <a:srgbClr val="1A1A2E"/>
                          </a:solidFill>
                          <a:latin typeface="Calibri"/>
                        </a:rPr>
                        <a:t>Inventory</a:t>
                      </a:r>
                    </a:p>
                  </a:txBody>
                  <a:tcPr>
                    <a:solidFill>
                      <a:srgbClr val="FFFFFF"/>
                    </a:solidFill>
                  </a:tcPr>
                </a:tc>
                <a:tc>
                  <a:txBody>
                    <a:bodyPr/>
                    <a:lstStyle/>
                    <a:p>
                      <a:r>
                        <a:rPr sz="1150">
                          <a:solidFill>
                            <a:srgbClr val="1A1A2E"/>
                          </a:solidFill>
                          <a:latin typeface="Calibri"/>
                        </a:rPr>
                        <a:t>read</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Shows stock on hand, safety stock and days of cover left</a:t>
                      </a:r>
                    </a:p>
                  </a:txBody>
                  <a:tcPr>
                    <a:solidFill>
                      <a:srgbClr val="FFFFFF"/>
                    </a:solidFill>
                  </a:tcPr>
                </a:tc>
              </a:tr>
              <a:tr h="402336">
                <a:tc>
                  <a:txBody>
                    <a:bodyPr/>
                    <a:lstStyle/>
                    <a:p>
                      <a:r>
                        <a:rPr sz="1150">
                          <a:solidFill>
                            <a:srgbClr val="1A1A2E"/>
                          </a:solidFill>
                          <a:latin typeface="Calibri"/>
                        </a:rPr>
                        <a:t>Risk feed</a:t>
                      </a:r>
                    </a:p>
                  </a:txBody>
                  <a:tcPr>
                    <a:solidFill>
                      <a:srgbClr val="F2F4F8"/>
                    </a:solidFill>
                  </a:tcPr>
                </a:tc>
                <a:tc>
                  <a:txBody>
                    <a:bodyPr/>
                    <a:lstStyle/>
                    <a:p>
                      <a:r>
                        <a:rPr sz="1150">
                          <a:solidFill>
                            <a:srgbClr val="1A1A2E"/>
                          </a:solidFill>
                          <a:latin typeface="Calibri"/>
                        </a:rPr>
                        <a:t>read</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Scans weather, ports, news and geopolitical signals</a:t>
                      </a:r>
                    </a:p>
                  </a:txBody>
                  <a:tcPr>
                    <a:solidFill>
                      <a:srgbClr val="F2F4F8"/>
                    </a:solidFill>
                  </a:tcPr>
                </a:tc>
              </a:tr>
              <a:tr h="402336">
                <a:tc>
                  <a:txBody>
                    <a:bodyPr/>
                    <a:lstStyle/>
                    <a:p>
                      <a:r>
                        <a:rPr sz="1150">
                          <a:solidFill>
                            <a:srgbClr val="1A1A2E"/>
                          </a:solidFill>
                          <a:latin typeface="Calibri"/>
                        </a:rPr>
                        <a:t>Arrival predictor</a:t>
                      </a:r>
                    </a:p>
                  </a:txBody>
                  <a:tcPr>
                    <a:solidFill>
                      <a:srgbClr val="FFFFFF"/>
                    </a:solidFill>
                  </a:tcPr>
                </a:tc>
                <a:tc>
                  <a:txBody>
                    <a:bodyPr/>
                    <a:lstStyle/>
                    <a:p>
                      <a:r>
                        <a:rPr sz="1150">
                          <a:solidFill>
                            <a:srgbClr val="1A1A2E"/>
                          </a:solidFill>
                          <a:latin typeface="Calibri"/>
                        </a:rPr>
                        <a:t>calculate</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Estimates a realistic arrival date from status and live disruptions</a:t>
                      </a:r>
                    </a:p>
                  </a:txBody>
                  <a:tcPr>
                    <a:solidFill>
                      <a:srgbClr val="FFFFFF"/>
                    </a:solidFill>
                  </a:tcPr>
                </a:tc>
              </a:tr>
              <a:tr h="402336">
                <a:tc>
                  <a:txBody>
                    <a:bodyPr/>
                    <a:lstStyle/>
                    <a:p>
                      <a:r>
                        <a:rPr sz="1150">
                          <a:solidFill>
                            <a:srgbClr val="1A1A2E"/>
                          </a:solidFill>
                          <a:latin typeface="Calibri"/>
                        </a:rPr>
                        <a:t>Risk scorer</a:t>
                      </a:r>
                    </a:p>
                  </a:txBody>
                  <a:tcPr>
                    <a:solidFill>
                      <a:srgbClr val="F2F4F8"/>
                    </a:solidFill>
                  </a:tcPr>
                </a:tc>
                <a:tc>
                  <a:txBody>
                    <a:bodyPr/>
                    <a:lstStyle/>
                    <a:p>
                      <a:r>
                        <a:rPr sz="1150">
                          <a:solidFill>
                            <a:srgbClr val="1A1A2E"/>
                          </a:solidFill>
                          <a:latin typeface="Calibri"/>
                        </a:rPr>
                        <a:t>calculate</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Turns the picture into a 0 to 100 priority score and a dollar exposure</a:t>
                      </a:r>
                    </a:p>
                  </a:txBody>
                  <a:tcPr>
                    <a:solidFill>
                      <a:srgbClr val="F2F4F8"/>
                    </a:solidFill>
                  </a:tcPr>
                </a:tc>
              </a:tr>
              <a:tr h="402336">
                <a:tc>
                  <a:txBody>
                    <a:bodyPr/>
                    <a:lstStyle/>
                    <a:p>
                      <a:r>
                        <a:rPr sz="1150">
                          <a:solidFill>
                            <a:srgbClr val="1A1A2E"/>
                          </a:solidFill>
                          <a:latin typeface="Calibri"/>
                        </a:rPr>
                        <a:t>Create purchase order</a:t>
                      </a:r>
                    </a:p>
                  </a:txBody>
                  <a:tcPr>
                    <a:solidFill>
                      <a:srgbClr val="FFFFFF"/>
                    </a:solidFill>
                  </a:tcPr>
                </a:tc>
                <a:tc>
                  <a:txBody>
                    <a:bodyPr/>
                    <a:lstStyle/>
                    <a:p>
                      <a:r>
                        <a:rPr sz="1150">
                          <a:solidFill>
                            <a:srgbClr val="1A1A2E"/>
                          </a:solidFill>
                          <a:latin typeface="Calibri"/>
                        </a:rPr>
                        <a:t>act</a:t>
                      </a:r>
                    </a:p>
                  </a:txBody>
                  <a:tcPr>
                    <a:solidFill>
                      <a:srgbClr val="FFFFFF"/>
                    </a:solidFill>
                  </a:tcPr>
                </a:tc>
                <a:tc>
                  <a:txBody>
                    <a:bodyPr/>
                    <a:lstStyle/>
                    <a:p>
                      <a:r>
                        <a:rPr sz="1150">
                          <a:solidFill>
                            <a:srgbClr val="1A1A2E"/>
                          </a:solidFill>
                          <a:latin typeface="Calibri"/>
                        </a:rPr>
                        <a:t>to commit funds</a:t>
                      </a:r>
                    </a:p>
                  </a:txBody>
                  <a:tcPr>
                    <a:solidFill>
                      <a:srgbClr val="FFFFFF"/>
                    </a:solidFill>
                  </a:tcPr>
                </a:tc>
                <a:tc>
                  <a:txBody>
                    <a:bodyPr/>
                    <a:lstStyle/>
                    <a:p>
                      <a:r>
                        <a:rPr sz="1150">
                          <a:solidFill>
                            <a:srgbClr val="1A1A2E"/>
                          </a:solidFill>
                          <a:latin typeface="Calibri"/>
                        </a:rPr>
                        <a:t>Drafts an order freely; committing real money needs a person</a:t>
                      </a:r>
                    </a:p>
                  </a:txBody>
                  <a:tcPr>
                    <a:solidFill>
                      <a:srgbClr val="FFFFFF"/>
                    </a:solidFill>
                  </a:tcPr>
                </a:tc>
              </a:tr>
              <a:tr h="402336">
                <a:tc>
                  <a:txBody>
                    <a:bodyPr/>
                    <a:lstStyle/>
                    <a:p>
                      <a:r>
                        <a:rPr sz="1150">
                          <a:solidFill>
                            <a:srgbClr val="1A1A2E"/>
                          </a:solidFill>
                          <a:latin typeface="Calibri"/>
                        </a:rPr>
                        <a:t>Expedite freight</a:t>
                      </a:r>
                    </a:p>
                  </a:txBody>
                  <a:tcPr>
                    <a:solidFill>
                      <a:srgbClr val="F2F4F8"/>
                    </a:solidFill>
                  </a:tcPr>
                </a:tc>
                <a:tc>
                  <a:txBody>
                    <a:bodyPr/>
                    <a:lstStyle/>
                    <a:p>
                      <a:r>
                        <a:rPr sz="1150">
                          <a:solidFill>
                            <a:srgbClr val="1A1A2E"/>
                          </a:solidFill>
                          <a:latin typeface="Calibri"/>
                        </a:rPr>
                        <a:t>act</a:t>
                      </a:r>
                    </a:p>
                  </a:txBody>
                  <a:tcPr>
                    <a:solidFill>
                      <a:srgbClr val="F2F4F8"/>
                    </a:solidFill>
                  </a:tcPr>
                </a:tc>
                <a:tc>
                  <a:txBody>
                    <a:bodyPr/>
                    <a:lstStyle/>
                    <a:p>
                      <a:r>
                        <a:rPr sz="1150">
                          <a:solidFill>
                            <a:srgbClr val="1A1A2E"/>
                          </a:solidFill>
                          <a:latin typeface="Calibri"/>
                        </a:rPr>
                        <a:t>always</a:t>
                      </a:r>
                    </a:p>
                  </a:txBody>
                  <a:tcPr>
                    <a:solidFill>
                      <a:srgbClr val="F2F4F8"/>
                    </a:solidFill>
                  </a:tcPr>
                </a:tc>
                <a:tc>
                  <a:txBody>
                    <a:bodyPr/>
                    <a:lstStyle/>
                    <a:p>
                      <a:r>
                        <a:rPr sz="1150">
                          <a:solidFill>
                            <a:srgbClr val="1A1A2E"/>
                          </a:solidFill>
                          <a:latin typeface="Calibri"/>
                        </a:rPr>
                        <a:t>Books premium shipping, which is a controlled cost</a:t>
                      </a:r>
                    </a:p>
                  </a:txBody>
                  <a:tcPr>
                    <a:solidFill>
                      <a:srgbClr val="F2F4F8"/>
                    </a:solidFill>
                  </a:tcPr>
                </a:tc>
              </a:tr>
              <a:tr h="402336">
                <a:tc>
                  <a:txBody>
                    <a:bodyPr/>
                    <a:lstStyle/>
                    <a:p>
                      <a:r>
                        <a:rPr sz="1150">
                          <a:solidFill>
                            <a:srgbClr val="1A1A2E"/>
                          </a:solidFill>
                          <a:latin typeface="Calibri"/>
                        </a:rPr>
                        <a:t>Reschedule line</a:t>
                      </a:r>
                    </a:p>
                  </a:txBody>
                  <a:tcPr>
                    <a:solidFill>
                      <a:srgbClr val="FFFFFF"/>
                    </a:solidFill>
                  </a:tcPr>
                </a:tc>
                <a:tc>
                  <a:txBody>
                    <a:bodyPr/>
                    <a:lstStyle/>
                    <a:p>
                      <a:r>
                        <a:rPr sz="1150">
                          <a:solidFill>
                            <a:srgbClr val="1A1A2E"/>
                          </a:solidFill>
                          <a:latin typeface="Calibri"/>
                        </a:rPr>
                        <a:t>act</a:t>
                      </a:r>
                    </a:p>
                  </a:txBody>
                  <a:tcPr>
                    <a:solidFill>
                      <a:srgbClr val="FFFFFF"/>
                    </a:solidFill>
                  </a:tcPr>
                </a:tc>
                <a:tc>
                  <a:txBody>
                    <a:bodyPr/>
                    <a:lstStyle/>
                    <a:p>
                      <a:r>
                        <a:rPr sz="1150">
                          <a:solidFill>
                            <a:srgbClr val="1A1A2E"/>
                          </a:solidFill>
                          <a:latin typeface="Calibri"/>
                        </a:rPr>
                        <a:t>always</a:t>
                      </a:r>
                    </a:p>
                  </a:txBody>
                  <a:tcPr>
                    <a:solidFill>
                      <a:srgbClr val="FFFFFF"/>
                    </a:solidFill>
                  </a:tcPr>
                </a:tc>
                <a:tc>
                  <a:txBody>
                    <a:bodyPr/>
                    <a:lstStyle/>
                    <a:p>
                      <a:r>
                        <a:rPr sz="1150">
                          <a:solidFill>
                            <a:srgbClr val="1A1A2E"/>
                          </a:solidFill>
                          <a:latin typeface="Calibri"/>
                        </a:rPr>
                        <a:t>Reorders a live production line, which affects people and safety</a:t>
                      </a:r>
                    </a:p>
                  </a:txBody>
                  <a:tcPr>
                    <a:solidFill>
                      <a:srgbClr val="FFFFFF"/>
                    </a:solidFill>
                  </a:tcPr>
                </a:tc>
              </a:tr>
              <a:tr h="402336">
                <a:tc>
                  <a:txBody>
                    <a:bodyPr/>
                    <a:lstStyle/>
                    <a:p>
                      <a:r>
                        <a:rPr sz="1150">
                          <a:solidFill>
                            <a:srgbClr val="1A1A2E"/>
                          </a:solidFill>
                          <a:latin typeface="Calibri"/>
                        </a:rPr>
                        <a:t>Notify people</a:t>
                      </a:r>
                    </a:p>
                  </a:txBody>
                  <a:tcPr>
                    <a:solidFill>
                      <a:srgbClr val="F2F4F8"/>
                    </a:solidFill>
                  </a:tcPr>
                </a:tc>
                <a:tc>
                  <a:txBody>
                    <a:bodyPr/>
                    <a:lstStyle/>
                    <a:p>
                      <a:r>
                        <a:rPr sz="1150">
                          <a:solidFill>
                            <a:srgbClr val="1A1A2E"/>
                          </a:solidFill>
                          <a:latin typeface="Calibri"/>
                        </a:rPr>
                        <a:t>act</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Sends an alert or briefing, which is easily reversible</a:t>
                      </a:r>
                    </a:p>
                  </a:txBody>
                  <a:tcPr>
                    <a:solidFill>
                      <a:srgbClr val="F2F4F8"/>
                    </a:solidFill>
                  </a:tcPr>
                </a:tc>
              </a:tr>
            </a:tbl>
          </a:graphicData>
        </a:graphic>
      </p:graphicFrame>
      <p:sp>
        <p:nvSpPr>
          <p:cNvPr id="8" name="Rectangle 7"/>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Tools, actions and feasibility (15 points)</a:t>
            </a:r>
            <a:r>
              <a:rPr sz="1100" b="1">
                <a:solidFill>
                  <a:srgbClr val="0A1F6B"/>
                </a:solidFill>
                <a:latin typeface="Calibri"/>
              </a:rPr>
              <a:t>     |     Reference: </a:t>
            </a:r>
            <a:r>
              <a:rPr sz="1100" b="0">
                <a:solidFill>
                  <a:srgbClr val="555555"/>
                </a:solidFill>
                <a:latin typeface="Calibri"/>
              </a:rPr>
              <a:t>Design handout, section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HOW IT THINKS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6. How the agent thinks: notice, reason, act, learn</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0116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2011680" cy="96012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NOTICE</a:t>
            </a:r>
          </a:p>
        </p:txBody>
      </p:sp>
      <p:sp>
        <p:nvSpPr>
          <p:cNvPr id="8" name="TextBox 7"/>
          <p:cNvSpPr txBox="1"/>
          <p:nvPr/>
        </p:nvSpPr>
        <p:spPr>
          <a:xfrm>
            <a:off x="2743200" y="1554480"/>
            <a:ext cx="886968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The Risk Intelligence specialist sifts the serious signals out of the daily noise (the case describes around 22,000 unsorted alerts a day).</a:t>
            </a:r>
          </a:p>
        </p:txBody>
      </p:sp>
      <p:sp>
        <p:nvSpPr>
          <p:cNvPr id="9" name="Rectangle 8"/>
          <p:cNvSpPr/>
          <p:nvPr/>
        </p:nvSpPr>
        <p:spPr>
          <a:xfrm>
            <a:off x="548640" y="2633472"/>
            <a:ext cx="20116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33472"/>
            <a:ext cx="2011680" cy="96012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REASON</a:t>
            </a:r>
          </a:p>
        </p:txBody>
      </p:sp>
      <p:sp>
        <p:nvSpPr>
          <p:cNvPr id="11" name="TextBox 10"/>
          <p:cNvSpPr txBox="1"/>
          <p:nvPr/>
        </p:nvSpPr>
        <p:spPr>
          <a:xfrm>
            <a:off x="2743200" y="2633472"/>
            <a:ext cx="886968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The Supplier Mapping specialist follows the chain to the critical parts a troubled supplier feeds, and treats a stuck part upstream as the real bottleneck rather than trusting an optimistic promised date.</a:t>
            </a:r>
          </a:p>
        </p:txBody>
      </p:sp>
      <p:sp>
        <p:nvSpPr>
          <p:cNvPr id="12" name="Rectangle 11"/>
          <p:cNvSpPr/>
          <p:nvPr/>
        </p:nvSpPr>
        <p:spPr>
          <a:xfrm>
            <a:off x="548640" y="3712463"/>
            <a:ext cx="20116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712463"/>
            <a:ext cx="2011680" cy="96012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ACT</a:t>
            </a:r>
          </a:p>
        </p:txBody>
      </p:sp>
      <p:sp>
        <p:nvSpPr>
          <p:cNvPr id="14" name="TextBox 13"/>
          <p:cNvSpPr txBox="1"/>
          <p:nvPr/>
        </p:nvSpPr>
        <p:spPr>
          <a:xfrm>
            <a:off x="2743200" y="3712463"/>
            <a:ext cx="886968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It drafts a backup order on its own, then, once a person signs off, places the order, reschedules the line, tells the right people, and records everything.</a:t>
            </a:r>
          </a:p>
        </p:txBody>
      </p:sp>
      <p:sp>
        <p:nvSpPr>
          <p:cNvPr id="15" name="Rectangle 14"/>
          <p:cNvSpPr/>
          <p:nvPr/>
        </p:nvSpPr>
        <p:spPr>
          <a:xfrm>
            <a:off x="548640" y="4791455"/>
            <a:ext cx="201168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91455"/>
            <a:ext cx="2011680" cy="96012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LEARN</a:t>
            </a:r>
          </a:p>
        </p:txBody>
      </p:sp>
      <p:sp>
        <p:nvSpPr>
          <p:cNvPr id="17" name="TextBox 16"/>
          <p:cNvSpPr txBox="1"/>
          <p:nvPr/>
        </p:nvSpPr>
        <p:spPr>
          <a:xfrm>
            <a:off x="2743200" y="4791455"/>
            <a:ext cx="886968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Every run is remembered, and the approvals and edits planners make become feedback that gradually tunes the risk thresholds and supplier preferences.</a:t>
            </a:r>
          </a:p>
        </p:txBody>
      </p:sp>
      <p:sp>
        <p:nvSpPr>
          <p:cNvPr id="18" name="Rectangle 17"/>
          <p:cNvSpPr/>
          <p:nvPr/>
        </p:nvSpPr>
        <p:spPr>
          <a:xfrm>
            <a:off x="548640" y="5943600"/>
            <a:ext cx="11064240" cy="4572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943600"/>
            <a:ext cx="10698480" cy="457200"/>
          </a:xfrm>
          <a:prstGeom prst="rect">
            <a:avLst/>
          </a:prstGeom>
          <a:noFill/>
        </p:spPr>
        <p:txBody>
          <a:bodyPr wrap="square" anchor="ctr">
            <a:spAutoFit/>
          </a:bodyPr>
          <a:lstStyle/>
          <a:p>
            <a:pPr algn="l">
              <a:lnSpc>
                <a:spcPct val="105000"/>
              </a:lnSpc>
              <a:spcAft>
                <a:spcPts val="600"/>
              </a:spcAft>
            </a:pPr>
            <a:r>
              <a:rPr sz="1350" b="1">
                <a:solidFill>
                  <a:srgbClr val="FFFFFF"/>
                </a:solidFill>
                <a:latin typeface="Calibri"/>
              </a:rPr>
              <a:t>An honest note: these agents do not improve by magic. They get better because we feed real human feedback back into them.</a:t>
            </a:r>
          </a:p>
        </p:txBody>
      </p:sp>
      <p:sp>
        <p:nvSpPr>
          <p:cNvPr id="20" name="Rectangle 19"/>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points)</a:t>
            </a:r>
            <a:r>
              <a:rPr sz="1100" b="1">
                <a:solidFill>
                  <a:srgbClr val="0A1F6B"/>
                </a:solidFill>
                <a:latin typeface="Calibri"/>
              </a:rPr>
              <a:t>     |     Reference: </a:t>
            </a:r>
            <a:r>
              <a:rPr sz="1100" b="0">
                <a:solidFill>
                  <a:srgbClr val="555555"/>
                </a:solidFill>
                <a:latin typeface="Calibri"/>
              </a:rPr>
              <a:t>Design handout, section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 REAL WALKTHROUGH</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7. A real example: a major risk caught early</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4023360"/>
          </a:xfrm>
          <a:prstGeom prst="rect">
            <a:avLst/>
          </a:prstGeom>
          <a:noFill/>
        </p:spPr>
        <p:txBody>
          <a:bodyPr wrap="square" anchor="t">
            <a:spAutoFit/>
          </a:bodyPr>
          <a:lstStyle/>
          <a:p>
            <a:pPr algn="l">
              <a:lnSpc>
                <a:spcPct val="110000"/>
              </a:lnSpc>
              <a:spcAft>
                <a:spcPts val="700"/>
              </a:spcAft>
            </a:pPr>
            <a:r>
              <a:rPr sz="1400" b="1">
                <a:solidFill>
                  <a:srgbClr val="0E7C86"/>
                </a:solidFill>
                <a:latin typeface="Calibri"/>
              </a:rPr>
              <a:t>•  </a:t>
            </a:r>
            <a:r>
              <a:rPr sz="1400" b="1">
                <a:solidFill>
                  <a:srgbClr val="1A1A2E"/>
                </a:solidFill>
                <a:latin typeface="Calibri"/>
              </a:rPr>
              <a:t>The trigger: </a:t>
            </a:r>
            <a:r>
              <a:rPr sz="1400" b="0">
                <a:solidFill>
                  <a:srgbClr val="1A1A2E"/>
                </a:solidFill>
                <a:latin typeface="Calibri"/>
              </a:rPr>
              <a:t>the risk feed reports a typhoon closing the port of Kaohsiung and a power failure halting a chip factory in Taiwan.</a:t>
            </a:r>
          </a:p>
          <a:p>
            <a:pPr algn="l">
              <a:lnSpc>
                <a:spcPct val="110000"/>
              </a:lnSpc>
              <a:spcAft>
                <a:spcPts val="700"/>
              </a:spcAft>
            </a:pPr>
            <a:r>
              <a:rPr sz="1400" b="1">
                <a:solidFill>
                  <a:srgbClr val="0E7C86"/>
                </a:solidFill>
                <a:latin typeface="Calibri"/>
              </a:rPr>
              <a:t>•  </a:t>
            </a:r>
            <a:r>
              <a:rPr sz="1400" b="1">
                <a:solidFill>
                  <a:srgbClr val="1A1A2E"/>
                </a:solidFill>
                <a:latin typeface="Calibri"/>
              </a:rPr>
              <a:t>Tracing it: </a:t>
            </a:r>
            <a:r>
              <a:rPr sz="1400" b="0">
                <a:solidFill>
                  <a:srgbClr val="1A1A2E"/>
                </a:solidFill>
                <a:latin typeface="Calibri"/>
              </a:rPr>
              <a:t>the agent flags both as serious, then finds that our critical Servo Motor Controller (part SVC-2200) quietly depends on that single Taiwanese chip supplier, two tiers up, through our direct supplier Nexa.</a:t>
            </a:r>
          </a:p>
          <a:p>
            <a:pPr algn="l">
              <a:lnSpc>
                <a:spcPct val="110000"/>
              </a:lnSpc>
              <a:spcAft>
                <a:spcPts val="700"/>
              </a:spcAft>
            </a:pPr>
            <a:r>
              <a:rPr sz="1400" b="1">
                <a:solidFill>
                  <a:srgbClr val="0E7C86"/>
                </a:solidFill>
                <a:latin typeface="Calibri"/>
              </a:rPr>
              <a:t>•  </a:t>
            </a:r>
            <a:r>
              <a:rPr sz="1400" b="1">
                <a:solidFill>
                  <a:srgbClr val="1A1A2E"/>
                </a:solidFill>
                <a:latin typeface="Calibri"/>
              </a:rPr>
              <a:t>Predicting: </a:t>
            </a:r>
            <a:r>
              <a:rPr sz="1400" b="0">
                <a:solidFill>
                  <a:srgbClr val="1A1A2E"/>
                </a:solidFill>
                <a:latin typeface="Calibri"/>
              </a:rPr>
              <a:t>it sees that Nexa's order is really stuck waiting for that chip, so the true delay is about 19 days, while we hold only 2 days of stock.</a:t>
            </a:r>
          </a:p>
          <a:p>
            <a:pPr algn="l">
              <a:lnSpc>
                <a:spcPct val="110000"/>
              </a:lnSpc>
              <a:spcAft>
                <a:spcPts val="700"/>
              </a:spcAft>
            </a:pPr>
            <a:r>
              <a:rPr sz="1400" b="1">
                <a:solidFill>
                  <a:srgbClr val="0E7C86"/>
                </a:solidFill>
                <a:latin typeface="Calibri"/>
              </a:rPr>
              <a:t>•  </a:t>
            </a:r>
            <a:r>
              <a:rPr sz="1400" b="1">
                <a:solidFill>
                  <a:srgbClr val="1A1A2E"/>
                </a:solidFill>
                <a:latin typeface="Calibri"/>
              </a:rPr>
              <a:t>Scoring: </a:t>
            </a:r>
            <a:r>
              <a:rPr sz="1400" b="0">
                <a:solidFill>
                  <a:srgbClr val="1A1A2E"/>
                </a:solidFill>
                <a:latin typeface="Calibri"/>
              </a:rPr>
              <a:t>the risk comes back critical, 97 out of 100, with roughly $3.06 million at stake.</a:t>
            </a:r>
          </a:p>
          <a:p>
            <a:pPr algn="l">
              <a:lnSpc>
                <a:spcPct val="110000"/>
              </a:lnSpc>
              <a:spcAft>
                <a:spcPts val="700"/>
              </a:spcAft>
            </a:pPr>
            <a:r>
              <a:rPr sz="1400" b="1">
                <a:solidFill>
                  <a:srgbClr val="0E7C86"/>
                </a:solidFill>
                <a:latin typeface="Calibri"/>
              </a:rPr>
              <a:t>•  </a:t>
            </a:r>
            <a:r>
              <a:rPr sz="1400" b="1">
                <a:solidFill>
                  <a:srgbClr val="1A1A2E"/>
                </a:solidFill>
                <a:latin typeface="Calibri"/>
              </a:rPr>
              <a:t>Adapting: </a:t>
            </a:r>
            <a:r>
              <a:rPr sz="1400" b="0">
                <a:solidFill>
                  <a:srgbClr val="1A1A2E"/>
                </a:solidFill>
                <a:latin typeface="Calibri"/>
              </a:rPr>
              <a:t>the agent first considers rushing Nexa's shipment, then rejects that idea, because Nexa cannot ship without the missing chip, and instead switches to an approved European supplier, AltaControl, that avoids Taiwan altogether.</a:t>
            </a:r>
          </a:p>
          <a:p>
            <a:pPr algn="l">
              <a:lnSpc>
                <a:spcPct val="110000"/>
              </a:lnSpc>
              <a:spcAft>
                <a:spcPts val="700"/>
              </a:spcAft>
            </a:pPr>
            <a:r>
              <a:rPr sz="1400" b="1">
                <a:solidFill>
                  <a:srgbClr val="0E7C86"/>
                </a:solidFill>
                <a:latin typeface="Calibri"/>
              </a:rPr>
              <a:t>•  </a:t>
            </a:r>
            <a:r>
              <a:rPr sz="1400" b="1">
                <a:solidFill>
                  <a:srgbClr val="1A1A2E"/>
                </a:solidFill>
                <a:latin typeface="Calibri"/>
              </a:rPr>
              <a:t>Acting, with a person: </a:t>
            </a:r>
            <a:r>
              <a:rPr sz="1400" b="0">
                <a:solidFill>
                  <a:srgbClr val="1A1A2E"/>
                </a:solidFill>
                <a:latin typeface="Calibri"/>
              </a:rPr>
              <a:t>it drafts the backup order on its own, then asks a manager to approve the $294,300 commitment and the line change, and notifies everyone involved.</a:t>
            </a:r>
          </a:p>
        </p:txBody>
      </p:sp>
      <p:sp>
        <p:nvSpPr>
          <p:cNvPr id="7" name="Rectangle 6"/>
          <p:cNvSpPr/>
          <p:nvPr/>
        </p:nvSpPr>
        <p:spPr>
          <a:xfrm>
            <a:off x="548640" y="5532120"/>
            <a:ext cx="11064240" cy="77724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77840"/>
            <a:ext cx="10698480" cy="685800"/>
          </a:xfrm>
          <a:prstGeom prst="rect">
            <a:avLst/>
          </a:prstGeom>
          <a:noFill/>
        </p:spPr>
        <p:txBody>
          <a:bodyPr wrap="square" anchor="ctr">
            <a:spAutoFit/>
          </a:bodyPr>
          <a:lstStyle/>
          <a:p>
            <a:pPr algn="l">
              <a:lnSpc>
                <a:spcPct val="105000"/>
              </a:lnSpc>
              <a:spcAft>
                <a:spcPts val="600"/>
              </a:spcAft>
            </a:pPr>
            <a:r>
              <a:rPr sz="1400" b="1">
                <a:solidFill>
                  <a:srgbClr val="6CB400"/>
                </a:solidFill>
                <a:latin typeface="Calibri"/>
              </a:rPr>
              <a:t>The result: </a:t>
            </a:r>
            <a:r>
              <a:rPr sz="1400" b="0">
                <a:solidFill>
                  <a:srgbClr val="FFFFFF"/>
                </a:solidFill>
                <a:latin typeface="Calibri"/>
              </a:rPr>
              <a:t>a critical risk caught around three weeks before the line would have stopped, with a costed plan ready and a complete record of every step. We can run this live.</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points)</a:t>
            </a:r>
            <a:r>
              <a:rPr sz="1100" b="1">
                <a:solidFill>
                  <a:srgbClr val="0A1F6B"/>
                </a:solidFill>
                <a:latin typeface="Calibri"/>
              </a:rPr>
              <a:t>     |     Reference: </a:t>
            </a:r>
            <a:r>
              <a:rPr sz="1100" b="0">
                <a:solidFill>
                  <a:srgbClr val="555555"/>
                </a:solidFill>
                <a:latin typeface="Calibri"/>
              </a:rPr>
              <a:t>Design handout, section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KEEPING IT SAFE</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8. What could go wrong, and how we prevent it</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3401568"/>
        </p:xfrm>
        <a:graphic>
          <a:graphicData uri="http://schemas.openxmlformats.org/drawingml/2006/table">
            <a:tbl>
              <a:tblPr firstRow="1" bandRow="1">
                <a:tableStyleId>{5C22544A-7EE6-4342-B048-85BDC9FD1C3A}</a:tableStyleId>
              </a:tblPr>
              <a:tblGrid>
                <a:gridCol w="3931920"/>
                <a:gridCol w="7132320"/>
              </a:tblGrid>
              <a:tr h="566928">
                <a:tc>
                  <a:txBody>
                    <a:bodyPr/>
                    <a:lstStyle/>
                    <a:p>
                      <a:r>
                        <a:rPr sz="1300" b="1">
                          <a:solidFill>
                            <a:srgbClr val="FFFFFF"/>
                          </a:solidFill>
                          <a:latin typeface="Calibri"/>
                        </a:rPr>
                        <a:t>What could go wrong</a:t>
                      </a:r>
                    </a:p>
                  </a:txBody>
                  <a:tcPr>
                    <a:solidFill>
                      <a:srgbClr val="0A1F6B"/>
                    </a:solidFill>
                  </a:tcPr>
                </a:tc>
                <a:tc>
                  <a:txBody>
                    <a:bodyPr/>
                    <a:lstStyle/>
                    <a:p>
                      <a:r>
                        <a:rPr sz="1300" b="1">
                          <a:solidFill>
                            <a:srgbClr val="FFFFFF"/>
                          </a:solidFill>
                          <a:latin typeface="Calibri"/>
                        </a:rPr>
                        <a:t>How we prevent it</a:t>
                      </a:r>
                    </a:p>
                  </a:txBody>
                  <a:tcPr>
                    <a:solidFill>
                      <a:srgbClr val="0A1F6B"/>
                    </a:solidFill>
                  </a:tcPr>
                </a:tc>
              </a:tr>
              <a:tr h="566928">
                <a:tc>
                  <a:txBody>
                    <a:bodyPr/>
                    <a:lstStyle/>
                    <a:p>
                      <a:r>
                        <a:rPr sz="1300">
                          <a:solidFill>
                            <a:srgbClr val="1A1A2E"/>
                          </a:solidFill>
                          <a:latin typeface="Calibri"/>
                        </a:rPr>
                        <a:t>A wrong or irreversible action</a:t>
                      </a:r>
                    </a:p>
                  </a:txBody>
                  <a:tcPr>
                    <a:solidFill>
                      <a:srgbClr val="FFFFFF"/>
                    </a:solidFill>
                  </a:tcPr>
                </a:tc>
                <a:tc>
                  <a:txBody>
                    <a:bodyPr/>
                    <a:lstStyle/>
                    <a:p>
                      <a:r>
                        <a:rPr sz="1300">
                          <a:solidFill>
                            <a:srgbClr val="1A1A2E"/>
                          </a:solidFill>
                          <a:latin typeface="Calibri"/>
                        </a:rPr>
                        <a:t>Actions begin as drafts; anything costly or live needs a person to sign off.</a:t>
                      </a:r>
                    </a:p>
                  </a:txBody>
                  <a:tcPr>
                    <a:solidFill>
                      <a:srgbClr val="FFFFFF"/>
                    </a:solidFill>
                  </a:tcPr>
                </a:tc>
              </a:tr>
              <a:tr h="566928">
                <a:tc>
                  <a:txBody>
                    <a:bodyPr/>
                    <a:lstStyle/>
                    <a:p>
                      <a:r>
                        <a:rPr sz="1300">
                          <a:solidFill>
                            <a:srgbClr val="1A1A2E"/>
                          </a:solidFill>
                          <a:latin typeface="Calibri"/>
                        </a:rPr>
                        <a:t>An invented or imagined event</a:t>
                      </a:r>
                    </a:p>
                  </a:txBody>
                  <a:tcPr>
                    <a:solidFill>
                      <a:srgbClr val="F2F4F8"/>
                    </a:solidFill>
                  </a:tcPr>
                </a:tc>
                <a:tc>
                  <a:txBody>
                    <a:bodyPr/>
                    <a:lstStyle/>
                    <a:p>
                      <a:r>
                        <a:rPr sz="1300">
                          <a:solidFill>
                            <a:srgbClr val="1A1A2E"/>
                          </a:solidFill>
                          <a:latin typeface="Calibri"/>
                        </a:rPr>
                        <a:t>The risk specialist must point to a real signal in the feed; it may never guess.</a:t>
                      </a:r>
                    </a:p>
                  </a:txBody>
                  <a:tcPr>
                    <a:solidFill>
                      <a:srgbClr val="F2F4F8"/>
                    </a:solidFill>
                  </a:tcPr>
                </a:tc>
              </a:tr>
              <a:tr h="566928">
                <a:tc>
                  <a:txBody>
                    <a:bodyPr/>
                    <a:lstStyle/>
                    <a:p>
                      <a:r>
                        <a:rPr sz="1300">
                          <a:solidFill>
                            <a:srgbClr val="1A1A2E"/>
                          </a:solidFill>
                          <a:latin typeface="Calibri"/>
                        </a:rPr>
                        <a:t>Spending too much</a:t>
                      </a:r>
                    </a:p>
                  </a:txBody>
                  <a:tcPr>
                    <a:solidFill>
                      <a:srgbClr val="FFFFFF"/>
                    </a:solidFill>
                  </a:tcPr>
                </a:tc>
                <a:tc>
                  <a:txBody>
                    <a:bodyPr/>
                    <a:lstStyle/>
                    <a:p>
                      <a:r>
                        <a:rPr sz="1300">
                          <a:solidFill>
                            <a:srgbClr val="1A1A2E"/>
                          </a:solidFill>
                          <a:latin typeface="Calibri"/>
                        </a:rPr>
                        <a:t>A firm spending limit escalates large commitments, and orders go only to approved suppliers.</a:t>
                      </a:r>
                    </a:p>
                  </a:txBody>
                  <a:tcPr>
                    <a:solidFill>
                      <a:srgbClr val="FFFFFF"/>
                    </a:solidFill>
                  </a:tcPr>
                </a:tc>
              </a:tr>
              <a:tr h="566928">
                <a:tc>
                  <a:txBody>
                    <a:bodyPr/>
                    <a:lstStyle/>
                    <a:p>
                      <a:r>
                        <a:rPr sz="1300">
                          <a:solidFill>
                            <a:srgbClr val="1A1A2E"/>
                          </a:solidFill>
                          <a:latin typeface="Calibri"/>
                        </a:rPr>
                        <a:t>One agent's mistake spreading</a:t>
                      </a:r>
                    </a:p>
                  </a:txBody>
                  <a:tcPr>
                    <a:solidFill>
                      <a:srgbClr val="F2F4F8"/>
                    </a:solidFill>
                  </a:tcPr>
                </a:tc>
                <a:tc>
                  <a:txBody>
                    <a:bodyPr/>
                    <a:lstStyle/>
                    <a:p>
                      <a:r>
                        <a:rPr sz="1300">
                          <a:solidFill>
                            <a:srgbClr val="1A1A2E"/>
                          </a:solidFill>
                          <a:latin typeface="Calibri"/>
                        </a:rPr>
                        <a:t>A light supervisor, tightly limited tools, and a full trace of every step keep errors contained.</a:t>
                      </a:r>
                    </a:p>
                  </a:txBody>
                  <a:tcPr>
                    <a:solidFill>
                      <a:srgbClr val="F2F4F8"/>
                    </a:solidFill>
                  </a:tcPr>
                </a:tc>
              </a:tr>
              <a:tr h="566928">
                <a:tc>
                  <a:txBody>
                    <a:bodyPr/>
                    <a:lstStyle/>
                    <a:p>
                      <a:r>
                        <a:rPr sz="1300">
                          <a:solidFill>
                            <a:srgbClr val="1A1A2E"/>
                          </a:solidFill>
                          <a:latin typeface="Calibri"/>
                        </a:rPr>
                        <a:t>Hidden instructions inside supplier messages</a:t>
                      </a:r>
                    </a:p>
                  </a:txBody>
                  <a:tcPr>
                    <a:solidFill>
                      <a:srgbClr val="FFFFFF"/>
                    </a:solidFill>
                  </a:tcPr>
                </a:tc>
                <a:tc>
                  <a:txBody>
                    <a:bodyPr/>
                    <a:lstStyle/>
                    <a:p>
                      <a:r>
                        <a:rPr sz="1300">
                          <a:solidFill>
                            <a:srgbClr val="1A1A2E"/>
                          </a:solidFill>
                          <a:latin typeface="Calibri"/>
                        </a:rPr>
                        <a:t>Outside text is always treated as information to read, never as commands to follow.</a:t>
                      </a:r>
                    </a:p>
                  </a:txBody>
                  <a:tcPr>
                    <a:solidFill>
                      <a:srgbClr val="FFFFFF"/>
                    </a:solidFill>
                  </a:tcPr>
                </a:tc>
              </a:tr>
            </a:tbl>
          </a:graphicData>
        </a:graphic>
      </p:graphicFrame>
      <p:sp>
        <p:nvSpPr>
          <p:cNvPr id="7" name="Rectangle 6"/>
          <p:cNvSpPr/>
          <p:nvPr/>
        </p:nvSpPr>
        <p:spPr>
          <a:xfrm>
            <a:off x="548640" y="5212080"/>
            <a:ext cx="11064240" cy="96012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03520"/>
            <a:ext cx="10698480" cy="777240"/>
          </a:xfrm>
          <a:prstGeom prst="rect">
            <a:avLst/>
          </a:prstGeom>
          <a:noFill/>
        </p:spPr>
        <p:txBody>
          <a:bodyPr wrap="square" anchor="ctr">
            <a:spAutoFit/>
          </a:bodyPr>
          <a:lstStyle/>
          <a:p>
            <a:pPr algn="l">
              <a:lnSpc>
                <a:spcPct val="105000"/>
              </a:lnSpc>
              <a:spcAft>
                <a:spcPts val="600"/>
              </a:spcAft>
            </a:pPr>
            <a:r>
              <a:rPr sz="1400" b="1">
                <a:solidFill>
                  <a:srgbClr val="C02A2A"/>
                </a:solidFill>
                <a:latin typeface="Calibri"/>
              </a:rPr>
              <a:t>A person stays in the loop </a:t>
            </a:r>
            <a:r>
              <a:rPr sz="1400" b="0">
                <a:solidFill>
                  <a:srgbClr val="1A1A2E"/>
                </a:solidFill>
                <a:latin typeface="Calibri"/>
              </a:rPr>
              <a:t>for the decisions that matter: committing money beyond the limit, booking premium freight, or changing a live production schedule. Everything that is easily reversible runs on its own.</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Risk awareness and mitigation (15 points)</a:t>
            </a:r>
            <a:r>
              <a:rPr sz="1100" b="1">
                <a:solidFill>
                  <a:srgbClr val="0A1F6B"/>
                </a:solidFill>
                <a:latin typeface="Calibri"/>
              </a:rPr>
              <a:t>     |     Reference: </a:t>
            </a:r>
            <a:r>
              <a:rPr sz="1100" b="0">
                <a:solidFill>
                  <a:srgbClr val="555555"/>
                </a:solidFill>
                <a:latin typeface="Calibri"/>
              </a:rPr>
              <a:t>Design handout, section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HOW IT IS BUILT</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9. How it is built and how it connects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64240" cy="457200"/>
          </a:xfrm>
          <a:prstGeom prst="rect">
            <a:avLst/>
          </a:prstGeom>
          <a:noFill/>
        </p:spPr>
        <p:txBody>
          <a:bodyPr wrap="square" anchor="t">
            <a:spAutoFit/>
          </a:bodyPr>
          <a:lstStyle/>
          <a:p>
            <a:pPr algn="l">
              <a:lnSpc>
                <a:spcPct val="105000"/>
              </a:lnSpc>
              <a:spcAft>
                <a:spcPts val="600"/>
              </a:spcAft>
            </a:pPr>
            <a:r>
              <a:rPr sz="1350" b="0">
                <a:solidFill>
                  <a:srgbClr val="1A1A2E"/>
                </a:solidFill>
                <a:latin typeface="Calibri"/>
              </a:rPr>
              <a:t>We chose proven, open technology, so the system stays flexible, secure and easy to inspect.</a:t>
            </a:r>
          </a:p>
        </p:txBody>
      </p:sp>
      <p:graphicFrame>
        <p:nvGraphicFramePr>
          <p:cNvPr id="7" name="Table 6"/>
          <p:cNvGraphicFramePr>
            <a:graphicFrameLocks noGrp="1"/>
          </p:cNvGraphicFramePr>
          <p:nvPr/>
        </p:nvGraphicFramePr>
        <p:xfrm>
          <a:off x="548640" y="1874519"/>
          <a:ext cx="11064240" cy="3621024"/>
        </p:xfrm>
        <a:graphic>
          <a:graphicData uri="http://schemas.openxmlformats.org/drawingml/2006/table">
            <a:tbl>
              <a:tblPr firstRow="1" bandRow="1">
                <a:tableStyleId>{5C22544A-7EE6-4342-B048-85BDC9FD1C3A}</a:tableStyleId>
              </a:tblPr>
              <a:tblGrid>
                <a:gridCol w="2194560"/>
                <a:gridCol w="4389120"/>
                <a:gridCol w="4480560"/>
              </a:tblGrid>
              <a:tr h="603504">
                <a:tc>
                  <a:txBody>
                    <a:bodyPr/>
                    <a:lstStyle/>
                    <a:p>
                      <a:r>
                        <a:rPr sz="1150" b="1">
                          <a:solidFill>
                            <a:srgbClr val="FFFFFF"/>
                          </a:solidFill>
                          <a:latin typeface="Calibri"/>
                        </a:rPr>
                        <a:t>Choice</a:t>
                      </a:r>
                    </a:p>
                  </a:txBody>
                  <a:tcPr>
                    <a:solidFill>
                      <a:srgbClr val="0A1F6B"/>
                    </a:solidFill>
                  </a:tcPr>
                </a:tc>
                <a:tc>
                  <a:txBody>
                    <a:bodyPr/>
                    <a:lstStyle/>
                    <a:p>
                      <a:r>
                        <a:rPr sz="1150" b="1">
                          <a:solidFill>
                            <a:srgbClr val="FFFFFF"/>
                          </a:solidFill>
                          <a:latin typeface="Calibri"/>
                        </a:rPr>
                        <a:t>What we use</a:t>
                      </a:r>
                    </a:p>
                  </a:txBody>
                  <a:tcPr>
                    <a:solidFill>
                      <a:srgbClr val="0A1F6B"/>
                    </a:solidFill>
                  </a:tcPr>
                </a:tc>
                <a:tc>
                  <a:txBody>
                    <a:bodyPr/>
                    <a:lstStyle/>
                    <a:p>
                      <a:r>
                        <a:rPr sz="1150" b="1">
                          <a:solidFill>
                            <a:srgbClr val="FFFFFF"/>
                          </a:solidFill>
                          <a:latin typeface="Calibri"/>
                        </a:rPr>
                        <a:t>Why</a:t>
                      </a:r>
                    </a:p>
                  </a:txBody>
                  <a:tcPr>
                    <a:solidFill>
                      <a:srgbClr val="0A1F6B"/>
                    </a:solidFill>
                  </a:tcPr>
                </a:tc>
              </a:tr>
              <a:tr h="603504">
                <a:tc>
                  <a:txBody>
                    <a:bodyPr/>
                    <a:lstStyle/>
                    <a:p>
                      <a:r>
                        <a:rPr sz="1150">
                          <a:solidFill>
                            <a:srgbClr val="1A1A2E"/>
                          </a:solidFill>
                          <a:latin typeface="Calibri"/>
                        </a:rPr>
                        <a:t>Reasoning</a:t>
                      </a:r>
                    </a:p>
                  </a:txBody>
                  <a:tcPr>
                    <a:solidFill>
                      <a:srgbClr val="FFFFFF"/>
                    </a:solidFill>
                  </a:tcPr>
                </a:tc>
                <a:tc>
                  <a:txBody>
                    <a:bodyPr/>
                    <a:lstStyle/>
                    <a:p>
                      <a:r>
                        <a:rPr sz="1150">
                          <a:solidFill>
                            <a:srgbClr val="1A1A2E"/>
                          </a:solidFill>
                          <a:latin typeface="Calibri"/>
                        </a:rPr>
                        <a:t>Claude (the Opus or Sonnet model) as the thinking engine</a:t>
                      </a:r>
                    </a:p>
                  </a:txBody>
                  <a:tcPr>
                    <a:solidFill>
                      <a:srgbClr val="FFFFFF"/>
                    </a:solidFill>
                  </a:tcPr>
                </a:tc>
                <a:tc>
                  <a:txBody>
                    <a:bodyPr/>
                    <a:lstStyle/>
                    <a:p>
                      <a:r>
                        <a:rPr sz="1150">
                          <a:solidFill>
                            <a:srgbClr val="1A1A2E"/>
                          </a:solidFill>
                          <a:latin typeface="Calibri"/>
                        </a:rPr>
                        <a:t>Excellent at using tools and reasoning over many steps, with room for large context</a:t>
                      </a:r>
                    </a:p>
                  </a:txBody>
                  <a:tcPr>
                    <a:solidFill>
                      <a:srgbClr val="FFFFFF"/>
                    </a:solidFill>
                  </a:tcPr>
                </a:tc>
              </a:tr>
              <a:tr h="603504">
                <a:tc>
                  <a:txBody>
                    <a:bodyPr/>
                    <a:lstStyle/>
                    <a:p>
                      <a:r>
                        <a:rPr sz="1150">
                          <a:solidFill>
                            <a:srgbClr val="1A1A2E"/>
                          </a:solidFill>
                          <a:latin typeface="Calibri"/>
                        </a:rPr>
                        <a:t>Specialist forecasts</a:t>
                      </a:r>
                    </a:p>
                  </a:txBody>
                  <a:tcPr>
                    <a:solidFill>
                      <a:srgbClr val="F2F4F8"/>
                    </a:solidFill>
                  </a:tcPr>
                </a:tc>
                <a:tc>
                  <a:txBody>
                    <a:bodyPr/>
                    <a:lstStyle/>
                    <a:p>
                      <a:r>
                        <a:rPr sz="1150">
                          <a:solidFill>
                            <a:srgbClr val="1A1A2E"/>
                          </a:solidFill>
                          <a:latin typeface="Calibri"/>
                        </a:rPr>
                        <a:t>The option to add a purpose-trained model for arrival and lifespan predictions</a:t>
                      </a:r>
                    </a:p>
                  </a:txBody>
                  <a:tcPr>
                    <a:solidFill>
                      <a:srgbClr val="F2F4F8"/>
                    </a:solidFill>
                  </a:tcPr>
                </a:tc>
                <a:tc>
                  <a:txBody>
                    <a:bodyPr/>
                    <a:lstStyle/>
                    <a:p>
                      <a:r>
                        <a:rPr sz="1150">
                          <a:solidFill>
                            <a:srgbClr val="1A1A2E"/>
                          </a:solidFill>
                          <a:latin typeface="Calibri"/>
                        </a:rPr>
                        <a:t>Purpose-trained models do better on numeric forecasts, and we can swap models freely</a:t>
                      </a:r>
                    </a:p>
                  </a:txBody>
                  <a:tcPr>
                    <a:solidFill>
                      <a:srgbClr val="F2F4F8"/>
                    </a:solidFill>
                  </a:tcPr>
                </a:tc>
              </a:tr>
              <a:tr h="603504">
                <a:tc>
                  <a:txBody>
                    <a:bodyPr/>
                    <a:lstStyle/>
                    <a:p>
                      <a:r>
                        <a:rPr sz="1150">
                          <a:solidFill>
                            <a:srgbClr val="1A1A2E"/>
                          </a:solidFill>
                          <a:latin typeface="Calibri"/>
                        </a:rPr>
                        <a:t>Hosting</a:t>
                      </a:r>
                    </a:p>
                  </a:txBody>
                  <a:tcPr>
                    <a:solidFill>
                      <a:srgbClr val="FFFFFF"/>
                    </a:solidFill>
                  </a:tcPr>
                </a:tc>
                <a:tc>
                  <a:txBody>
                    <a:bodyPr/>
                    <a:lstStyle/>
                    <a:p>
                      <a:r>
                        <a:rPr sz="1150">
                          <a:solidFill>
                            <a:srgbClr val="1A1A2E"/>
                          </a:solidFill>
                          <a:latin typeface="Calibri"/>
                        </a:rPr>
                        <a:t>Managed services on Amazon Bedrock or Google Vertex</a:t>
                      </a:r>
                    </a:p>
                  </a:txBody>
                  <a:tcPr>
                    <a:solidFill>
                      <a:srgbClr val="FFFFFF"/>
                    </a:solidFill>
                  </a:tcPr>
                </a:tc>
                <a:tc>
                  <a:txBody>
                    <a:bodyPr/>
                    <a:lstStyle/>
                    <a:p>
                      <a:r>
                        <a:rPr sz="1150">
                          <a:solidFill>
                            <a:srgbClr val="1A1A2E"/>
                          </a:solidFill>
                          <a:latin typeface="Calibri"/>
                        </a:rPr>
                        <a:t>Keeps our data in our own environment, with no heavy hardware to run ourselves</a:t>
                      </a:r>
                    </a:p>
                  </a:txBody>
                  <a:tcPr>
                    <a:solidFill>
                      <a:srgbClr val="FFFFFF"/>
                    </a:solidFill>
                  </a:tcPr>
                </a:tc>
              </a:tr>
              <a:tr h="603504">
                <a:tc>
                  <a:txBody>
                    <a:bodyPr/>
                    <a:lstStyle/>
                    <a:p>
                      <a:r>
                        <a:rPr sz="1150">
                          <a:solidFill>
                            <a:srgbClr val="1A1A2E"/>
                          </a:solidFill>
                          <a:latin typeface="Calibri"/>
                        </a:rPr>
                        <a:t>Building blocks</a:t>
                      </a:r>
                    </a:p>
                  </a:txBody>
                  <a:tcPr>
                    <a:solidFill>
                      <a:srgbClr val="F2F4F8"/>
                    </a:solidFill>
                  </a:tcPr>
                </a:tc>
                <a:tc>
                  <a:txBody>
                    <a:bodyPr/>
                    <a:lstStyle/>
                    <a:p>
                      <a:r>
                        <a:rPr sz="1150">
                          <a:solidFill>
                            <a:srgbClr val="1A1A2E"/>
                          </a:solidFill>
                          <a:latin typeface="Calibri"/>
                        </a:rPr>
                        <a:t>Python, with established agent frameworks (or a no-code option)</a:t>
                      </a:r>
                    </a:p>
                  </a:txBody>
                  <a:tcPr>
                    <a:solidFill>
                      <a:srgbClr val="F2F4F8"/>
                    </a:solidFill>
                  </a:tcPr>
                </a:tc>
                <a:tc>
                  <a:txBody>
                    <a:bodyPr/>
                    <a:lstStyle/>
                    <a:p>
                      <a:r>
                        <a:rPr sz="1150">
                          <a:solidFill>
                            <a:srgbClr val="1A1A2E"/>
                          </a:solidFill>
                          <a:latin typeface="Calibri"/>
                        </a:rPr>
                        <a:t>The richest ecosystem for agents, and our prototype runs offline in plain Python</a:t>
                      </a:r>
                    </a:p>
                  </a:txBody>
                  <a:tcPr>
                    <a:solidFill>
                      <a:srgbClr val="F2F4F8"/>
                    </a:solidFill>
                  </a:tcPr>
                </a:tc>
              </a:tr>
              <a:tr h="603504">
                <a:tc>
                  <a:txBody>
                    <a:bodyPr/>
                    <a:lstStyle/>
                    <a:p>
                      <a:r>
                        <a:rPr sz="1150">
                          <a:solidFill>
                            <a:srgbClr val="1A1A2E"/>
                          </a:solidFill>
                          <a:latin typeface="Calibri"/>
                        </a:rPr>
                        <a:t>Connections and tracing</a:t>
                      </a:r>
                    </a:p>
                  </a:txBody>
                  <a:tcPr>
                    <a:solidFill>
                      <a:srgbClr val="FFFFFF"/>
                    </a:solidFill>
                  </a:tcPr>
                </a:tc>
                <a:tc>
                  <a:txBody>
                    <a:bodyPr/>
                    <a:lstStyle/>
                    <a:p>
                      <a:r>
                        <a:rPr sz="1150">
                          <a:solidFill>
                            <a:srgbClr val="1A1A2E"/>
                          </a:solidFill>
                          <a:latin typeface="Calibri"/>
                        </a:rPr>
                        <a:t>The Model Context Protocol, Agent-to-Agent messaging, and tracing tools</a:t>
                      </a:r>
                    </a:p>
                  </a:txBody>
                  <a:tcPr>
                    <a:solidFill>
                      <a:srgbClr val="FFFFFF"/>
                    </a:solidFill>
                  </a:tcPr>
                </a:tc>
                <a:tc>
                  <a:txBody>
                    <a:bodyPr/>
                    <a:lstStyle/>
                    <a:p>
                      <a:r>
                        <a:rPr sz="1150">
                          <a:solidFill>
                            <a:srgbClr val="1A1A2E"/>
                          </a:solidFill>
                          <a:latin typeface="Calibri"/>
                        </a:rPr>
                        <a:t>Keeps integrations simple and makes every decision fully auditable</a:t>
                      </a:r>
                    </a:p>
                  </a:txBody>
                  <a:tcPr>
                    <a:solidFill>
                      <a:srgbClr val="FFFFFF"/>
                    </a:solidFill>
                  </a:tcPr>
                </a:tc>
              </a:tr>
            </a:tbl>
          </a:graphicData>
        </a:graphic>
      </p:graphicFrame>
      <p:sp>
        <p:nvSpPr>
          <p:cNvPr id="8" name="Rectangle 7"/>
          <p:cNvSpPr/>
          <p:nvPr/>
        </p:nvSpPr>
        <p:spPr>
          <a:xfrm>
            <a:off x="548640" y="5623560"/>
            <a:ext cx="11064240" cy="685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687568"/>
            <a:ext cx="10698480" cy="548640"/>
          </a:xfrm>
          <a:prstGeom prst="rect">
            <a:avLst/>
          </a:prstGeom>
          <a:noFill/>
        </p:spPr>
        <p:txBody>
          <a:bodyPr wrap="square" anchor="ctr">
            <a:spAutoFit/>
          </a:bodyPr>
          <a:lstStyle/>
          <a:p>
            <a:pPr algn="l">
              <a:lnSpc>
                <a:spcPct val="105000"/>
              </a:lnSpc>
              <a:spcAft>
                <a:spcPts val="600"/>
              </a:spcAft>
            </a:pPr>
            <a:r>
              <a:rPr sz="1250" b="1">
                <a:solidFill>
                  <a:srgbClr val="0E7C86"/>
                </a:solidFill>
                <a:latin typeface="Calibri"/>
              </a:rPr>
              <a:t>Our working prototype already mirrors this design: </a:t>
            </a:r>
            <a:r>
              <a:rPr sz="1250" b="0">
                <a:solidFill>
                  <a:srgbClr val="1A1A2E"/>
                </a:solidFill>
                <a:latin typeface="Calibri"/>
              </a:rPr>
              <a:t>a model layer stands in for Claude, a tool registry for the connectors, a console trace for the production tracing, and a single orchestrator for the supervisor.</a:t>
            </a:r>
          </a:p>
        </p:txBody>
      </p:sp>
      <p:sp>
        <p:nvSpPr>
          <p:cNvPr id="10" name="Rectangle 9"/>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Architecture (10 points) and feasibility (15 points)</a:t>
            </a:r>
            <a:r>
              <a:rPr sz="1100" b="1">
                <a:solidFill>
                  <a:srgbClr val="0A1F6B"/>
                </a:solidFill>
                <a:latin typeface="Calibri"/>
              </a:rPr>
              <a:t>     |     Reference: </a:t>
            </a:r>
            <a:r>
              <a:rPr sz="1100" b="0">
                <a:solidFill>
                  <a:srgbClr val="555555"/>
                </a:solidFill>
                <a:latin typeface="Calibri"/>
              </a:rPr>
              <a:t>Design handout, section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THE PAYOFF AND WHAT IS NEXT</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10. The payoff, and where we go next</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36576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What we expect to gain</a:t>
            </a:r>
          </a:p>
        </p:txBody>
      </p:sp>
      <p:sp>
        <p:nvSpPr>
          <p:cNvPr id="7" name="TextBox 6"/>
          <p:cNvSpPr txBox="1"/>
          <p:nvPr/>
        </p:nvSpPr>
        <p:spPr>
          <a:xfrm>
            <a:off x="548640" y="1828800"/>
            <a:ext cx="11064240" cy="1371600"/>
          </a:xfrm>
          <a:prstGeom prst="rect">
            <a:avLst/>
          </a:prstGeom>
          <a:noFill/>
        </p:spPr>
        <p:txBody>
          <a:bodyPr wrap="square" anchor="t">
            <a:spAutoFit/>
          </a:bodyPr>
          <a:lstStyle/>
          <a:p>
            <a:pPr algn="l">
              <a:lnSpc>
                <a:spcPct val="110000"/>
              </a:lnSpc>
              <a:spcAft>
                <a:spcPts val="800"/>
              </a:spcAft>
            </a:pPr>
            <a:r>
              <a:rPr sz="1450" b="1">
                <a:solidFill>
                  <a:srgbClr val="0E7C86"/>
                </a:solidFill>
                <a:latin typeface="Calibri"/>
              </a:rPr>
              <a:t>•  </a:t>
            </a:r>
            <a:r>
              <a:rPr sz="1450" b="0">
                <a:solidFill>
                  <a:srgbClr val="1A1A2E"/>
                </a:solidFill>
                <a:latin typeface="Calibri"/>
              </a:rPr>
              <a:t>Protect that $14 million quarterly loss and cut rushed-freight spending by roughly a third.</a:t>
            </a:r>
          </a:p>
          <a:p>
            <a:pPr algn="l">
              <a:lnSpc>
                <a:spcPct val="110000"/>
              </a:lnSpc>
              <a:spcAft>
                <a:spcPts val="800"/>
              </a:spcAft>
            </a:pPr>
            <a:r>
              <a:rPr sz="1450" b="1">
                <a:solidFill>
                  <a:srgbClr val="0E7C86"/>
                </a:solidFill>
                <a:latin typeface="Calibri"/>
              </a:rPr>
              <a:t>•  </a:t>
            </a:r>
            <a:r>
              <a:rPr sz="1450" b="0">
                <a:solidFill>
                  <a:srgbClr val="1A1A2E"/>
                </a:solidFill>
                <a:latin typeface="Calibri"/>
              </a:rPr>
              <a:t>Turn days of manual analysis into minutes, with full visibility into every critical part, right down to its deepest suppliers.</a:t>
            </a:r>
          </a:p>
        </p:txBody>
      </p:sp>
      <p:sp>
        <p:nvSpPr>
          <p:cNvPr id="8" name="TextBox 7"/>
          <p:cNvSpPr txBox="1"/>
          <p:nvPr/>
        </p:nvSpPr>
        <p:spPr>
          <a:xfrm>
            <a:off x="548640" y="3200400"/>
            <a:ext cx="11064240" cy="36576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Where we go next</a:t>
            </a:r>
          </a:p>
        </p:txBody>
      </p:sp>
      <p:sp>
        <p:nvSpPr>
          <p:cNvPr id="9" name="TextBox 8"/>
          <p:cNvSpPr txBox="1"/>
          <p:nvPr/>
        </p:nvSpPr>
        <p:spPr>
          <a:xfrm>
            <a:off x="548640" y="3611880"/>
            <a:ext cx="11064240" cy="2011680"/>
          </a:xfrm>
          <a:prstGeom prst="rect">
            <a:avLst/>
          </a:prstGeom>
          <a:noFill/>
        </p:spPr>
        <p:txBody>
          <a:bodyPr wrap="square" anchor="t">
            <a:spAutoFit/>
          </a:bodyPr>
          <a:lstStyle/>
          <a:p>
            <a:pPr algn="l">
              <a:lnSpc>
                <a:spcPct val="110000"/>
              </a:lnSpc>
              <a:spcAft>
                <a:spcPts val="800"/>
              </a:spcAft>
            </a:pPr>
            <a:r>
              <a:rPr sz="1450" b="1">
                <a:solidFill>
                  <a:srgbClr val="0E7C86"/>
                </a:solidFill>
                <a:latin typeface="Calibri"/>
              </a:rPr>
              <a:t>•  </a:t>
            </a:r>
            <a:r>
              <a:rPr sz="1450" b="1">
                <a:solidFill>
                  <a:srgbClr val="1A1A2E"/>
                </a:solidFill>
                <a:latin typeface="Calibri"/>
              </a:rPr>
              <a:t>Pilot: </a:t>
            </a:r>
            <a:r>
              <a:rPr sz="1450" b="0">
                <a:solidFill>
                  <a:srgbClr val="1A1A2E"/>
                </a:solidFill>
                <a:latin typeface="Calibri"/>
              </a:rPr>
              <a:t>run a three-month trial on the Stuttgart line and measure two things, hours of downtime and freight cost.</a:t>
            </a:r>
          </a:p>
          <a:p>
            <a:pPr algn="l">
              <a:lnSpc>
                <a:spcPct val="110000"/>
              </a:lnSpc>
              <a:spcAft>
                <a:spcPts val="800"/>
              </a:spcAft>
            </a:pPr>
            <a:r>
              <a:rPr sz="1450" b="1">
                <a:solidFill>
                  <a:srgbClr val="0E7C86"/>
                </a:solidFill>
                <a:latin typeface="Calibri"/>
              </a:rPr>
              <a:t>•  </a:t>
            </a:r>
            <a:r>
              <a:rPr sz="1450" b="1">
                <a:solidFill>
                  <a:srgbClr val="1A1A2E"/>
                </a:solidFill>
                <a:latin typeface="Calibri"/>
              </a:rPr>
              <a:t>Learn: </a:t>
            </a:r>
            <a:r>
              <a:rPr sz="1450" b="0">
                <a:solidFill>
                  <a:srgbClr val="1A1A2E"/>
                </a:solidFill>
                <a:latin typeface="Calibri"/>
              </a:rPr>
              <a:t>feed planner approvals and edits back in to sharpen the risk scores and supplier preferences.</a:t>
            </a:r>
          </a:p>
          <a:p>
            <a:pPr algn="l">
              <a:lnSpc>
                <a:spcPct val="110000"/>
              </a:lnSpc>
              <a:spcAft>
                <a:spcPts val="800"/>
              </a:spcAft>
            </a:pPr>
            <a:r>
              <a:rPr sz="1450" b="1">
                <a:solidFill>
                  <a:srgbClr val="0E7C86"/>
                </a:solidFill>
                <a:latin typeface="Calibri"/>
              </a:rPr>
              <a:t>•  </a:t>
            </a:r>
            <a:r>
              <a:rPr sz="1450" b="1">
                <a:solidFill>
                  <a:srgbClr val="1A1A2E"/>
                </a:solidFill>
                <a:latin typeface="Calibri"/>
              </a:rPr>
              <a:t>Grow: </a:t>
            </a:r>
            <a:r>
              <a:rPr sz="1450" b="0">
                <a:solidFill>
                  <a:srgbClr val="1A1A2E"/>
                </a:solidFill>
                <a:latin typeface="Calibri"/>
              </a:rPr>
              <a:t>extend it to all twenty-eight plants, and then to the other challenges such as maintenance and quality, using the deeper hierarchy described earlier.</a:t>
            </a:r>
          </a:p>
          <a:p>
            <a:pPr algn="l">
              <a:lnSpc>
                <a:spcPct val="110000"/>
              </a:lnSpc>
              <a:spcAft>
                <a:spcPts val="800"/>
              </a:spcAft>
            </a:pPr>
            <a:r>
              <a:rPr sz="1450" b="1">
                <a:solidFill>
                  <a:srgbClr val="0E7C86"/>
                </a:solidFill>
                <a:latin typeface="Calibri"/>
              </a:rPr>
              <a:t>•  </a:t>
            </a:r>
            <a:r>
              <a:rPr sz="1450" b="1">
                <a:solidFill>
                  <a:srgbClr val="1A1A2E"/>
                </a:solidFill>
                <a:latin typeface="Calibri"/>
              </a:rPr>
              <a:t>Strengthen: </a:t>
            </a:r>
            <a:r>
              <a:rPr sz="1450" b="0">
                <a:solidFill>
                  <a:srgbClr val="1A1A2E"/>
                </a:solidFill>
                <a:latin typeface="Calibri"/>
              </a:rPr>
              <a:t>connect the live systems and add full production-grade tracing.</a:t>
            </a:r>
          </a:p>
        </p:txBody>
      </p:sp>
      <p:sp>
        <p:nvSpPr>
          <p:cNvPr id="10" name="Rectangle 9"/>
          <p:cNvSpPr/>
          <p:nvPr/>
        </p:nvSpPr>
        <p:spPr>
          <a:xfrm>
            <a:off x="548640" y="5806440"/>
            <a:ext cx="11064240" cy="54864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33872"/>
            <a:ext cx="10698480" cy="502920"/>
          </a:xfrm>
          <a:prstGeom prst="rect">
            <a:avLst/>
          </a:prstGeom>
          <a:noFill/>
        </p:spPr>
        <p:txBody>
          <a:bodyPr wrap="square" anchor="ctr">
            <a:spAutoFit/>
          </a:bodyPr>
          <a:lstStyle/>
          <a:p>
            <a:pPr algn="l">
              <a:lnSpc>
                <a:spcPct val="105000"/>
              </a:lnSpc>
              <a:spcAft>
                <a:spcPts val="600"/>
              </a:spcAft>
            </a:pPr>
            <a:r>
              <a:rPr sz="1500" b="1">
                <a:solidFill>
                  <a:srgbClr val="6CB400"/>
                </a:solidFill>
                <a:latin typeface="Calibri"/>
              </a:rPr>
              <a:t>What we are asking for: </a:t>
            </a:r>
            <a:r>
              <a:rPr sz="1500" b="0">
                <a:solidFill>
                  <a:srgbClr val="FFFFFF"/>
                </a:solidFill>
                <a:latin typeface="Calibri"/>
              </a:rPr>
              <a:t>approval to run a single-line, single-quarter pilot. Low cost, low risk, and easy to measure.</a:t>
            </a:r>
          </a:p>
        </p:txBody>
      </p:sp>
      <p:sp>
        <p:nvSpPr>
          <p:cNvPr id="12" name="Rectangle 11"/>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Clarity, presentation quality and creativity (20 points)</a:t>
            </a:r>
            <a:r>
              <a:rPr sz="1100" b="1">
                <a:solidFill>
                  <a:srgbClr val="0A1F6B"/>
                </a:solidFill>
                <a:latin typeface="Calibri"/>
              </a:rPr>
              <a:t>     |     Reference: </a:t>
            </a:r>
            <a:r>
              <a:rPr sz="1100" b="0">
                <a:solidFill>
                  <a:srgbClr val="555555"/>
                </a:solidFill>
                <a:latin typeface="Calibri"/>
              </a:rPr>
              <a:t>Assignment: benefits and next steps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7315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926080"/>
            <a:ext cx="10515600" cy="1005840"/>
          </a:xfrm>
          <a:prstGeom prst="rect">
            <a:avLst/>
          </a:prstGeom>
          <a:noFill/>
        </p:spPr>
        <p:txBody>
          <a:bodyPr wrap="square" anchor="t">
            <a:spAutoFit/>
          </a:bodyPr>
          <a:lstStyle/>
          <a:p>
            <a:pPr algn="l">
              <a:lnSpc>
                <a:spcPct val="105000"/>
              </a:lnSpc>
              <a:spcAft>
                <a:spcPts val="600"/>
              </a:spcAft>
            </a:pPr>
            <a:r>
              <a:rPr sz="5000" b="1">
                <a:solidFill>
                  <a:srgbClr val="FFFFFF"/>
                </a:solidFill>
                <a:latin typeface="Calibri"/>
              </a:rPr>
              <a:t>Thank you</a:t>
            </a:r>
          </a:p>
        </p:txBody>
      </p:sp>
      <p:sp>
        <p:nvSpPr>
          <p:cNvPr id="5" name="TextBox 4"/>
          <p:cNvSpPr txBox="1"/>
          <p:nvPr/>
        </p:nvSpPr>
        <p:spPr>
          <a:xfrm>
            <a:off x="868680" y="3977639"/>
            <a:ext cx="10607040" cy="640080"/>
          </a:xfrm>
          <a:prstGeom prst="rect">
            <a:avLst/>
          </a:prstGeom>
          <a:noFill/>
        </p:spPr>
        <p:txBody>
          <a:bodyPr wrap="square" anchor="t">
            <a:spAutoFit/>
          </a:bodyPr>
          <a:lstStyle/>
          <a:p>
            <a:pPr algn="l">
              <a:lnSpc>
                <a:spcPct val="105000"/>
              </a:lnSpc>
              <a:spcAft>
                <a:spcPts val="600"/>
              </a:spcAft>
            </a:pPr>
            <a:r>
              <a:rPr sz="2200" b="0">
                <a:solidFill>
                  <a:srgbClr val="5FD0D9"/>
                </a:solidFill>
                <a:latin typeface="Calibri"/>
              </a:rPr>
              <a:t>We would love to hear your questions.</a:t>
            </a:r>
          </a:p>
        </p:txBody>
      </p:sp>
      <p:sp>
        <p:nvSpPr>
          <p:cNvPr id="6" name="TextBox 5"/>
          <p:cNvSpPr txBox="1"/>
          <p:nvPr/>
        </p:nvSpPr>
        <p:spPr>
          <a:xfrm>
            <a:off x="868680" y="4709160"/>
            <a:ext cx="10607040" cy="548640"/>
          </a:xfrm>
          <a:prstGeom prst="rect">
            <a:avLst/>
          </a:prstGeom>
          <a:noFill/>
        </p:spPr>
        <p:txBody>
          <a:bodyPr wrap="square" anchor="t">
            <a:spAutoFit/>
          </a:bodyPr>
          <a:lstStyle/>
          <a:p>
            <a:pPr algn="l">
              <a:lnSpc>
                <a:spcPct val="105000"/>
              </a:lnSpc>
              <a:spcAft>
                <a:spcPts val="600"/>
              </a:spcAft>
            </a:pPr>
            <a:r>
              <a:rPr sz="1600" b="0">
                <a:solidFill>
                  <a:srgbClr val="FFFFFF"/>
                </a:solidFill>
                <a:latin typeface="Calibri"/>
              </a:rPr>
              <a:t>Supply Chain Sentinel: catching supply shocks early, and keeping Titan's lines running.</a:t>
            </a:r>
          </a:p>
        </p:txBody>
      </p:sp>
      <p:sp>
        <p:nvSpPr>
          <p:cNvPr id="7" name="TextBox 6"/>
          <p:cNvSpPr txBox="1"/>
          <p:nvPr/>
        </p:nvSpPr>
        <p:spPr>
          <a:xfrm>
            <a:off x="868680" y="5943600"/>
            <a:ext cx="10607040" cy="548640"/>
          </a:xfrm>
          <a:prstGeom prst="rect">
            <a:avLst/>
          </a:prstGeom>
          <a:noFill/>
        </p:spPr>
        <p:txBody>
          <a:bodyPr wrap="square" anchor="t">
            <a:spAutoFit/>
          </a:bodyPr>
          <a:lstStyle/>
          <a:p>
            <a:pPr algn="l">
              <a:lnSpc>
                <a:spcPct val="105000"/>
              </a:lnSpc>
              <a:spcAft>
                <a:spcPts val="600"/>
              </a:spcAft>
            </a:pPr>
            <a:r>
              <a:rPr sz="1300" b="0">
                <a:solidFill>
                  <a:srgbClr val="CFDAF0"/>
                </a:solidFill>
                <a:latin typeface="Calibri"/>
              </a:rPr>
              <a:t>Team: Gilles Hamers, [teammate], [teammate]  |  Agentic AI for IT, IE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