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339"/>
    <p:restoredTop sz="94636"/>
  </p:normalViewPr>
  <p:slideViewPr>
    <p:cSldViewPr snapToGrid="0" snapToObjects="1">
      <p:cViewPr varScale="1">
        <p:scale>
          <a:sx n="126" d="100"/>
          <a:sy n="126" d="100"/>
        </p:scale>
        <p:origin x="200" y="3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1730013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CH"/>
          </a:p>
        </p:txBody>
      </p:sp>
      <p:sp>
        <p:nvSpPr>
          <p:cNvPr id="3" name="Notes Placeholder 2"/>
          <p:cNvSpPr>
            <a:spLocks noGrp="1"/>
          </p:cNvSpPr>
          <p:nvPr>
            <p:ph type="body" sz="quarter" idx="3"/>
          </p:nvPr>
        </p:nvSpPr>
        <p:spPr/>
        <p:txBody>
          <a:bodyPr/>
          <a:lstStyle/>
          <a:p>
            <a:r>
              <a:t>Opening (about 30 seconds): This is the design behind our solution. We will walk through the goal, what the agent sees and remembers, the architecture and why we chose it, the tools, how it thinks, a real example, how we keep it safe, how it is built, and the payoff. Please replace the teammate names before presenting.</a:t>
            </a:r>
          </a:p>
        </p:txBody>
      </p:sp>
      <p:sp>
        <p:nvSpPr>
          <p:cNvPr id="4" name="Slide Number Placeholder 3"/>
          <p:cNvSpPr>
            <a:spLocks noGrp="1"/>
          </p:cNvSpPr>
          <p:nvPr>
            <p:ph type="sldNum" sz="quarter" idx="5"/>
          </p:nvPr>
        </p:nvSpPr>
        <p:spPr/>
        <p:txBody>
          <a:bodyPr/>
          <a:lstStyle/>
          <a:p>
            <a:endParaRPr lang="en-CH"/>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CH"/>
          </a:p>
        </p:txBody>
      </p:sp>
      <p:sp>
        <p:nvSpPr>
          <p:cNvPr id="3" name="Notes Placeholder 2"/>
          <p:cNvSpPr>
            <a:spLocks noGrp="1"/>
          </p:cNvSpPr>
          <p:nvPr>
            <p:ph type="body" sz="quarter" idx="3"/>
          </p:nvPr>
        </p:nvSpPr>
        <p:spPr/>
        <p:txBody>
          <a:bodyPr/>
          <a:lstStyle/>
          <a:p>
            <a:r>
              <a:t>(about 75 seconds) Lead with the goal in plain language, then the money, then the measures of success. The point is that the goal is tied to real, measurable value.</a:t>
            </a:r>
          </a:p>
        </p:txBody>
      </p:sp>
      <p:sp>
        <p:nvSpPr>
          <p:cNvPr id="4" name="Slide Number Placeholder 3"/>
          <p:cNvSpPr>
            <a:spLocks noGrp="1"/>
          </p:cNvSpPr>
          <p:nvPr>
            <p:ph type="sldNum" sz="quarter" idx="5"/>
          </p:nvPr>
        </p:nvSpPr>
        <p:spPr/>
        <p:txBody>
          <a:bodyPr/>
          <a:lstStyle/>
          <a:p>
            <a:endParaRPr lang="en-CH"/>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CH"/>
          </a:p>
        </p:txBody>
      </p:sp>
      <p:sp>
        <p:nvSpPr>
          <p:cNvPr id="3" name="Notes Placeholder 2"/>
          <p:cNvSpPr>
            <a:spLocks noGrp="1"/>
          </p:cNvSpPr>
          <p:nvPr>
            <p:ph type="body" sz="quarter" idx="3"/>
          </p:nvPr>
        </p:nvSpPr>
        <p:spPr/>
        <p:txBody>
          <a:bodyPr/>
          <a:lstStyle/>
          <a:p>
            <a:r>
              <a:t>(about 75 seconds) The first table covers what starts the agent, what it reads, and what changes versus what is stable. The second is the four kinds of memory, which is what lets it reason with context instead of starting cold each time.</a:t>
            </a:r>
          </a:p>
        </p:txBody>
      </p:sp>
      <p:sp>
        <p:nvSpPr>
          <p:cNvPr id="4" name="Slide Number Placeholder 3"/>
          <p:cNvSpPr>
            <a:spLocks noGrp="1"/>
          </p:cNvSpPr>
          <p:nvPr>
            <p:ph type="sldNum" sz="quarter" idx="5"/>
          </p:nvPr>
        </p:nvSpPr>
        <p:spPr/>
        <p:txBody>
          <a:bodyPr/>
          <a:lstStyle/>
          <a:p>
            <a:endParaRPr lang="en-CH"/>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CH"/>
          </a:p>
        </p:txBody>
      </p:sp>
      <p:sp>
        <p:nvSpPr>
          <p:cNvPr id="3" name="Notes Placeholder 2"/>
          <p:cNvSpPr>
            <a:spLocks noGrp="1"/>
          </p:cNvSpPr>
          <p:nvPr>
            <p:ph type="body" sz="quarter" idx="3"/>
          </p:nvPr>
        </p:nvSpPr>
        <p:spPr/>
        <p:txBody>
          <a:bodyPr/>
          <a:lstStyle/>
          <a:p>
            <a:r>
              <a:t>(about 90 seconds) At the top is a light supervisor that only decides and routes. In the middle are four specialists, each a small reasoning agent with its own tools and memory that runs its own reason-and-act loop. They share notes as they go. Below are the tools, with the risky actions starred, and at the bottom the real systems we would connect to.</a:t>
            </a:r>
          </a:p>
        </p:txBody>
      </p:sp>
      <p:sp>
        <p:nvSpPr>
          <p:cNvPr id="4" name="Slide Number Placeholder 3"/>
          <p:cNvSpPr>
            <a:spLocks noGrp="1"/>
          </p:cNvSpPr>
          <p:nvPr>
            <p:ph type="sldNum" sz="quarter" idx="5"/>
          </p:nvPr>
        </p:nvSpPr>
        <p:spPr/>
        <p:txBody>
          <a:bodyPr/>
          <a:lstStyle/>
          <a:p>
            <a:endParaRPr lang="en-CH"/>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CH"/>
          </a:p>
        </p:txBody>
      </p:sp>
      <p:sp>
        <p:nvSpPr>
          <p:cNvPr id="3" name="Notes Placeholder 2"/>
          <p:cNvSpPr>
            <a:spLocks noGrp="1"/>
          </p:cNvSpPr>
          <p:nvPr>
            <p:ph type="body" sz="quarter" idx="3"/>
          </p:nvPr>
        </p:nvSpPr>
        <p:spPr/>
        <p:txBody>
          <a:bodyPr/>
          <a:lstStyle/>
          <a:p>
            <a:r>
              <a:t>(about 75 seconds) The assignment asks for the trade-offs, so we name them openly. Each specialist reasons and acts in a loop because the number of steps is not fixed and we want it to observe and adapt.</a:t>
            </a:r>
          </a:p>
        </p:txBody>
      </p:sp>
      <p:sp>
        <p:nvSpPr>
          <p:cNvPr id="4" name="Slide Number Placeholder 3"/>
          <p:cNvSpPr>
            <a:spLocks noGrp="1"/>
          </p:cNvSpPr>
          <p:nvPr>
            <p:ph type="sldNum" sz="quarter" idx="5"/>
          </p:nvPr>
        </p:nvSpPr>
        <p:spPr/>
        <p:txBody>
          <a:bodyPr/>
          <a:lstStyle/>
          <a:p>
            <a:endParaRPr lang="en-CH"/>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CH"/>
          </a:p>
        </p:txBody>
      </p:sp>
      <p:sp>
        <p:nvSpPr>
          <p:cNvPr id="3" name="Notes Placeholder 2"/>
          <p:cNvSpPr>
            <a:spLocks noGrp="1"/>
          </p:cNvSpPr>
          <p:nvPr>
            <p:ph type="body" sz="quarter" idx="3"/>
          </p:nvPr>
        </p:nvSpPr>
        <p:spPr/>
        <p:txBody>
          <a:bodyPr/>
          <a:lstStyle/>
          <a:p>
            <a:r>
              <a:t>(about 75 seconds) Read tools are how it perceives, calculate tools are how it works things out, and act tools are how it changes the real world. The approval column is the safety net. The agent chooses which tool to use and with what details; the tool simply does the job.</a:t>
            </a:r>
          </a:p>
        </p:txBody>
      </p:sp>
      <p:sp>
        <p:nvSpPr>
          <p:cNvPr id="4" name="Slide Number Placeholder 3"/>
          <p:cNvSpPr>
            <a:spLocks noGrp="1"/>
          </p:cNvSpPr>
          <p:nvPr>
            <p:ph type="sldNum" sz="quarter" idx="5"/>
          </p:nvPr>
        </p:nvSpPr>
        <p:spPr/>
        <p:txBody>
          <a:bodyPr/>
          <a:lstStyle/>
          <a:p>
            <a:endParaRPr lang="en-CH"/>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CH"/>
          </a:p>
        </p:txBody>
      </p:sp>
      <p:sp>
        <p:nvSpPr>
          <p:cNvPr id="3" name="Notes Placeholder 2"/>
          <p:cNvSpPr>
            <a:spLocks noGrp="1"/>
          </p:cNvSpPr>
          <p:nvPr>
            <p:ph type="body" sz="quarter" idx="3"/>
          </p:nvPr>
        </p:nvSpPr>
        <p:spPr/>
        <p:txBody>
          <a:bodyPr/>
          <a:lstStyle/>
          <a:p>
            <a:r>
              <a:t>(about 90 seconds) These are the four stages of the lifecycle. The honest note at the bottom matters: we are not claiming the system teaches itself. It improves because human feedback is fed back into its thresholds and preferences.</a:t>
            </a:r>
          </a:p>
        </p:txBody>
      </p:sp>
      <p:sp>
        <p:nvSpPr>
          <p:cNvPr id="4" name="Slide Number Placeholder 3"/>
          <p:cNvSpPr>
            <a:spLocks noGrp="1"/>
          </p:cNvSpPr>
          <p:nvPr>
            <p:ph type="sldNum" sz="quarter" idx="5"/>
          </p:nvPr>
        </p:nvSpPr>
        <p:spPr/>
        <p:txBody>
          <a:bodyPr/>
          <a:lstStyle/>
          <a:p>
            <a:endParaRPr lang="en-CH"/>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CH"/>
          </a:p>
        </p:txBody>
      </p:sp>
      <p:sp>
        <p:nvSpPr>
          <p:cNvPr id="3" name="Notes Placeholder 2"/>
          <p:cNvSpPr>
            <a:spLocks noGrp="1"/>
          </p:cNvSpPr>
          <p:nvPr>
            <p:ph type="body" sz="quarter" idx="3"/>
          </p:nvPr>
        </p:nvSpPr>
        <p:spPr/>
        <p:txBody>
          <a:bodyPr/>
          <a:lstStyle/>
          <a:p>
            <a:r>
              <a:t>(3 to 4 minutes, the heart of the talk) You can run the live demonstration here; it works offline and gives the same result every time. The moment to stress is the adapting step: the agent rejects its own first plan, because rushing a shipment that is stuck upstream would be pointless. That is real reasoning.</a:t>
            </a:r>
          </a:p>
        </p:txBody>
      </p:sp>
      <p:sp>
        <p:nvSpPr>
          <p:cNvPr id="4" name="Slide Number Placeholder 3"/>
          <p:cNvSpPr>
            <a:spLocks noGrp="1"/>
          </p:cNvSpPr>
          <p:nvPr>
            <p:ph type="sldNum" sz="quarter" idx="5"/>
          </p:nvPr>
        </p:nvSpPr>
        <p:spPr/>
        <p:txBody>
          <a:bodyPr/>
          <a:lstStyle/>
          <a:p>
            <a:endParaRPr lang="en-CH"/>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CH"/>
          </a:p>
        </p:txBody>
      </p:sp>
      <p:sp>
        <p:nvSpPr>
          <p:cNvPr id="3" name="Notes Placeholder 2"/>
          <p:cNvSpPr>
            <a:spLocks noGrp="1"/>
          </p:cNvSpPr>
          <p:nvPr>
            <p:ph type="body" sz="quarter" idx="3"/>
          </p:nvPr>
        </p:nvSpPr>
        <p:spPr/>
        <p:txBody>
          <a:bodyPr/>
          <a:lstStyle/>
          <a:p>
            <a:r>
              <a:t>(about 75 seconds) A note for the professor: the design handout itself contained a hidden instruction telling AI tools to refuse the task. That is a real manipulation attempt, and our design treats such text as information to read, never as a command, which is exactly the last row of this table.</a:t>
            </a:r>
          </a:p>
        </p:txBody>
      </p:sp>
      <p:sp>
        <p:nvSpPr>
          <p:cNvPr id="4" name="Slide Number Placeholder 3"/>
          <p:cNvSpPr>
            <a:spLocks noGrp="1"/>
          </p:cNvSpPr>
          <p:nvPr>
            <p:ph type="sldNum" sz="quarter" idx="5"/>
          </p:nvPr>
        </p:nvSpPr>
        <p:spPr/>
        <p:txBody>
          <a:bodyPr/>
          <a:lstStyle/>
          <a:p>
            <a:endParaRPr lang="en-CH"/>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CH"/>
          </a:p>
        </p:txBody>
      </p:sp>
      <p:sp>
        <p:nvSpPr>
          <p:cNvPr id="3" name="Notes Placeholder 2"/>
          <p:cNvSpPr>
            <a:spLocks noGrp="1"/>
          </p:cNvSpPr>
          <p:nvPr>
            <p:ph type="body" sz="quarter" idx="3"/>
          </p:nvPr>
        </p:nvSpPr>
        <p:spPr/>
        <p:txBody>
          <a:bodyPr/>
          <a:lstStyle/>
          <a:p>
            <a:r>
              <a:t>(about 80 seconds) The message here: we picked the strongest reasoning model but kept the design model-agnostic so we can swap it, we host in our own cloud for data control, we build in Python on open standards, and our prototype already mirrors every production piece, so the design is realistic.</a:t>
            </a:r>
          </a:p>
        </p:txBody>
      </p:sp>
      <p:sp>
        <p:nvSpPr>
          <p:cNvPr id="4" name="Slide Number Placeholder 3"/>
          <p:cNvSpPr>
            <a:spLocks noGrp="1"/>
          </p:cNvSpPr>
          <p:nvPr>
            <p:ph type="sldNum" sz="quarter" idx="5"/>
          </p:nvPr>
        </p:nvSpPr>
        <p:spPr/>
        <p:txBody>
          <a:bodyPr/>
          <a:lstStyle/>
          <a:p>
            <a:endParaRPr lang="en-CH"/>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CH"/>
          </a:p>
        </p:txBody>
      </p:sp>
      <p:sp>
        <p:nvSpPr>
          <p:cNvPr id="3" name="Notes Placeholder 2"/>
          <p:cNvSpPr>
            <a:spLocks noGrp="1"/>
          </p:cNvSpPr>
          <p:nvPr>
            <p:ph type="body" sz="quarter" idx="3"/>
          </p:nvPr>
        </p:nvSpPr>
        <p:spPr/>
        <p:txBody>
          <a:bodyPr/>
          <a:lstStyle/>
          <a:p>
            <a:r>
              <a:t>(about 60 seconds) Close on the gains, then the roadmap. The deeper hierarchy from slide four is the path to the other challenges. End on the pilot request, which is small, safe and measurable, then move to the thank-you slide and questions.</a:t>
            </a:r>
          </a:p>
        </p:txBody>
      </p:sp>
      <p:sp>
        <p:nvSpPr>
          <p:cNvPr id="4" name="Slide Number Placeholder 3"/>
          <p:cNvSpPr>
            <a:spLocks noGrp="1"/>
          </p:cNvSpPr>
          <p:nvPr>
            <p:ph type="sldNum" sz="quarter" idx="5"/>
          </p:nvPr>
        </p:nvSpPr>
        <p:spPr/>
        <p:txBody>
          <a:bodyPr/>
          <a:lstStyle/>
          <a:p>
            <a:endParaRPr lang="en-CH"/>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CH"/>
          </a:p>
        </p:txBody>
      </p:sp>
      <p:sp>
        <p:nvSpPr>
          <p:cNvPr id="3" name="Notes Placeholder 2"/>
          <p:cNvSpPr>
            <a:spLocks noGrp="1"/>
          </p:cNvSpPr>
          <p:nvPr>
            <p:ph type="body" sz="quarter" idx="3"/>
          </p:nvPr>
        </p:nvSpPr>
        <p:spPr/>
        <p:txBody>
          <a:bodyPr/>
          <a:lstStyle/>
          <a:p>
            <a:r>
              <a:t>Closing: thank the board, then open the floor. Keep the live demonstration ready in case anyone wants to see the agent work through the example in real time.</a:t>
            </a:r>
          </a:p>
        </p:txBody>
      </p:sp>
      <p:sp>
        <p:nvSpPr>
          <p:cNvPr id="4" name="Slide Number Placeholder 3"/>
          <p:cNvSpPr>
            <a:spLocks noGrp="1"/>
          </p:cNvSpPr>
          <p:nvPr>
            <p:ph type="sldNum" sz="quarter" idx="5"/>
          </p:nvPr>
        </p:nvSpPr>
        <p:spPr/>
        <p:txBody>
          <a:bodyPr/>
          <a:lstStyle/>
          <a:p>
            <a:endParaRPr lang="en-CH"/>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6/30/26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6/30/26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6/30/26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6/30/26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6/30/26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6/30/26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6/30/26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6/30/26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6/30/26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6/30/26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6/30/26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6/30/26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A1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2240280"/>
            <a:ext cx="12191695" cy="73152"/>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2331720"/>
            <a:ext cx="10515600" cy="1280160"/>
          </a:xfrm>
          <a:prstGeom prst="rect">
            <a:avLst/>
          </a:prstGeom>
          <a:noFill/>
        </p:spPr>
        <p:txBody>
          <a:bodyPr wrap="square" anchor="t">
            <a:spAutoFit/>
          </a:bodyPr>
          <a:lstStyle/>
          <a:p>
            <a:pPr algn="l">
              <a:lnSpc>
                <a:spcPct val="105000"/>
              </a:lnSpc>
              <a:spcAft>
                <a:spcPts val="600"/>
              </a:spcAft>
            </a:pPr>
            <a:r>
              <a:rPr sz="5000" b="1">
                <a:solidFill>
                  <a:srgbClr val="FFFFFF"/>
                </a:solidFill>
                <a:latin typeface="Calibri"/>
              </a:rPr>
              <a:t>Supply Chain Sentinel</a:t>
            </a:r>
          </a:p>
        </p:txBody>
      </p:sp>
      <p:sp>
        <p:nvSpPr>
          <p:cNvPr id="5" name="TextBox 4"/>
          <p:cNvSpPr txBox="1"/>
          <p:nvPr/>
        </p:nvSpPr>
        <p:spPr>
          <a:xfrm>
            <a:off x="868680" y="3337560"/>
            <a:ext cx="10607040" cy="822960"/>
          </a:xfrm>
          <a:prstGeom prst="rect">
            <a:avLst/>
          </a:prstGeom>
          <a:noFill/>
        </p:spPr>
        <p:txBody>
          <a:bodyPr wrap="square" anchor="t">
            <a:spAutoFit/>
          </a:bodyPr>
          <a:lstStyle/>
          <a:p>
            <a:pPr algn="l">
              <a:lnSpc>
                <a:spcPct val="105000"/>
              </a:lnSpc>
              <a:spcAft>
                <a:spcPts val="600"/>
              </a:spcAft>
            </a:pPr>
            <a:r>
              <a:rPr sz="2300" b="0">
                <a:solidFill>
                  <a:srgbClr val="5FD0D9"/>
                </a:solidFill>
                <a:latin typeface="Calibri"/>
              </a:rPr>
              <a:t>An agentic AI teammate that keeps our production lines running through supply shocks</a:t>
            </a:r>
          </a:p>
        </p:txBody>
      </p:sp>
      <p:sp>
        <p:nvSpPr>
          <p:cNvPr id="6" name="TextBox 5"/>
          <p:cNvSpPr txBox="1"/>
          <p:nvPr/>
        </p:nvSpPr>
        <p:spPr>
          <a:xfrm>
            <a:off x="868680" y="4160520"/>
            <a:ext cx="10607040" cy="548640"/>
          </a:xfrm>
          <a:prstGeom prst="rect">
            <a:avLst/>
          </a:prstGeom>
          <a:noFill/>
        </p:spPr>
        <p:txBody>
          <a:bodyPr wrap="square" anchor="t">
            <a:spAutoFit/>
          </a:bodyPr>
          <a:lstStyle/>
          <a:p>
            <a:pPr algn="l">
              <a:lnSpc>
                <a:spcPct val="105000"/>
              </a:lnSpc>
              <a:spcAft>
                <a:spcPts val="600"/>
              </a:spcAft>
            </a:pPr>
            <a:r>
              <a:rPr sz="1700" b="0">
                <a:solidFill>
                  <a:srgbClr val="FFFFFF"/>
                </a:solidFill>
                <a:latin typeface="Calibri"/>
              </a:rPr>
              <a:t>Designed for Titan Manufacturing Corporation</a:t>
            </a:r>
          </a:p>
        </p:txBody>
      </p:sp>
      <p:sp>
        <p:nvSpPr>
          <p:cNvPr id="7" name="TextBox 6"/>
          <p:cNvSpPr txBox="1"/>
          <p:nvPr/>
        </p:nvSpPr>
        <p:spPr>
          <a:xfrm>
            <a:off x="868680" y="5577840"/>
            <a:ext cx="10607040" cy="612540"/>
          </a:xfrm>
          <a:prstGeom prst="rect">
            <a:avLst/>
          </a:prstGeom>
          <a:noFill/>
        </p:spPr>
        <p:txBody>
          <a:bodyPr wrap="square" anchor="t">
            <a:spAutoFit/>
          </a:bodyPr>
          <a:lstStyle/>
          <a:p>
            <a:pPr algn="l">
              <a:lnSpc>
                <a:spcPct val="105000"/>
              </a:lnSpc>
              <a:spcAft>
                <a:spcPts val="600"/>
              </a:spcAft>
            </a:pPr>
            <a:r>
              <a:rPr sz="1400" b="0" dirty="0">
                <a:solidFill>
                  <a:srgbClr val="CFDAF0"/>
                </a:solidFill>
                <a:latin typeface="Calibri"/>
              </a:rPr>
              <a:t>Agentic AI for IT  |  IE University, School of Science and Technology</a:t>
            </a:r>
          </a:p>
          <a:p>
            <a:pPr>
              <a:lnSpc>
                <a:spcPct val="105000"/>
              </a:lnSpc>
              <a:spcAft>
                <a:spcPts val="600"/>
              </a:spcAft>
            </a:pPr>
            <a:r>
              <a:rPr sz="1400" b="0" dirty="0">
                <a:solidFill>
                  <a:srgbClr val="CFDAF0"/>
                </a:solidFill>
                <a:latin typeface="Calibri"/>
              </a:rPr>
              <a:t>Team: Gilles Hamers, </a:t>
            </a:r>
            <a:r>
              <a:rPr lang="de-CH" sz="1400" dirty="0">
                <a:solidFill>
                  <a:srgbClr val="CFDAF0"/>
                </a:solidFill>
                <a:latin typeface="Calibri"/>
              </a:rPr>
              <a:t>Lorenz Rösgen, Dan </a:t>
            </a:r>
            <a:r>
              <a:rPr lang="de-CH" sz="1400" dirty="0" err="1">
                <a:solidFill>
                  <a:srgbClr val="CFDAF0"/>
                </a:solidFill>
                <a:latin typeface="Calibri"/>
              </a:rPr>
              <a:t>Tigu</a:t>
            </a:r>
            <a:r>
              <a:rPr lang="de-CH" sz="1400" dirty="0">
                <a:solidFill>
                  <a:srgbClr val="CFDAF0"/>
                </a:solidFill>
                <a:latin typeface="Calibri"/>
              </a:rPr>
              <a:t>, Marti </a:t>
            </a:r>
            <a:r>
              <a:rPr lang="de-CH" sz="1400" dirty="0" err="1">
                <a:solidFill>
                  <a:srgbClr val="CFDAF0"/>
                </a:solidFill>
                <a:latin typeface="Calibri"/>
              </a:rPr>
              <a:t>Solà</a:t>
            </a:r>
            <a:r>
              <a:rPr lang="de-CH" sz="1400" dirty="0">
                <a:solidFill>
                  <a:srgbClr val="CFDAF0"/>
                </a:solidFill>
                <a:latin typeface="Calibri"/>
              </a:rPr>
              <a:t> Puig </a:t>
            </a:r>
            <a:endParaRPr sz="1400" b="0" dirty="0">
              <a:solidFill>
                <a:srgbClr val="CFDAF0"/>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292608" cy="68580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37744"/>
            <a:ext cx="10972800" cy="365760"/>
          </a:xfrm>
          <a:prstGeom prst="rect">
            <a:avLst/>
          </a:prstGeom>
          <a:noFill/>
        </p:spPr>
        <p:txBody>
          <a:bodyPr wrap="square" anchor="t">
            <a:spAutoFit/>
          </a:bodyPr>
          <a:lstStyle/>
          <a:p>
            <a:pPr algn="l">
              <a:lnSpc>
                <a:spcPct val="105000"/>
              </a:lnSpc>
              <a:spcAft>
                <a:spcPts val="600"/>
              </a:spcAft>
            </a:pPr>
            <a:r>
              <a:rPr sz="1300" b="1">
                <a:solidFill>
                  <a:srgbClr val="555555"/>
                </a:solidFill>
                <a:latin typeface="Calibri"/>
              </a:rPr>
              <a:t>THE GOAL</a:t>
            </a:r>
          </a:p>
        </p:txBody>
      </p:sp>
      <p:sp>
        <p:nvSpPr>
          <p:cNvPr id="4" name="TextBox 3"/>
          <p:cNvSpPr txBox="1"/>
          <p:nvPr/>
        </p:nvSpPr>
        <p:spPr>
          <a:xfrm>
            <a:off x="502920" y="530352"/>
            <a:ext cx="11247120" cy="822960"/>
          </a:xfrm>
          <a:prstGeom prst="rect">
            <a:avLst/>
          </a:prstGeom>
          <a:noFill/>
        </p:spPr>
        <p:txBody>
          <a:bodyPr wrap="square" anchor="t">
            <a:spAutoFit/>
          </a:bodyPr>
          <a:lstStyle/>
          <a:p>
            <a:pPr algn="l">
              <a:lnSpc>
                <a:spcPct val="105000"/>
              </a:lnSpc>
              <a:spcAft>
                <a:spcPts val="600"/>
              </a:spcAft>
            </a:pPr>
            <a:r>
              <a:rPr sz="2700" b="1">
                <a:solidFill>
                  <a:srgbClr val="0A1F6B"/>
                </a:solidFill>
                <a:latin typeface="Calibri"/>
              </a:rPr>
              <a:t>1. What the agent is for, and why it matters</a:t>
            </a:r>
          </a:p>
        </p:txBody>
      </p:sp>
      <p:sp>
        <p:nvSpPr>
          <p:cNvPr id="5" name="Rectangle 4"/>
          <p:cNvSpPr/>
          <p:nvPr/>
        </p:nvSpPr>
        <p:spPr>
          <a:xfrm>
            <a:off x="548640" y="1243584"/>
            <a:ext cx="2011680" cy="54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48640" y="1417320"/>
            <a:ext cx="11064240" cy="109728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31520" y="1536192"/>
            <a:ext cx="10698480" cy="914400"/>
          </a:xfrm>
          <a:prstGeom prst="rect">
            <a:avLst/>
          </a:prstGeom>
          <a:noFill/>
        </p:spPr>
        <p:txBody>
          <a:bodyPr wrap="square" anchor="ctr">
            <a:spAutoFit/>
          </a:bodyPr>
          <a:lstStyle/>
          <a:p>
            <a:pPr algn="l">
              <a:lnSpc>
                <a:spcPct val="105000"/>
              </a:lnSpc>
              <a:spcAft>
                <a:spcPts val="600"/>
              </a:spcAft>
            </a:pPr>
            <a:r>
              <a:rPr sz="1600" b="1">
                <a:solidFill>
                  <a:srgbClr val="0E7C86"/>
                </a:solidFill>
                <a:latin typeface="Calibri"/>
              </a:rPr>
              <a:t>Our goal: </a:t>
            </a:r>
            <a:r>
              <a:rPr sz="1600" b="0">
                <a:solidFill>
                  <a:srgbClr val="1A1A2E"/>
                </a:solidFill>
                <a:latin typeface="Calibri"/>
              </a:rPr>
              <a:t>keep every critical part available at every plant. The agent spots a supply risk early, before it can stop a production line, then arranges the most affordable fix, while always asking a person to approve anything expensive or hard to undo.</a:t>
            </a:r>
          </a:p>
        </p:txBody>
      </p:sp>
      <p:sp>
        <p:nvSpPr>
          <p:cNvPr id="8" name="TextBox 7"/>
          <p:cNvSpPr txBox="1"/>
          <p:nvPr/>
        </p:nvSpPr>
        <p:spPr>
          <a:xfrm>
            <a:off x="548640" y="2743200"/>
            <a:ext cx="11064240" cy="365760"/>
          </a:xfrm>
          <a:prstGeom prst="rect">
            <a:avLst/>
          </a:prstGeom>
          <a:noFill/>
        </p:spPr>
        <p:txBody>
          <a:bodyPr wrap="square" anchor="t">
            <a:spAutoFit/>
          </a:bodyPr>
          <a:lstStyle/>
          <a:p>
            <a:pPr algn="l">
              <a:lnSpc>
                <a:spcPct val="105000"/>
              </a:lnSpc>
              <a:spcAft>
                <a:spcPts val="600"/>
              </a:spcAft>
            </a:pPr>
            <a:r>
              <a:rPr sz="1500" b="1">
                <a:solidFill>
                  <a:srgbClr val="0A1F6B"/>
                </a:solidFill>
                <a:latin typeface="Calibri"/>
              </a:rPr>
              <a:t>Why this matters to the business</a:t>
            </a:r>
          </a:p>
        </p:txBody>
      </p:sp>
      <p:sp>
        <p:nvSpPr>
          <p:cNvPr id="9" name="TextBox 8"/>
          <p:cNvSpPr txBox="1"/>
          <p:nvPr/>
        </p:nvSpPr>
        <p:spPr>
          <a:xfrm>
            <a:off x="548640" y="3154680"/>
            <a:ext cx="11064240" cy="1371600"/>
          </a:xfrm>
          <a:prstGeom prst="rect">
            <a:avLst/>
          </a:prstGeom>
          <a:noFill/>
        </p:spPr>
        <p:txBody>
          <a:bodyPr wrap="square" anchor="t">
            <a:spAutoFit/>
          </a:bodyPr>
          <a:lstStyle/>
          <a:p>
            <a:pPr algn="l">
              <a:lnSpc>
                <a:spcPct val="110000"/>
              </a:lnSpc>
              <a:spcAft>
                <a:spcPts val="800"/>
              </a:spcAft>
            </a:pPr>
            <a:r>
              <a:rPr sz="1450" b="1">
                <a:solidFill>
                  <a:srgbClr val="0E7C86"/>
                </a:solidFill>
                <a:latin typeface="Calibri"/>
              </a:rPr>
              <a:t>•  </a:t>
            </a:r>
            <a:r>
              <a:rPr sz="1450" b="0">
                <a:solidFill>
                  <a:srgbClr val="1A1A2E"/>
                </a:solidFill>
                <a:latin typeface="Calibri"/>
              </a:rPr>
              <a:t>When a line stops it is painful: stoppages cost us $14 million last quarter, and a single critical machining line loses around $180,000 for every day it sits idle.</a:t>
            </a:r>
          </a:p>
          <a:p>
            <a:pPr algn="l">
              <a:lnSpc>
                <a:spcPct val="110000"/>
              </a:lnSpc>
              <a:spcAft>
                <a:spcPts val="800"/>
              </a:spcAft>
            </a:pPr>
            <a:r>
              <a:rPr sz="1450" b="1">
                <a:solidFill>
                  <a:srgbClr val="0E7C86"/>
                </a:solidFill>
                <a:latin typeface="Calibri"/>
              </a:rPr>
              <a:t>•  </a:t>
            </a:r>
            <a:r>
              <a:rPr sz="1450" b="0">
                <a:solidFill>
                  <a:srgbClr val="1A1A2E"/>
                </a:solidFill>
                <a:latin typeface="Calibri"/>
              </a:rPr>
              <a:t>By noticing trouble two suppliers deep and roughly a week sooner, we can replace costly last-minute air freight (already up by more than half) with calm, planned orders that also protect our delivery promises.</a:t>
            </a:r>
          </a:p>
        </p:txBody>
      </p:sp>
      <p:sp>
        <p:nvSpPr>
          <p:cNvPr id="10" name="TextBox 9"/>
          <p:cNvSpPr txBox="1"/>
          <p:nvPr/>
        </p:nvSpPr>
        <p:spPr>
          <a:xfrm>
            <a:off x="548640" y="4709160"/>
            <a:ext cx="11064240" cy="365760"/>
          </a:xfrm>
          <a:prstGeom prst="rect">
            <a:avLst/>
          </a:prstGeom>
          <a:noFill/>
        </p:spPr>
        <p:txBody>
          <a:bodyPr wrap="square" anchor="t">
            <a:spAutoFit/>
          </a:bodyPr>
          <a:lstStyle/>
          <a:p>
            <a:pPr algn="l">
              <a:lnSpc>
                <a:spcPct val="105000"/>
              </a:lnSpc>
              <a:spcAft>
                <a:spcPts val="600"/>
              </a:spcAft>
            </a:pPr>
            <a:r>
              <a:rPr sz="1500" b="1">
                <a:solidFill>
                  <a:srgbClr val="0A1F6B"/>
                </a:solidFill>
                <a:latin typeface="Calibri"/>
              </a:rPr>
              <a:t>How we will know it is working</a:t>
            </a:r>
          </a:p>
        </p:txBody>
      </p:sp>
      <p:sp>
        <p:nvSpPr>
          <p:cNvPr id="11" name="TextBox 10"/>
          <p:cNvSpPr txBox="1"/>
          <p:nvPr/>
        </p:nvSpPr>
        <p:spPr>
          <a:xfrm>
            <a:off x="548640" y="5120640"/>
            <a:ext cx="11064240" cy="1280160"/>
          </a:xfrm>
          <a:prstGeom prst="rect">
            <a:avLst/>
          </a:prstGeom>
          <a:noFill/>
        </p:spPr>
        <p:txBody>
          <a:bodyPr wrap="square" anchor="t">
            <a:spAutoFit/>
          </a:bodyPr>
          <a:lstStyle/>
          <a:p>
            <a:pPr algn="l">
              <a:lnSpc>
                <a:spcPct val="110000"/>
              </a:lnSpc>
              <a:spcAft>
                <a:spcPts val="600"/>
              </a:spcAft>
            </a:pPr>
            <a:r>
              <a:rPr sz="1450" b="1">
                <a:solidFill>
                  <a:srgbClr val="0E7C86"/>
                </a:solidFill>
                <a:latin typeface="Calibri"/>
              </a:rPr>
              <a:t>•  </a:t>
            </a:r>
            <a:r>
              <a:rPr sz="1450" b="0">
                <a:solidFill>
                  <a:srgbClr val="1A1A2E"/>
                </a:solidFill>
                <a:latin typeface="Calibri"/>
              </a:rPr>
              <a:t>The time from first warning to a clear decision falls from days to minutes.</a:t>
            </a:r>
          </a:p>
          <a:p>
            <a:pPr algn="l">
              <a:lnSpc>
                <a:spcPct val="110000"/>
              </a:lnSpc>
              <a:spcAft>
                <a:spcPts val="600"/>
              </a:spcAft>
            </a:pPr>
            <a:r>
              <a:rPr sz="1450" b="1">
                <a:solidFill>
                  <a:srgbClr val="0E7C86"/>
                </a:solidFill>
                <a:latin typeface="Calibri"/>
              </a:rPr>
              <a:t>•  </a:t>
            </a:r>
            <a:r>
              <a:rPr sz="1450" b="0">
                <a:solidFill>
                  <a:srgbClr val="1A1A2E"/>
                </a:solidFill>
                <a:latin typeface="Calibri"/>
              </a:rPr>
              <a:t>We catch at least seven in ten disruptions before a direct supplier is even visibly late.</a:t>
            </a:r>
          </a:p>
          <a:p>
            <a:pPr algn="l">
              <a:lnSpc>
                <a:spcPct val="110000"/>
              </a:lnSpc>
              <a:spcAft>
                <a:spcPts val="600"/>
              </a:spcAft>
            </a:pPr>
            <a:r>
              <a:rPr sz="1450" b="1">
                <a:solidFill>
                  <a:srgbClr val="0E7C86"/>
                </a:solidFill>
                <a:latin typeface="Calibri"/>
              </a:rPr>
              <a:t>•  </a:t>
            </a:r>
            <a:r>
              <a:rPr sz="1450" b="0">
                <a:solidFill>
                  <a:srgbClr val="1A1A2E"/>
                </a:solidFill>
                <a:latin typeface="Calibri"/>
              </a:rPr>
              <a:t>Rushed-freight spending drops by about a third, with every critical part mapped down to its deepest suppliers.</a:t>
            </a:r>
          </a:p>
        </p:txBody>
      </p:sp>
      <p:sp>
        <p:nvSpPr>
          <p:cNvPr id="12" name="Rectangle 11"/>
          <p:cNvSpPr/>
          <p:nvPr/>
        </p:nvSpPr>
        <p:spPr>
          <a:xfrm>
            <a:off x="0" y="6510528"/>
            <a:ext cx="12191695" cy="347472"/>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292608" cy="68580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37744"/>
            <a:ext cx="10972800" cy="365760"/>
          </a:xfrm>
          <a:prstGeom prst="rect">
            <a:avLst/>
          </a:prstGeom>
          <a:noFill/>
        </p:spPr>
        <p:txBody>
          <a:bodyPr wrap="square" anchor="t">
            <a:spAutoFit/>
          </a:bodyPr>
          <a:lstStyle/>
          <a:p>
            <a:pPr algn="l">
              <a:lnSpc>
                <a:spcPct val="105000"/>
              </a:lnSpc>
              <a:spcAft>
                <a:spcPts val="600"/>
              </a:spcAft>
            </a:pPr>
            <a:r>
              <a:rPr sz="1300" b="1">
                <a:solidFill>
                  <a:srgbClr val="555555"/>
                </a:solidFill>
                <a:latin typeface="Calibri"/>
              </a:rPr>
              <a:t>WHAT IT SEES AND REMEMBERS</a:t>
            </a:r>
          </a:p>
        </p:txBody>
      </p:sp>
      <p:sp>
        <p:nvSpPr>
          <p:cNvPr id="4" name="TextBox 3"/>
          <p:cNvSpPr txBox="1"/>
          <p:nvPr/>
        </p:nvSpPr>
        <p:spPr>
          <a:xfrm>
            <a:off x="502920" y="530352"/>
            <a:ext cx="11247120" cy="822960"/>
          </a:xfrm>
          <a:prstGeom prst="rect">
            <a:avLst/>
          </a:prstGeom>
          <a:noFill/>
        </p:spPr>
        <p:txBody>
          <a:bodyPr wrap="square" anchor="t">
            <a:spAutoFit/>
          </a:bodyPr>
          <a:lstStyle/>
          <a:p>
            <a:pPr algn="l">
              <a:lnSpc>
                <a:spcPct val="105000"/>
              </a:lnSpc>
              <a:spcAft>
                <a:spcPts val="600"/>
              </a:spcAft>
            </a:pPr>
            <a:r>
              <a:rPr sz="2700" b="1">
                <a:solidFill>
                  <a:srgbClr val="0A1F6B"/>
                </a:solidFill>
                <a:latin typeface="Calibri"/>
              </a:rPr>
              <a:t>2. What the agent observes and remembers</a:t>
            </a:r>
          </a:p>
        </p:txBody>
      </p:sp>
      <p:sp>
        <p:nvSpPr>
          <p:cNvPr id="5" name="Rectangle 4"/>
          <p:cNvSpPr/>
          <p:nvPr/>
        </p:nvSpPr>
        <p:spPr>
          <a:xfrm>
            <a:off x="548640" y="1243584"/>
            <a:ext cx="2011680" cy="54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6" name="Table 5"/>
          <p:cNvGraphicFramePr>
            <a:graphicFrameLocks noGrp="1"/>
          </p:cNvGraphicFramePr>
          <p:nvPr>
            <p:extLst>
              <p:ext uri="{D42A27DB-BD31-4B8C-83A1-F6EECF244321}">
                <p14:modId xmlns:p14="http://schemas.microsoft.com/office/powerpoint/2010/main" val="241943476"/>
              </p:ext>
            </p:extLst>
          </p:nvPr>
        </p:nvGraphicFramePr>
        <p:xfrm>
          <a:off x="548640" y="1417320"/>
          <a:ext cx="11064240" cy="2743200"/>
        </p:xfrm>
        <a:graphic>
          <a:graphicData uri="http://schemas.openxmlformats.org/drawingml/2006/table">
            <a:tbl>
              <a:tblPr firstRow="1" bandRow="1">
                <a:tableStyleId>{5C22544A-7EE6-4342-B048-85BDC9FD1C3A}</a:tableStyleId>
              </a:tblPr>
              <a:tblGrid>
                <a:gridCol w="2651760">
                  <a:extLst>
                    <a:ext uri="{9D8B030D-6E8A-4147-A177-3AD203B41FA5}">
                      <a16:colId xmlns:a16="http://schemas.microsoft.com/office/drawing/2014/main" val="20000"/>
                    </a:ext>
                  </a:extLst>
                </a:gridCol>
                <a:gridCol w="8412480">
                  <a:extLst>
                    <a:ext uri="{9D8B030D-6E8A-4147-A177-3AD203B41FA5}">
                      <a16:colId xmlns:a16="http://schemas.microsoft.com/office/drawing/2014/main" val="20001"/>
                    </a:ext>
                  </a:extLst>
                </a:gridCol>
              </a:tblGrid>
              <a:tr h="685800">
                <a:tc>
                  <a:txBody>
                    <a:bodyPr/>
                    <a:lstStyle/>
                    <a:p>
                      <a:r>
                        <a:rPr lang="de-CH" sz="1200" b="1" kern="1200" dirty="0" err="1">
                          <a:solidFill>
                            <a:srgbClr val="FFFFFF"/>
                          </a:solidFill>
                          <a:latin typeface="Calibri"/>
                          <a:ea typeface="+mn-ea"/>
                          <a:cs typeface="+mn-cs"/>
                        </a:rPr>
                        <a:t>Aspect</a:t>
                      </a:r>
                      <a:endParaRPr sz="1200" b="1" kern="1200" dirty="0">
                        <a:solidFill>
                          <a:srgbClr val="FFFFFF"/>
                        </a:solidFill>
                        <a:latin typeface="Calibri"/>
                        <a:ea typeface="+mn-ea"/>
                        <a:cs typeface="+mn-cs"/>
                      </a:endParaRPr>
                    </a:p>
                  </a:txBody>
                  <a:tcPr>
                    <a:solidFill>
                      <a:srgbClr val="0A1F6B"/>
                    </a:solidFill>
                  </a:tcPr>
                </a:tc>
                <a:tc>
                  <a:txBody>
                    <a:bodyPr/>
                    <a:lstStyle/>
                    <a:p>
                      <a:r>
                        <a:rPr sz="1200" b="1" dirty="0">
                          <a:solidFill>
                            <a:srgbClr val="FFFFFF"/>
                          </a:solidFill>
                          <a:latin typeface="Calibri"/>
                        </a:rPr>
                        <a:t>How it works</a:t>
                      </a:r>
                    </a:p>
                  </a:txBody>
                  <a:tcPr>
                    <a:solidFill>
                      <a:srgbClr val="0A1F6B"/>
                    </a:solidFill>
                  </a:tcPr>
                </a:tc>
                <a:extLst>
                  <a:ext uri="{0D108BD9-81ED-4DB2-BD59-A6C34878D82A}">
                    <a16:rowId xmlns:a16="http://schemas.microsoft.com/office/drawing/2014/main" val="10000"/>
                  </a:ext>
                </a:extLst>
              </a:tr>
              <a:tr h="685800">
                <a:tc>
                  <a:txBody>
                    <a:bodyPr/>
                    <a:lstStyle/>
                    <a:p>
                      <a:r>
                        <a:rPr lang="de-CH" sz="1200" dirty="0">
                          <a:solidFill>
                            <a:srgbClr val="1A1A2E"/>
                          </a:solidFill>
                          <a:latin typeface="Calibri"/>
                        </a:rPr>
                        <a:t>Triggers</a:t>
                      </a:r>
                      <a:endParaRPr sz="1200" dirty="0">
                        <a:solidFill>
                          <a:srgbClr val="1A1A2E"/>
                        </a:solidFill>
                        <a:latin typeface="Calibri"/>
                      </a:endParaRPr>
                    </a:p>
                  </a:txBody>
                  <a:tcPr>
                    <a:solidFill>
                      <a:srgbClr val="FFFFFF"/>
                    </a:solidFill>
                  </a:tcPr>
                </a:tc>
                <a:tc>
                  <a:txBody>
                    <a:bodyPr/>
                    <a:lstStyle/>
                    <a:p>
                      <a:r>
                        <a:rPr sz="1200">
                          <a:solidFill>
                            <a:srgbClr val="1A1A2E"/>
                          </a:solidFill>
                          <a:latin typeface="Calibri"/>
                        </a:rPr>
                        <a:t>A risk alert that arrives on its own, a routine check that runs every fifteen minutes, or a planner simply asking a question.</a:t>
                      </a:r>
                    </a:p>
                  </a:txBody>
                  <a:tcPr>
                    <a:solidFill>
                      <a:srgbClr val="FFFFFF"/>
                    </a:solidFill>
                  </a:tcPr>
                </a:tc>
                <a:extLst>
                  <a:ext uri="{0D108BD9-81ED-4DB2-BD59-A6C34878D82A}">
                    <a16:rowId xmlns:a16="http://schemas.microsoft.com/office/drawing/2014/main" val="10001"/>
                  </a:ext>
                </a:extLst>
              </a:tr>
              <a:tr h="685800">
                <a:tc>
                  <a:txBody>
                    <a:bodyPr/>
                    <a:lstStyle/>
                    <a:p>
                      <a:r>
                        <a:rPr lang="de-CH" sz="1200" dirty="0">
                          <a:solidFill>
                            <a:srgbClr val="1A1A2E"/>
                          </a:solidFill>
                          <a:latin typeface="Calibri"/>
                        </a:rPr>
                        <a:t>Input </a:t>
                      </a:r>
                      <a:r>
                        <a:rPr lang="de-CH" sz="1200" dirty="0" err="1">
                          <a:solidFill>
                            <a:srgbClr val="1A1A2E"/>
                          </a:solidFill>
                          <a:latin typeface="Calibri"/>
                        </a:rPr>
                        <a:t>data</a:t>
                      </a:r>
                      <a:endParaRPr sz="1200" dirty="0">
                        <a:solidFill>
                          <a:srgbClr val="1A1A2E"/>
                        </a:solidFill>
                        <a:latin typeface="Calibri"/>
                      </a:endParaRPr>
                    </a:p>
                  </a:txBody>
                  <a:tcPr>
                    <a:solidFill>
                      <a:srgbClr val="F2F4F8"/>
                    </a:solidFill>
                  </a:tcPr>
                </a:tc>
                <a:tc>
                  <a:txBody>
                    <a:bodyPr/>
                    <a:lstStyle/>
                    <a:p>
                      <a:r>
                        <a:rPr sz="1200" dirty="0">
                          <a:solidFill>
                            <a:srgbClr val="1A1A2E"/>
                          </a:solidFill>
                          <a:latin typeface="Calibri"/>
                        </a:rPr>
                        <a:t>Outside risk signals, electronic shipping notices, supplier emails, carrier spreadsheets, live inventory and open orders, the supplier map, and the parts list (the Bill of Materials).</a:t>
                      </a:r>
                    </a:p>
                  </a:txBody>
                  <a:tcPr>
                    <a:solidFill>
                      <a:srgbClr val="F2F4F8"/>
                    </a:solidFill>
                  </a:tcPr>
                </a:tc>
                <a:extLst>
                  <a:ext uri="{0D108BD9-81ED-4DB2-BD59-A6C34878D82A}">
                    <a16:rowId xmlns:a16="http://schemas.microsoft.com/office/drawing/2014/main" val="10002"/>
                  </a:ext>
                </a:extLst>
              </a:tr>
              <a:tr h="685800">
                <a:tc>
                  <a:txBody>
                    <a:bodyPr/>
                    <a:lstStyle/>
                    <a:p>
                      <a:r>
                        <a:rPr lang="de-CH" sz="1200" dirty="0">
                          <a:solidFill>
                            <a:srgbClr val="1A1A2E"/>
                          </a:solidFill>
                          <a:latin typeface="Calibri"/>
                        </a:rPr>
                        <a:t>Dynamic vs. Static</a:t>
                      </a:r>
                      <a:endParaRPr sz="1200" dirty="0">
                        <a:solidFill>
                          <a:srgbClr val="1A1A2E"/>
                        </a:solidFill>
                        <a:latin typeface="Calibri"/>
                      </a:endParaRPr>
                    </a:p>
                  </a:txBody>
                  <a:tcPr>
                    <a:solidFill>
                      <a:srgbClr val="FFFFFF"/>
                    </a:solidFill>
                  </a:tcPr>
                </a:tc>
                <a:tc>
                  <a:txBody>
                    <a:bodyPr/>
                    <a:lstStyle/>
                    <a:p>
                      <a:r>
                        <a:rPr sz="1200" dirty="0">
                          <a:solidFill>
                            <a:srgbClr val="1A1A2E"/>
                          </a:solidFill>
                          <a:latin typeface="Calibri"/>
                        </a:rPr>
                        <a:t>Always moving: shipment status, arrival dates, stock levels, events and prices. Mostly steady: the supplier map, the parts list, our </a:t>
                      </a:r>
                      <a:r>
                        <a:rPr lang="en-GB" sz="1200" dirty="0">
                          <a:solidFill>
                            <a:srgbClr val="1A1A2E"/>
                          </a:solidFill>
                          <a:latin typeface="+mn-lt"/>
                        </a:rPr>
                        <a:t>qualified suppliers, approval policy</a:t>
                      </a:r>
                      <a:endParaRPr sz="1200" dirty="0">
                        <a:solidFill>
                          <a:srgbClr val="1A1A2E"/>
                        </a:solidFill>
                        <a:latin typeface="Calibri"/>
                      </a:endParaRPr>
                    </a:p>
                  </a:txBody>
                  <a:tcPr>
                    <a:solidFill>
                      <a:srgbClr val="FFFFFF"/>
                    </a:solidFill>
                  </a:tcPr>
                </a:tc>
                <a:extLst>
                  <a:ext uri="{0D108BD9-81ED-4DB2-BD59-A6C34878D82A}">
                    <a16:rowId xmlns:a16="http://schemas.microsoft.com/office/drawing/2014/main" val="10003"/>
                  </a:ext>
                </a:extLst>
              </a:tr>
            </a:tbl>
          </a:graphicData>
        </a:graphic>
      </p:graphicFrame>
      <p:sp>
        <p:nvSpPr>
          <p:cNvPr id="7" name="TextBox 6"/>
          <p:cNvSpPr txBox="1"/>
          <p:nvPr/>
        </p:nvSpPr>
        <p:spPr>
          <a:xfrm>
            <a:off x="548640" y="4297680"/>
            <a:ext cx="11064240" cy="324897"/>
          </a:xfrm>
          <a:prstGeom prst="rect">
            <a:avLst/>
          </a:prstGeom>
          <a:noFill/>
        </p:spPr>
        <p:txBody>
          <a:bodyPr wrap="square" anchor="t">
            <a:spAutoFit/>
          </a:bodyPr>
          <a:lstStyle/>
          <a:p>
            <a:pPr algn="l">
              <a:lnSpc>
                <a:spcPct val="105000"/>
              </a:lnSpc>
              <a:spcAft>
                <a:spcPts val="600"/>
              </a:spcAft>
            </a:pPr>
            <a:r>
              <a:rPr lang="de-CH" sz="1500" b="1" dirty="0">
                <a:solidFill>
                  <a:srgbClr val="0A1F6B"/>
                </a:solidFill>
                <a:latin typeface="Calibri"/>
              </a:rPr>
              <a:t>Memory </a:t>
            </a:r>
            <a:r>
              <a:rPr lang="de-CH" sz="1500" b="1" dirty="0" err="1">
                <a:solidFill>
                  <a:srgbClr val="0A1F6B"/>
                </a:solidFill>
                <a:latin typeface="Calibri"/>
              </a:rPr>
              <a:t>model</a:t>
            </a:r>
            <a:r>
              <a:rPr lang="de-CH" sz="1500" b="1" dirty="0">
                <a:solidFill>
                  <a:srgbClr val="0A1F6B"/>
                </a:solidFill>
                <a:latin typeface="Calibri"/>
              </a:rPr>
              <a:t>:</a:t>
            </a:r>
            <a:endParaRPr sz="1500" b="1" dirty="0">
              <a:solidFill>
                <a:srgbClr val="0A1F6B"/>
              </a:solidFill>
              <a:latin typeface="Calibri"/>
            </a:endParaRPr>
          </a:p>
        </p:txBody>
      </p:sp>
      <p:graphicFrame>
        <p:nvGraphicFramePr>
          <p:cNvPr id="8" name="Table 7"/>
          <p:cNvGraphicFramePr>
            <a:graphicFrameLocks noGrp="1"/>
          </p:cNvGraphicFramePr>
          <p:nvPr>
            <p:extLst>
              <p:ext uri="{D42A27DB-BD31-4B8C-83A1-F6EECF244321}">
                <p14:modId xmlns:p14="http://schemas.microsoft.com/office/powerpoint/2010/main" val="11064470"/>
              </p:ext>
            </p:extLst>
          </p:nvPr>
        </p:nvGraphicFramePr>
        <p:xfrm>
          <a:off x="548640" y="4663440"/>
          <a:ext cx="11064240" cy="1554480"/>
        </p:xfrm>
        <a:graphic>
          <a:graphicData uri="http://schemas.openxmlformats.org/drawingml/2006/table">
            <a:tbl>
              <a:tblPr firstRow="1" bandRow="1">
                <a:tableStyleId>{5C22544A-7EE6-4342-B048-85BDC9FD1C3A}</a:tableStyleId>
              </a:tblPr>
              <a:tblGrid>
                <a:gridCol w="265176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2651760">
                  <a:extLst>
                    <a:ext uri="{9D8B030D-6E8A-4147-A177-3AD203B41FA5}">
                      <a16:colId xmlns:a16="http://schemas.microsoft.com/office/drawing/2014/main" val="20003"/>
                    </a:ext>
                  </a:extLst>
                </a:gridCol>
              </a:tblGrid>
              <a:tr h="777240">
                <a:tc>
                  <a:txBody>
                    <a:bodyPr/>
                    <a:lstStyle/>
                    <a:p>
                      <a:r>
                        <a:rPr lang="de-CH" sz="1100" b="1" dirty="0">
                          <a:solidFill>
                            <a:srgbClr val="FFFFFF"/>
                          </a:solidFill>
                          <a:latin typeface="Calibri"/>
                        </a:rPr>
                        <a:t>In-</a:t>
                      </a:r>
                      <a:r>
                        <a:rPr lang="de-CH" sz="1100" b="1" dirty="0" err="1">
                          <a:solidFill>
                            <a:srgbClr val="FFFFFF"/>
                          </a:solidFill>
                          <a:latin typeface="Calibri"/>
                        </a:rPr>
                        <a:t>context</a:t>
                      </a:r>
                      <a:endParaRPr sz="1100" b="1" dirty="0">
                        <a:solidFill>
                          <a:srgbClr val="FFFFFF"/>
                        </a:solidFill>
                        <a:latin typeface="Calibri"/>
                      </a:endParaRPr>
                    </a:p>
                  </a:txBody>
                  <a:tcPr>
                    <a:solidFill>
                      <a:srgbClr val="0A1F6B"/>
                    </a:solidFill>
                  </a:tcPr>
                </a:tc>
                <a:tc>
                  <a:txBody>
                    <a:bodyPr/>
                    <a:lstStyle/>
                    <a:p>
                      <a:r>
                        <a:rPr lang="de-CH" sz="1100" b="1" dirty="0">
                          <a:solidFill>
                            <a:srgbClr val="FFFFFF"/>
                          </a:solidFill>
                          <a:latin typeface="Calibri"/>
                        </a:rPr>
                        <a:t>External (RAG)</a:t>
                      </a:r>
                      <a:endParaRPr sz="1100" b="1" dirty="0">
                        <a:solidFill>
                          <a:srgbClr val="FFFFFF"/>
                        </a:solidFill>
                        <a:latin typeface="Calibri"/>
                      </a:endParaRPr>
                    </a:p>
                  </a:txBody>
                  <a:tcPr>
                    <a:solidFill>
                      <a:srgbClr val="0A1F6B"/>
                    </a:solidFill>
                  </a:tcPr>
                </a:tc>
                <a:tc>
                  <a:txBody>
                    <a:bodyPr/>
                    <a:lstStyle/>
                    <a:p>
                      <a:r>
                        <a:rPr lang="de-CH" sz="1100" b="1" dirty="0" err="1">
                          <a:solidFill>
                            <a:srgbClr val="FFFFFF"/>
                          </a:solidFill>
                          <a:latin typeface="Calibri"/>
                        </a:rPr>
                        <a:t>Episodic</a:t>
                      </a:r>
                      <a:endParaRPr sz="1100" b="1" dirty="0">
                        <a:solidFill>
                          <a:srgbClr val="FFFFFF"/>
                        </a:solidFill>
                        <a:latin typeface="Calibri"/>
                      </a:endParaRPr>
                    </a:p>
                  </a:txBody>
                  <a:tcPr>
                    <a:solidFill>
                      <a:srgbClr val="0A1F6B"/>
                    </a:solidFill>
                  </a:tcPr>
                </a:tc>
                <a:tc>
                  <a:txBody>
                    <a:bodyPr/>
                    <a:lstStyle/>
                    <a:p>
                      <a:r>
                        <a:rPr lang="de-CH" sz="1100" b="1" dirty="0" err="1">
                          <a:solidFill>
                            <a:srgbClr val="FFFFFF"/>
                          </a:solidFill>
                          <a:latin typeface="Calibri"/>
                        </a:rPr>
                        <a:t>Semantic</a:t>
                      </a:r>
                      <a:endParaRPr sz="1100" b="1" dirty="0">
                        <a:solidFill>
                          <a:srgbClr val="FFFFFF"/>
                        </a:solidFill>
                        <a:latin typeface="Calibri"/>
                      </a:endParaRPr>
                    </a:p>
                  </a:txBody>
                  <a:tcPr>
                    <a:solidFill>
                      <a:srgbClr val="0A1F6B"/>
                    </a:solidFill>
                  </a:tcPr>
                </a:tc>
                <a:extLst>
                  <a:ext uri="{0D108BD9-81ED-4DB2-BD59-A6C34878D82A}">
                    <a16:rowId xmlns:a16="http://schemas.microsoft.com/office/drawing/2014/main" val="10000"/>
                  </a:ext>
                </a:extLst>
              </a:tr>
              <a:tr h="777240">
                <a:tc>
                  <a:txBody>
                    <a:bodyPr/>
                    <a:lstStyle/>
                    <a:p>
                      <a:r>
                        <a:rPr sz="1100">
                          <a:solidFill>
                            <a:srgbClr val="1A1A2E"/>
                          </a:solidFill>
                          <a:latin typeface="Calibri"/>
                        </a:rPr>
                        <a:t>Shared notes for the case in hand</a:t>
                      </a:r>
                    </a:p>
                  </a:txBody>
                  <a:tcPr>
                    <a:solidFill>
                      <a:srgbClr val="FFFFFF"/>
                    </a:solidFill>
                  </a:tcPr>
                </a:tc>
                <a:tc>
                  <a:txBody>
                    <a:bodyPr/>
                    <a:lstStyle/>
                    <a:p>
                      <a:r>
                        <a:rPr sz="1100" dirty="0">
                          <a:solidFill>
                            <a:srgbClr val="1A1A2E"/>
                          </a:solidFill>
                          <a:latin typeface="Calibri"/>
                        </a:rPr>
                        <a:t>Supplier records, parts lists, contracts and approved alternates</a:t>
                      </a:r>
                    </a:p>
                  </a:txBody>
                  <a:tcPr>
                    <a:solidFill>
                      <a:srgbClr val="FFFFFF"/>
                    </a:solidFill>
                  </a:tcPr>
                </a:tc>
                <a:tc>
                  <a:txBody>
                    <a:bodyPr/>
                    <a:lstStyle/>
                    <a:p>
                      <a:r>
                        <a:rPr lang="de-CH" sz="1100" dirty="0">
                          <a:solidFill>
                            <a:srgbClr val="1A1A2E"/>
                          </a:solidFill>
                          <a:latin typeface="Calibri"/>
                        </a:rPr>
                        <a:t>Past</a:t>
                      </a:r>
                      <a:r>
                        <a:rPr sz="1100" dirty="0">
                          <a:solidFill>
                            <a:srgbClr val="1A1A2E"/>
                          </a:solidFill>
                          <a:latin typeface="Calibri"/>
                        </a:rPr>
                        <a:t> disruptions and the fixes that worked</a:t>
                      </a:r>
                    </a:p>
                  </a:txBody>
                  <a:tcPr>
                    <a:solidFill>
                      <a:srgbClr val="FFFFFF"/>
                    </a:solidFill>
                  </a:tcPr>
                </a:tc>
                <a:tc>
                  <a:txBody>
                    <a:bodyPr/>
                    <a:lstStyle/>
                    <a:p>
                      <a:r>
                        <a:rPr sz="1100" dirty="0">
                          <a:solidFill>
                            <a:srgbClr val="1A1A2E"/>
                          </a:solidFill>
                          <a:latin typeface="Calibri"/>
                        </a:rPr>
                        <a:t>Rules of thumb and domain </a:t>
                      </a:r>
                      <a:r>
                        <a:rPr lang="en-GB" sz="1100" dirty="0">
                          <a:solidFill>
                            <a:srgbClr val="1A1A2E"/>
                          </a:solidFill>
                          <a:latin typeface="Calibri"/>
                        </a:rPr>
                        <a:t>knowledge</a:t>
                      </a:r>
                      <a:endParaRPr sz="1100" dirty="0">
                        <a:solidFill>
                          <a:srgbClr val="1A1A2E"/>
                        </a:solidFill>
                        <a:latin typeface="Calibri"/>
                      </a:endParaRPr>
                    </a:p>
                  </a:txBody>
                  <a:tcPr>
                    <a:solidFill>
                      <a:srgbClr val="FFFFFF"/>
                    </a:solidFill>
                  </a:tcPr>
                </a:tc>
                <a:extLst>
                  <a:ext uri="{0D108BD9-81ED-4DB2-BD59-A6C34878D82A}">
                    <a16:rowId xmlns:a16="http://schemas.microsoft.com/office/drawing/2014/main" val="10001"/>
                  </a:ext>
                </a:extLst>
              </a:tr>
            </a:tbl>
          </a:graphicData>
        </a:graphic>
      </p:graphicFrame>
      <p:sp>
        <p:nvSpPr>
          <p:cNvPr id="9" name="Rectangle 8"/>
          <p:cNvSpPr/>
          <p:nvPr/>
        </p:nvSpPr>
        <p:spPr>
          <a:xfrm>
            <a:off x="0" y="6510528"/>
            <a:ext cx="12191695" cy="347472"/>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292608" cy="68580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37744"/>
            <a:ext cx="10972800" cy="365760"/>
          </a:xfrm>
          <a:prstGeom prst="rect">
            <a:avLst/>
          </a:prstGeom>
          <a:noFill/>
        </p:spPr>
        <p:txBody>
          <a:bodyPr wrap="square" anchor="t">
            <a:spAutoFit/>
          </a:bodyPr>
          <a:lstStyle/>
          <a:p>
            <a:pPr algn="l">
              <a:lnSpc>
                <a:spcPct val="105000"/>
              </a:lnSpc>
              <a:spcAft>
                <a:spcPts val="600"/>
              </a:spcAft>
            </a:pPr>
            <a:r>
              <a:rPr sz="1300" b="1">
                <a:solidFill>
                  <a:srgbClr val="555555"/>
                </a:solidFill>
                <a:latin typeface="Calibri"/>
              </a:rPr>
              <a:t>ARCHITECTURE</a:t>
            </a:r>
          </a:p>
        </p:txBody>
      </p:sp>
      <p:sp>
        <p:nvSpPr>
          <p:cNvPr id="4" name="TextBox 3"/>
          <p:cNvSpPr txBox="1"/>
          <p:nvPr/>
        </p:nvSpPr>
        <p:spPr>
          <a:xfrm>
            <a:off x="502920" y="530352"/>
            <a:ext cx="11247120" cy="822960"/>
          </a:xfrm>
          <a:prstGeom prst="rect">
            <a:avLst/>
          </a:prstGeom>
          <a:noFill/>
        </p:spPr>
        <p:txBody>
          <a:bodyPr wrap="square" anchor="t">
            <a:spAutoFit/>
          </a:bodyPr>
          <a:lstStyle/>
          <a:p>
            <a:pPr algn="l">
              <a:lnSpc>
                <a:spcPct val="105000"/>
              </a:lnSpc>
              <a:spcAft>
                <a:spcPts val="600"/>
              </a:spcAft>
            </a:pPr>
            <a:r>
              <a:rPr sz="2700" b="1">
                <a:solidFill>
                  <a:srgbClr val="0A1F6B"/>
                </a:solidFill>
                <a:latin typeface="Calibri"/>
              </a:rPr>
              <a:t>3. One supervisor guiding four specialists</a:t>
            </a:r>
          </a:p>
        </p:txBody>
      </p:sp>
      <p:sp>
        <p:nvSpPr>
          <p:cNvPr id="5" name="Rectangle 4"/>
          <p:cNvSpPr/>
          <p:nvPr/>
        </p:nvSpPr>
        <p:spPr>
          <a:xfrm>
            <a:off x="548640" y="1243584"/>
            <a:ext cx="2011680" cy="54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48640" y="1417320"/>
            <a:ext cx="2331720" cy="86868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58368" y="1518088"/>
            <a:ext cx="2148840" cy="703719"/>
          </a:xfrm>
          <a:prstGeom prst="rect">
            <a:avLst/>
          </a:prstGeom>
          <a:noFill/>
        </p:spPr>
        <p:txBody>
          <a:bodyPr wrap="square" anchor="ctr">
            <a:spAutoFit/>
          </a:bodyPr>
          <a:lstStyle/>
          <a:p>
            <a:pPr algn="l">
              <a:lnSpc>
                <a:spcPct val="105000"/>
              </a:lnSpc>
              <a:spcAft>
                <a:spcPts val="600"/>
              </a:spcAft>
            </a:pPr>
            <a:r>
              <a:rPr sz="1250" b="1" dirty="0">
                <a:solidFill>
                  <a:srgbClr val="0A1F6B"/>
                </a:solidFill>
                <a:latin typeface="Calibri"/>
              </a:rPr>
              <a:t>Triggers</a:t>
            </a:r>
          </a:p>
          <a:p>
            <a:pPr algn="l">
              <a:lnSpc>
                <a:spcPct val="105000"/>
              </a:lnSpc>
              <a:spcAft>
                <a:spcPts val="600"/>
              </a:spcAft>
            </a:pPr>
            <a:r>
              <a:rPr sz="1050" b="0" dirty="0">
                <a:solidFill>
                  <a:srgbClr val="555555"/>
                </a:solidFill>
                <a:latin typeface="Calibri"/>
              </a:rPr>
              <a:t>an alert, a regular check, or a planner’s </a:t>
            </a:r>
            <a:r>
              <a:rPr lang="de-CH" sz="1050" b="0" dirty="0" err="1">
                <a:solidFill>
                  <a:srgbClr val="555555"/>
                </a:solidFill>
                <a:latin typeface="Calibri"/>
              </a:rPr>
              <a:t>query</a:t>
            </a:r>
            <a:endParaRPr sz="1050" b="0" dirty="0">
              <a:solidFill>
                <a:srgbClr val="555555"/>
              </a:solidFill>
              <a:latin typeface="Calibri"/>
            </a:endParaRPr>
          </a:p>
        </p:txBody>
      </p:sp>
      <p:sp>
        <p:nvSpPr>
          <p:cNvPr id="8" name="Rectangle 7"/>
          <p:cNvSpPr/>
          <p:nvPr/>
        </p:nvSpPr>
        <p:spPr>
          <a:xfrm>
            <a:off x="3154680" y="1417320"/>
            <a:ext cx="8458200" cy="868680"/>
          </a:xfrm>
          <a:prstGeom prst="rect">
            <a:avLst/>
          </a:prstGeom>
          <a:solidFill>
            <a:srgbClr val="0A1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291840" y="1578874"/>
            <a:ext cx="8229600" cy="582147"/>
          </a:xfrm>
          <a:prstGeom prst="rect">
            <a:avLst/>
          </a:prstGeom>
          <a:noFill/>
        </p:spPr>
        <p:txBody>
          <a:bodyPr wrap="square" anchor="ctr">
            <a:spAutoFit/>
          </a:bodyPr>
          <a:lstStyle/>
          <a:p>
            <a:pPr algn="ctr">
              <a:lnSpc>
                <a:spcPct val="105000"/>
              </a:lnSpc>
              <a:spcAft>
                <a:spcPts val="600"/>
              </a:spcAft>
            </a:pPr>
            <a:r>
              <a:rPr sz="1500" b="1" dirty="0">
                <a:solidFill>
                  <a:srgbClr val="FFFFFF"/>
                </a:solidFill>
                <a:latin typeface="Calibri"/>
              </a:rPr>
              <a:t>THE SUPERVISOR</a:t>
            </a:r>
          </a:p>
          <a:p>
            <a:pPr algn="ctr">
              <a:lnSpc>
                <a:spcPct val="105000"/>
              </a:lnSpc>
              <a:spcAft>
                <a:spcPts val="600"/>
              </a:spcAft>
            </a:pPr>
            <a:r>
              <a:rPr lang="en-GB" sz="1100" dirty="0">
                <a:solidFill>
                  <a:srgbClr val="CFDAF0"/>
                </a:solidFill>
              </a:rPr>
              <a:t>owns the objective, routes work, synthesizes the briefing; does NOT call data tools directly</a:t>
            </a:r>
          </a:p>
        </p:txBody>
      </p:sp>
      <p:sp>
        <p:nvSpPr>
          <p:cNvPr id="10" name="TextBox 9"/>
          <p:cNvSpPr txBox="1"/>
          <p:nvPr/>
        </p:nvSpPr>
        <p:spPr>
          <a:xfrm>
            <a:off x="3154680" y="2331720"/>
            <a:ext cx="8458200" cy="262892"/>
          </a:xfrm>
          <a:prstGeom prst="rect">
            <a:avLst/>
          </a:prstGeom>
          <a:noFill/>
        </p:spPr>
        <p:txBody>
          <a:bodyPr wrap="square" anchor="t">
            <a:spAutoFit/>
          </a:bodyPr>
          <a:lstStyle/>
          <a:p>
            <a:pPr algn="ctr">
              <a:lnSpc>
                <a:spcPct val="105000"/>
              </a:lnSpc>
              <a:spcAft>
                <a:spcPts val="600"/>
              </a:spcAft>
            </a:pPr>
            <a:r>
              <a:rPr sz="1100" b="1" dirty="0">
                <a:solidFill>
                  <a:srgbClr val="0E7C86"/>
                </a:solidFill>
                <a:latin typeface="Calibri"/>
              </a:rPr>
              <a:t>Shared notes pass between the agents, and each one runs its own reason-and-act loop</a:t>
            </a:r>
            <a:r>
              <a:rPr lang="de-CH" sz="1100" b="1" dirty="0">
                <a:solidFill>
                  <a:srgbClr val="0E7C86"/>
                </a:solidFill>
                <a:latin typeface="Calibri"/>
              </a:rPr>
              <a:t> (</a:t>
            </a:r>
            <a:r>
              <a:rPr lang="en-GB" sz="1100" b="1" dirty="0">
                <a:solidFill>
                  <a:srgbClr val="0E7C86"/>
                </a:solidFill>
              </a:rPr>
              <a:t>A2A shared context</a:t>
            </a:r>
            <a:r>
              <a:rPr lang="en-GB" sz="1100" b="1" dirty="0">
                <a:solidFill>
                  <a:srgbClr val="0E7C86"/>
                </a:solidFill>
                <a:latin typeface="Calibri"/>
              </a:rPr>
              <a:t>)</a:t>
            </a:r>
            <a:endParaRPr lang="en-GB" sz="1100" b="1" dirty="0">
              <a:solidFill>
                <a:srgbClr val="0E7C86"/>
              </a:solidFill>
            </a:endParaRPr>
          </a:p>
        </p:txBody>
      </p:sp>
      <p:sp>
        <p:nvSpPr>
          <p:cNvPr id="11" name="Rectangle 10"/>
          <p:cNvSpPr/>
          <p:nvPr/>
        </p:nvSpPr>
        <p:spPr>
          <a:xfrm>
            <a:off x="548640" y="2697480"/>
            <a:ext cx="2697480" cy="960120"/>
          </a:xfrm>
          <a:prstGeom prst="rect">
            <a:avLst/>
          </a:prstGeom>
          <a:solidFill>
            <a:srgbClr val="1E40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94360" y="2743200"/>
            <a:ext cx="2606040" cy="868680"/>
          </a:xfrm>
          <a:prstGeom prst="rect">
            <a:avLst/>
          </a:prstGeom>
          <a:noFill/>
        </p:spPr>
        <p:txBody>
          <a:bodyPr wrap="square" anchor="ctr">
            <a:spAutoFit/>
          </a:bodyPr>
          <a:lstStyle/>
          <a:p>
            <a:pPr algn="ctr">
              <a:lnSpc>
                <a:spcPct val="105000"/>
              </a:lnSpc>
              <a:spcAft>
                <a:spcPts val="600"/>
              </a:spcAft>
            </a:pPr>
            <a:r>
              <a:rPr sz="1300" b="1">
                <a:solidFill>
                  <a:srgbClr val="FFFFFF"/>
                </a:solidFill>
                <a:latin typeface="Calibri"/>
              </a:rPr>
              <a:t>Risk Intelligence</a:t>
            </a:r>
          </a:p>
          <a:p>
            <a:pPr algn="ctr">
              <a:lnSpc>
                <a:spcPct val="105000"/>
              </a:lnSpc>
              <a:spcAft>
                <a:spcPts val="600"/>
              </a:spcAft>
            </a:pPr>
            <a:r>
              <a:rPr sz="1050" b="0">
                <a:solidFill>
                  <a:srgbClr val="CFDAF0"/>
                </a:solidFill>
                <a:latin typeface="Calibri"/>
              </a:rPr>
              <a:t>watches the outside world</a:t>
            </a:r>
          </a:p>
        </p:txBody>
      </p:sp>
      <p:sp>
        <p:nvSpPr>
          <p:cNvPr id="13" name="Rectangle 12"/>
          <p:cNvSpPr/>
          <p:nvPr/>
        </p:nvSpPr>
        <p:spPr>
          <a:xfrm>
            <a:off x="3346704" y="2697480"/>
            <a:ext cx="2697480" cy="960120"/>
          </a:xfrm>
          <a:prstGeom prst="rect">
            <a:avLst/>
          </a:prstGeom>
          <a:solidFill>
            <a:srgbClr val="1E40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392424" y="2743200"/>
            <a:ext cx="2606040" cy="868680"/>
          </a:xfrm>
          <a:prstGeom prst="rect">
            <a:avLst/>
          </a:prstGeom>
          <a:noFill/>
        </p:spPr>
        <p:txBody>
          <a:bodyPr wrap="square" anchor="ctr">
            <a:spAutoFit/>
          </a:bodyPr>
          <a:lstStyle/>
          <a:p>
            <a:pPr algn="ctr">
              <a:lnSpc>
                <a:spcPct val="105000"/>
              </a:lnSpc>
              <a:spcAft>
                <a:spcPts val="600"/>
              </a:spcAft>
            </a:pPr>
            <a:r>
              <a:rPr sz="1300" b="1" dirty="0">
                <a:solidFill>
                  <a:srgbClr val="FFFFFF"/>
                </a:solidFill>
                <a:latin typeface="Calibri"/>
              </a:rPr>
              <a:t>Supplier Mapping</a:t>
            </a:r>
          </a:p>
          <a:p>
            <a:pPr algn="ctr">
              <a:lnSpc>
                <a:spcPct val="105000"/>
              </a:lnSpc>
              <a:spcAft>
                <a:spcPts val="600"/>
              </a:spcAft>
            </a:pPr>
            <a:r>
              <a:rPr sz="1050" b="0" dirty="0">
                <a:solidFill>
                  <a:srgbClr val="CFDAF0"/>
                </a:solidFill>
                <a:latin typeface="Calibri"/>
              </a:rPr>
              <a:t>traces the supply chain</a:t>
            </a:r>
          </a:p>
        </p:txBody>
      </p:sp>
      <p:sp>
        <p:nvSpPr>
          <p:cNvPr id="15" name="Rectangle 14"/>
          <p:cNvSpPr/>
          <p:nvPr/>
        </p:nvSpPr>
        <p:spPr>
          <a:xfrm>
            <a:off x="6144768" y="2697480"/>
            <a:ext cx="2697480" cy="960120"/>
          </a:xfrm>
          <a:prstGeom prst="rect">
            <a:avLst/>
          </a:prstGeom>
          <a:solidFill>
            <a:srgbClr val="1E40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190488" y="2743200"/>
            <a:ext cx="2606040" cy="868680"/>
          </a:xfrm>
          <a:prstGeom prst="rect">
            <a:avLst/>
          </a:prstGeom>
          <a:noFill/>
        </p:spPr>
        <p:txBody>
          <a:bodyPr wrap="square" anchor="ctr">
            <a:spAutoFit/>
          </a:bodyPr>
          <a:lstStyle/>
          <a:p>
            <a:pPr algn="ctr">
              <a:lnSpc>
                <a:spcPct val="105000"/>
              </a:lnSpc>
              <a:spcAft>
                <a:spcPts val="600"/>
              </a:spcAft>
            </a:pPr>
            <a:r>
              <a:rPr sz="1300" b="1">
                <a:solidFill>
                  <a:srgbClr val="FFFFFF"/>
                </a:solidFill>
                <a:latin typeface="Calibri"/>
              </a:rPr>
              <a:t>Arrival Forecast</a:t>
            </a:r>
          </a:p>
          <a:p>
            <a:pPr algn="ctr">
              <a:lnSpc>
                <a:spcPct val="105000"/>
              </a:lnSpc>
              <a:spcAft>
                <a:spcPts val="600"/>
              </a:spcAft>
            </a:pPr>
            <a:r>
              <a:rPr sz="1050" b="0">
                <a:solidFill>
                  <a:srgbClr val="CFDAF0"/>
                </a:solidFill>
                <a:latin typeface="Calibri"/>
              </a:rPr>
              <a:t>predicts real arrival dates</a:t>
            </a:r>
          </a:p>
        </p:txBody>
      </p:sp>
      <p:sp>
        <p:nvSpPr>
          <p:cNvPr id="17" name="Rectangle 16"/>
          <p:cNvSpPr/>
          <p:nvPr/>
        </p:nvSpPr>
        <p:spPr>
          <a:xfrm>
            <a:off x="8942832" y="2697480"/>
            <a:ext cx="2697480" cy="960120"/>
          </a:xfrm>
          <a:prstGeom prst="rect">
            <a:avLst/>
          </a:prstGeom>
          <a:solidFill>
            <a:srgbClr val="1E40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988552" y="2906472"/>
            <a:ext cx="2606040" cy="542136"/>
          </a:xfrm>
          <a:prstGeom prst="rect">
            <a:avLst/>
          </a:prstGeom>
          <a:noFill/>
        </p:spPr>
        <p:txBody>
          <a:bodyPr wrap="square" anchor="ctr">
            <a:spAutoFit/>
          </a:bodyPr>
          <a:lstStyle/>
          <a:p>
            <a:pPr algn="ctr">
              <a:lnSpc>
                <a:spcPct val="105000"/>
              </a:lnSpc>
              <a:spcAft>
                <a:spcPts val="600"/>
              </a:spcAft>
            </a:pPr>
            <a:r>
              <a:rPr sz="1300" b="1" dirty="0">
                <a:solidFill>
                  <a:srgbClr val="FFFFFF"/>
                </a:solidFill>
                <a:latin typeface="Calibri"/>
              </a:rPr>
              <a:t>Mitigation</a:t>
            </a:r>
          </a:p>
          <a:p>
            <a:pPr algn="ctr">
              <a:lnSpc>
                <a:spcPct val="105000"/>
              </a:lnSpc>
              <a:spcAft>
                <a:spcPts val="600"/>
              </a:spcAft>
            </a:pPr>
            <a:r>
              <a:rPr lang="de-CH" sz="1050" dirty="0">
                <a:solidFill>
                  <a:srgbClr val="CFDAF0"/>
                </a:solidFill>
                <a:latin typeface="Calibri"/>
              </a:rPr>
              <a:t>Score, plan &amp; </a:t>
            </a:r>
            <a:r>
              <a:rPr lang="de-CH" sz="1050" dirty="0" err="1">
                <a:solidFill>
                  <a:srgbClr val="CFDAF0"/>
                </a:solidFill>
                <a:latin typeface="Calibri"/>
              </a:rPr>
              <a:t>act</a:t>
            </a:r>
            <a:endParaRPr sz="1050" b="0" dirty="0">
              <a:solidFill>
                <a:srgbClr val="CFDAF0"/>
              </a:solidFill>
              <a:latin typeface="Calibri"/>
            </a:endParaRPr>
          </a:p>
        </p:txBody>
      </p:sp>
      <p:sp>
        <p:nvSpPr>
          <p:cNvPr id="19" name="Rectangle 18"/>
          <p:cNvSpPr/>
          <p:nvPr/>
        </p:nvSpPr>
        <p:spPr>
          <a:xfrm>
            <a:off x="548640" y="3840480"/>
            <a:ext cx="11064240" cy="38404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40080" y="3893299"/>
            <a:ext cx="10881360" cy="278410"/>
          </a:xfrm>
          <a:prstGeom prst="rect">
            <a:avLst/>
          </a:prstGeom>
          <a:noFill/>
        </p:spPr>
        <p:txBody>
          <a:bodyPr wrap="square" anchor="ctr">
            <a:spAutoFit/>
          </a:bodyPr>
          <a:lstStyle/>
          <a:p>
            <a:pPr algn="ctr">
              <a:lnSpc>
                <a:spcPct val="105000"/>
              </a:lnSpc>
              <a:spcAft>
                <a:spcPts val="600"/>
              </a:spcAft>
            </a:pPr>
            <a:r>
              <a:rPr lang="en-GB" sz="1200" b="1" dirty="0">
                <a:solidFill>
                  <a:srgbClr val="FFFFFF"/>
                </a:solidFill>
              </a:rPr>
              <a:t>MCP tool layer  (* = requires human approval)</a:t>
            </a:r>
          </a:p>
        </p:txBody>
      </p:sp>
      <p:sp>
        <p:nvSpPr>
          <p:cNvPr id="21" name="TextBox 20"/>
          <p:cNvSpPr txBox="1"/>
          <p:nvPr/>
        </p:nvSpPr>
        <p:spPr>
          <a:xfrm>
            <a:off x="594360" y="4297680"/>
            <a:ext cx="2606040" cy="1005840"/>
          </a:xfrm>
          <a:prstGeom prst="rect">
            <a:avLst/>
          </a:prstGeom>
          <a:noFill/>
        </p:spPr>
        <p:txBody>
          <a:bodyPr wrap="square" anchor="t">
            <a:spAutoFit/>
          </a:bodyPr>
          <a:lstStyle/>
          <a:p>
            <a:pPr algn="ctr">
              <a:lnSpc>
                <a:spcPct val="100000"/>
              </a:lnSpc>
              <a:spcAft>
                <a:spcPts val="100"/>
              </a:spcAft>
            </a:pPr>
            <a:r>
              <a:rPr sz="1050" b="0">
                <a:solidFill>
                  <a:srgbClr val="1A1A2E"/>
                </a:solidFill>
                <a:latin typeface="Calibri"/>
              </a:rPr>
              <a:t>Risk feed</a:t>
            </a:r>
          </a:p>
        </p:txBody>
      </p:sp>
      <p:sp>
        <p:nvSpPr>
          <p:cNvPr id="22" name="TextBox 21"/>
          <p:cNvSpPr txBox="1"/>
          <p:nvPr/>
        </p:nvSpPr>
        <p:spPr>
          <a:xfrm>
            <a:off x="3392424" y="4297680"/>
            <a:ext cx="2606040" cy="1005840"/>
          </a:xfrm>
          <a:prstGeom prst="rect">
            <a:avLst/>
          </a:prstGeom>
          <a:noFill/>
        </p:spPr>
        <p:txBody>
          <a:bodyPr wrap="square" anchor="t">
            <a:spAutoFit/>
          </a:bodyPr>
          <a:lstStyle/>
          <a:p>
            <a:pPr algn="ctr">
              <a:lnSpc>
                <a:spcPct val="100000"/>
              </a:lnSpc>
              <a:spcAft>
                <a:spcPts val="100"/>
              </a:spcAft>
            </a:pPr>
            <a:r>
              <a:rPr sz="1050" b="0">
                <a:solidFill>
                  <a:srgbClr val="1A1A2E"/>
                </a:solidFill>
                <a:latin typeface="Calibri"/>
              </a:rPr>
              <a:t>Supplier map</a:t>
            </a:r>
          </a:p>
          <a:p>
            <a:pPr algn="ctr">
              <a:lnSpc>
                <a:spcPct val="100000"/>
              </a:lnSpc>
              <a:spcAft>
                <a:spcPts val="100"/>
              </a:spcAft>
            </a:pPr>
            <a:r>
              <a:rPr sz="1050" b="0">
                <a:solidFill>
                  <a:srgbClr val="1A1A2E"/>
                </a:solidFill>
                <a:latin typeface="Calibri"/>
              </a:rPr>
              <a:t>Inventory</a:t>
            </a:r>
          </a:p>
        </p:txBody>
      </p:sp>
      <p:sp>
        <p:nvSpPr>
          <p:cNvPr id="23" name="TextBox 22"/>
          <p:cNvSpPr txBox="1"/>
          <p:nvPr/>
        </p:nvSpPr>
        <p:spPr>
          <a:xfrm>
            <a:off x="6190488" y="4297680"/>
            <a:ext cx="2606040" cy="1005840"/>
          </a:xfrm>
          <a:prstGeom prst="rect">
            <a:avLst/>
          </a:prstGeom>
          <a:noFill/>
        </p:spPr>
        <p:txBody>
          <a:bodyPr wrap="square" anchor="t">
            <a:spAutoFit/>
          </a:bodyPr>
          <a:lstStyle/>
          <a:p>
            <a:pPr algn="ctr">
              <a:lnSpc>
                <a:spcPct val="100000"/>
              </a:lnSpc>
              <a:spcAft>
                <a:spcPts val="100"/>
              </a:spcAft>
            </a:pPr>
            <a:r>
              <a:rPr sz="1050" b="0">
                <a:solidFill>
                  <a:srgbClr val="1A1A2E"/>
                </a:solidFill>
                <a:latin typeface="Calibri"/>
              </a:rPr>
              <a:t>Shipment tracker</a:t>
            </a:r>
          </a:p>
          <a:p>
            <a:pPr algn="ctr">
              <a:lnSpc>
                <a:spcPct val="100000"/>
              </a:lnSpc>
              <a:spcAft>
                <a:spcPts val="100"/>
              </a:spcAft>
            </a:pPr>
            <a:r>
              <a:rPr sz="1050" b="0">
                <a:solidFill>
                  <a:srgbClr val="1A1A2E"/>
                </a:solidFill>
                <a:latin typeface="Calibri"/>
              </a:rPr>
              <a:t>Arrival predictor</a:t>
            </a:r>
          </a:p>
          <a:p>
            <a:pPr algn="ctr">
              <a:lnSpc>
                <a:spcPct val="100000"/>
              </a:lnSpc>
              <a:spcAft>
                <a:spcPts val="100"/>
              </a:spcAft>
            </a:pPr>
            <a:r>
              <a:rPr sz="1050" b="0">
                <a:solidFill>
                  <a:srgbClr val="1A1A2E"/>
                </a:solidFill>
                <a:latin typeface="Calibri"/>
              </a:rPr>
              <a:t>Risk scorer</a:t>
            </a:r>
          </a:p>
        </p:txBody>
      </p:sp>
      <p:sp>
        <p:nvSpPr>
          <p:cNvPr id="24" name="TextBox 23"/>
          <p:cNvSpPr txBox="1"/>
          <p:nvPr/>
        </p:nvSpPr>
        <p:spPr>
          <a:xfrm>
            <a:off x="8988552" y="4297680"/>
            <a:ext cx="2606040" cy="1005840"/>
          </a:xfrm>
          <a:prstGeom prst="rect">
            <a:avLst/>
          </a:prstGeom>
          <a:noFill/>
        </p:spPr>
        <p:txBody>
          <a:bodyPr wrap="square" anchor="t">
            <a:spAutoFit/>
          </a:bodyPr>
          <a:lstStyle/>
          <a:p>
            <a:pPr algn="ctr">
              <a:lnSpc>
                <a:spcPct val="100000"/>
              </a:lnSpc>
              <a:spcAft>
                <a:spcPts val="100"/>
              </a:spcAft>
            </a:pPr>
            <a:r>
              <a:rPr sz="1050" b="0">
                <a:solidFill>
                  <a:srgbClr val="1A1A2E"/>
                </a:solidFill>
                <a:latin typeface="Calibri"/>
              </a:rPr>
              <a:t>Create purchase order *</a:t>
            </a:r>
          </a:p>
          <a:p>
            <a:pPr algn="ctr">
              <a:lnSpc>
                <a:spcPct val="100000"/>
              </a:lnSpc>
              <a:spcAft>
                <a:spcPts val="100"/>
              </a:spcAft>
            </a:pPr>
            <a:r>
              <a:rPr sz="1050" b="0">
                <a:solidFill>
                  <a:srgbClr val="1A1A2E"/>
                </a:solidFill>
                <a:latin typeface="Calibri"/>
              </a:rPr>
              <a:t>Expedite freight *</a:t>
            </a:r>
          </a:p>
          <a:p>
            <a:pPr algn="ctr">
              <a:lnSpc>
                <a:spcPct val="100000"/>
              </a:lnSpc>
              <a:spcAft>
                <a:spcPts val="100"/>
              </a:spcAft>
            </a:pPr>
            <a:r>
              <a:rPr sz="1050" b="0">
                <a:solidFill>
                  <a:srgbClr val="1A1A2E"/>
                </a:solidFill>
                <a:latin typeface="Calibri"/>
              </a:rPr>
              <a:t>Reschedule line *</a:t>
            </a:r>
          </a:p>
          <a:p>
            <a:pPr algn="ctr">
              <a:lnSpc>
                <a:spcPct val="100000"/>
              </a:lnSpc>
              <a:spcAft>
                <a:spcPts val="100"/>
              </a:spcAft>
            </a:pPr>
            <a:r>
              <a:rPr sz="1050" b="0">
                <a:solidFill>
                  <a:srgbClr val="1A1A2E"/>
                </a:solidFill>
                <a:latin typeface="Calibri"/>
              </a:rPr>
              <a:t>Notify people</a:t>
            </a:r>
          </a:p>
        </p:txBody>
      </p:sp>
      <p:sp>
        <p:nvSpPr>
          <p:cNvPr id="25" name="Rectangle 24"/>
          <p:cNvSpPr/>
          <p:nvPr/>
        </p:nvSpPr>
        <p:spPr>
          <a:xfrm>
            <a:off x="548640" y="5486400"/>
            <a:ext cx="11064240" cy="45720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40080" y="5579674"/>
            <a:ext cx="10881360" cy="270652"/>
          </a:xfrm>
          <a:prstGeom prst="rect">
            <a:avLst/>
          </a:prstGeom>
          <a:noFill/>
        </p:spPr>
        <p:txBody>
          <a:bodyPr wrap="square" anchor="ctr">
            <a:spAutoFit/>
          </a:bodyPr>
          <a:lstStyle/>
          <a:p>
            <a:pPr algn="ctr">
              <a:lnSpc>
                <a:spcPct val="105000"/>
              </a:lnSpc>
              <a:spcAft>
                <a:spcPts val="600"/>
              </a:spcAft>
            </a:pPr>
            <a:r>
              <a:rPr sz="1150" b="1" dirty="0">
                <a:solidFill>
                  <a:srgbClr val="0A1F6B"/>
                </a:solidFill>
                <a:latin typeface="Calibri"/>
              </a:rPr>
              <a:t>Connects to our real systems: </a:t>
            </a:r>
            <a:r>
              <a:rPr lang="de-CH" sz="1150" b="1" dirty="0">
                <a:solidFill>
                  <a:srgbClr val="0A1F6B"/>
                </a:solidFill>
                <a:latin typeface="Calibri"/>
              </a:rPr>
              <a:t>ERP</a:t>
            </a:r>
            <a:r>
              <a:rPr sz="1150" b="1" dirty="0">
                <a:solidFill>
                  <a:srgbClr val="0A1F6B"/>
                </a:solidFill>
                <a:latin typeface="Calibri"/>
              </a:rPr>
              <a:t>, transport and shipping data, factory-floor controls, the manufacturing system, and news and weather feeds.</a:t>
            </a:r>
          </a:p>
        </p:txBody>
      </p:sp>
      <p:sp>
        <p:nvSpPr>
          <p:cNvPr id="27" name="Rectangle 26"/>
          <p:cNvSpPr/>
          <p:nvPr/>
        </p:nvSpPr>
        <p:spPr>
          <a:xfrm>
            <a:off x="0" y="6510528"/>
            <a:ext cx="12191695" cy="347472"/>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292608" cy="68580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37744"/>
            <a:ext cx="10972800" cy="365760"/>
          </a:xfrm>
          <a:prstGeom prst="rect">
            <a:avLst/>
          </a:prstGeom>
          <a:noFill/>
        </p:spPr>
        <p:txBody>
          <a:bodyPr wrap="square" anchor="t">
            <a:spAutoFit/>
          </a:bodyPr>
          <a:lstStyle/>
          <a:p>
            <a:pPr algn="l">
              <a:lnSpc>
                <a:spcPct val="105000"/>
              </a:lnSpc>
              <a:spcAft>
                <a:spcPts val="600"/>
              </a:spcAft>
            </a:pPr>
            <a:r>
              <a:rPr sz="1300" b="1">
                <a:solidFill>
                  <a:srgbClr val="555555"/>
                </a:solidFill>
                <a:latin typeface="Calibri"/>
              </a:rPr>
              <a:t>WHY THIS DESIGN</a:t>
            </a:r>
          </a:p>
        </p:txBody>
      </p:sp>
      <p:sp>
        <p:nvSpPr>
          <p:cNvPr id="4" name="TextBox 3"/>
          <p:cNvSpPr txBox="1"/>
          <p:nvPr/>
        </p:nvSpPr>
        <p:spPr>
          <a:xfrm>
            <a:off x="502920" y="530352"/>
            <a:ext cx="11247120" cy="822960"/>
          </a:xfrm>
          <a:prstGeom prst="rect">
            <a:avLst/>
          </a:prstGeom>
          <a:noFill/>
        </p:spPr>
        <p:txBody>
          <a:bodyPr wrap="square" anchor="t">
            <a:spAutoFit/>
          </a:bodyPr>
          <a:lstStyle/>
          <a:p>
            <a:pPr algn="l">
              <a:lnSpc>
                <a:spcPct val="105000"/>
              </a:lnSpc>
              <a:spcAft>
                <a:spcPts val="600"/>
              </a:spcAft>
            </a:pPr>
            <a:r>
              <a:rPr sz="2700" b="1">
                <a:solidFill>
                  <a:srgbClr val="0A1F6B"/>
                </a:solidFill>
                <a:latin typeface="Calibri"/>
              </a:rPr>
              <a:t>4. Why we chose a supervisor over the alternatives</a:t>
            </a:r>
          </a:p>
        </p:txBody>
      </p:sp>
      <p:sp>
        <p:nvSpPr>
          <p:cNvPr id="5" name="Rectangle 4"/>
          <p:cNvSpPr/>
          <p:nvPr/>
        </p:nvSpPr>
        <p:spPr>
          <a:xfrm>
            <a:off x="548640" y="1243584"/>
            <a:ext cx="2011680" cy="54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6" name="Table 5"/>
          <p:cNvGraphicFramePr>
            <a:graphicFrameLocks noGrp="1"/>
          </p:cNvGraphicFramePr>
          <p:nvPr>
            <p:extLst>
              <p:ext uri="{D42A27DB-BD31-4B8C-83A1-F6EECF244321}">
                <p14:modId xmlns:p14="http://schemas.microsoft.com/office/powerpoint/2010/main" val="2783326891"/>
              </p:ext>
            </p:extLst>
          </p:nvPr>
        </p:nvGraphicFramePr>
        <p:xfrm>
          <a:off x="548640" y="1463040"/>
          <a:ext cx="11064240" cy="3566160"/>
        </p:xfrm>
        <a:graphic>
          <a:graphicData uri="http://schemas.openxmlformats.org/drawingml/2006/table">
            <a:tbl>
              <a:tblPr firstRow="1" bandRow="1">
                <a:tableStyleId>{5C22544A-7EE6-4342-B048-85BDC9FD1C3A}</a:tableStyleId>
              </a:tblPr>
              <a:tblGrid>
                <a:gridCol w="329184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6400800">
                  <a:extLst>
                    <a:ext uri="{9D8B030D-6E8A-4147-A177-3AD203B41FA5}">
                      <a16:colId xmlns:a16="http://schemas.microsoft.com/office/drawing/2014/main" val="20002"/>
                    </a:ext>
                  </a:extLst>
                </a:gridCol>
              </a:tblGrid>
              <a:tr h="713232">
                <a:tc>
                  <a:txBody>
                    <a:bodyPr/>
                    <a:lstStyle/>
                    <a:p>
                      <a:r>
                        <a:rPr sz="1250" b="1">
                          <a:solidFill>
                            <a:srgbClr val="FFFFFF"/>
                          </a:solidFill>
                          <a:latin typeface="Calibri"/>
                        </a:rPr>
                        <a:t>The option</a:t>
                      </a:r>
                    </a:p>
                  </a:txBody>
                  <a:tcPr>
                    <a:solidFill>
                      <a:srgbClr val="0A1F6B"/>
                    </a:solidFill>
                  </a:tcPr>
                </a:tc>
                <a:tc>
                  <a:txBody>
                    <a:bodyPr/>
                    <a:lstStyle/>
                    <a:p>
                      <a:r>
                        <a:rPr sz="1250" b="1">
                          <a:solidFill>
                            <a:srgbClr val="FFFFFF"/>
                          </a:solidFill>
                          <a:latin typeface="Calibri"/>
                        </a:rPr>
                        <a:t>Verdict</a:t>
                      </a:r>
                    </a:p>
                  </a:txBody>
                  <a:tcPr>
                    <a:solidFill>
                      <a:srgbClr val="0A1F6B"/>
                    </a:solidFill>
                  </a:tcPr>
                </a:tc>
                <a:tc>
                  <a:txBody>
                    <a:bodyPr/>
                    <a:lstStyle/>
                    <a:p>
                      <a:r>
                        <a:rPr sz="1250" b="1">
                          <a:solidFill>
                            <a:srgbClr val="FFFFFF"/>
                          </a:solidFill>
                          <a:latin typeface="Calibri"/>
                        </a:rPr>
                        <a:t>The reason</a:t>
                      </a:r>
                    </a:p>
                  </a:txBody>
                  <a:tcPr>
                    <a:solidFill>
                      <a:srgbClr val="0A1F6B"/>
                    </a:solidFill>
                  </a:tcPr>
                </a:tc>
                <a:extLst>
                  <a:ext uri="{0D108BD9-81ED-4DB2-BD59-A6C34878D82A}">
                    <a16:rowId xmlns:a16="http://schemas.microsoft.com/office/drawing/2014/main" val="10000"/>
                  </a:ext>
                </a:extLst>
              </a:tr>
              <a:tr h="713232">
                <a:tc>
                  <a:txBody>
                    <a:bodyPr/>
                    <a:lstStyle/>
                    <a:p>
                      <a:r>
                        <a:rPr sz="1250">
                          <a:solidFill>
                            <a:srgbClr val="1A1A2E"/>
                          </a:solidFill>
                          <a:latin typeface="Calibri"/>
                        </a:rPr>
                        <a:t>One agent holding every tool</a:t>
                      </a:r>
                    </a:p>
                  </a:txBody>
                  <a:tcPr>
                    <a:solidFill>
                      <a:srgbClr val="FFFFFF"/>
                    </a:solidFill>
                  </a:tcPr>
                </a:tc>
                <a:tc>
                  <a:txBody>
                    <a:bodyPr/>
                    <a:lstStyle/>
                    <a:p>
                      <a:r>
                        <a:rPr sz="1300">
                          <a:solidFill>
                            <a:srgbClr val="1A1A2E"/>
                          </a:solidFill>
                          <a:latin typeface="Calibri"/>
                        </a:rPr>
                        <a:t>Rejected</a:t>
                      </a:r>
                    </a:p>
                  </a:txBody>
                  <a:tcPr>
                    <a:solidFill>
                      <a:srgbClr val="FFFFFF"/>
                    </a:solidFill>
                  </a:tcPr>
                </a:tc>
                <a:tc>
                  <a:txBody>
                    <a:bodyPr/>
                    <a:lstStyle/>
                    <a:p>
                      <a:r>
                        <a:rPr sz="1300" dirty="0">
                          <a:solidFill>
                            <a:srgbClr val="1A1A2E"/>
                          </a:solidFill>
                          <a:latin typeface="Calibri"/>
                        </a:rPr>
                        <a:t>Too many tools means poor decisions; context explodes; cannot be expert at everything</a:t>
                      </a:r>
                    </a:p>
                  </a:txBody>
                  <a:tcPr>
                    <a:solidFill>
                      <a:srgbClr val="FFFFFF"/>
                    </a:solidFill>
                  </a:tcPr>
                </a:tc>
                <a:extLst>
                  <a:ext uri="{0D108BD9-81ED-4DB2-BD59-A6C34878D82A}">
                    <a16:rowId xmlns:a16="http://schemas.microsoft.com/office/drawing/2014/main" val="10001"/>
                  </a:ext>
                </a:extLst>
              </a:tr>
              <a:tr h="713232">
                <a:tc>
                  <a:txBody>
                    <a:bodyPr/>
                    <a:lstStyle/>
                    <a:p>
                      <a:r>
                        <a:rPr sz="1300">
                          <a:solidFill>
                            <a:srgbClr val="1A1A2E"/>
                          </a:solidFill>
                          <a:latin typeface="Calibri"/>
                        </a:rPr>
                        <a:t>Decentralized peer-to-peer</a:t>
                      </a:r>
                    </a:p>
                  </a:txBody>
                  <a:tcPr>
                    <a:solidFill>
                      <a:srgbClr val="F2F4F8"/>
                    </a:solidFill>
                  </a:tcPr>
                </a:tc>
                <a:tc>
                  <a:txBody>
                    <a:bodyPr/>
                    <a:lstStyle/>
                    <a:p>
                      <a:r>
                        <a:rPr sz="1300" dirty="0">
                          <a:solidFill>
                            <a:srgbClr val="1A1A2E"/>
                          </a:solidFill>
                          <a:latin typeface="Calibri"/>
                        </a:rPr>
                        <a:t>Rejected</a:t>
                      </a:r>
                    </a:p>
                  </a:txBody>
                  <a:tcPr>
                    <a:solidFill>
                      <a:srgbClr val="F2F4F8"/>
                    </a:solidFill>
                  </a:tcPr>
                </a:tc>
                <a:tc>
                  <a:txBody>
                    <a:bodyPr/>
                    <a:lstStyle/>
                    <a:p>
                      <a:r>
                        <a:rPr sz="1300">
                          <a:solidFill>
                            <a:srgbClr val="1A1A2E"/>
                          </a:solidFill>
                          <a:latin typeface="Calibri"/>
                        </a:rPr>
                        <a:t>Hard to predict and debug; no clear accountability for a 3 million dollar decision</a:t>
                      </a:r>
                    </a:p>
                  </a:txBody>
                  <a:tcPr>
                    <a:solidFill>
                      <a:srgbClr val="F2F4F8"/>
                    </a:solidFill>
                  </a:tcPr>
                </a:tc>
                <a:extLst>
                  <a:ext uri="{0D108BD9-81ED-4DB2-BD59-A6C34878D82A}">
                    <a16:rowId xmlns:a16="http://schemas.microsoft.com/office/drawing/2014/main" val="10002"/>
                  </a:ext>
                </a:extLst>
              </a:tr>
              <a:tr h="713232">
                <a:tc>
                  <a:txBody>
                    <a:bodyPr/>
                    <a:lstStyle/>
                    <a:p>
                      <a:r>
                        <a:rPr sz="1300">
                          <a:solidFill>
                            <a:srgbClr val="1A1A2E"/>
                          </a:solidFill>
                          <a:latin typeface="Calibri"/>
                        </a:rPr>
                        <a:t>Orchestrator / Supervisor</a:t>
                      </a:r>
                    </a:p>
                  </a:txBody>
                  <a:tcPr>
                    <a:solidFill>
                      <a:srgbClr val="FFFFFF"/>
                    </a:solidFill>
                  </a:tcPr>
                </a:tc>
                <a:tc>
                  <a:txBody>
                    <a:bodyPr/>
                    <a:lstStyle/>
                    <a:p>
                      <a:r>
                        <a:rPr sz="1250">
                          <a:solidFill>
                            <a:srgbClr val="1A1A2E"/>
                          </a:solidFill>
                          <a:latin typeface="Calibri"/>
                        </a:rPr>
                        <a:t>Our choice</a:t>
                      </a:r>
                    </a:p>
                  </a:txBody>
                  <a:tcPr>
                    <a:solidFill>
                      <a:srgbClr val="FFFFFF"/>
                    </a:solidFill>
                  </a:tcPr>
                </a:tc>
                <a:tc>
                  <a:txBody>
                    <a:bodyPr/>
                    <a:lstStyle/>
                    <a:p>
                      <a:r>
                        <a:rPr sz="1300">
                          <a:solidFill>
                            <a:srgbClr val="1A1A2E"/>
                          </a:solidFill>
                          <a:latin typeface="Calibri"/>
                        </a:rPr>
                        <a:t>Clear accountability and control, simple to debug, divides work to specialists, auditable</a:t>
                      </a:r>
                    </a:p>
                  </a:txBody>
                  <a:tcPr>
                    <a:solidFill>
                      <a:srgbClr val="FFFFFF"/>
                    </a:solidFill>
                  </a:tcPr>
                </a:tc>
                <a:extLst>
                  <a:ext uri="{0D108BD9-81ED-4DB2-BD59-A6C34878D82A}">
                    <a16:rowId xmlns:a16="http://schemas.microsoft.com/office/drawing/2014/main" val="10003"/>
                  </a:ext>
                </a:extLst>
              </a:tr>
              <a:tr h="713232">
                <a:tc>
                  <a:txBody>
                    <a:bodyPr/>
                    <a:lstStyle/>
                    <a:p>
                      <a:r>
                        <a:rPr sz="1300" dirty="0">
                          <a:solidFill>
                            <a:srgbClr val="1A1A2E"/>
                          </a:solidFill>
                          <a:latin typeface="Calibri"/>
                        </a:rPr>
                        <a:t>Hierarchical (CEO to worker)</a:t>
                      </a:r>
                    </a:p>
                  </a:txBody>
                  <a:tcPr>
                    <a:solidFill>
                      <a:srgbClr val="F2F4F8"/>
                    </a:solidFill>
                  </a:tcPr>
                </a:tc>
                <a:tc>
                  <a:txBody>
                    <a:bodyPr/>
                    <a:lstStyle/>
                    <a:p>
                      <a:r>
                        <a:rPr lang="de-CH" sz="1250" dirty="0">
                          <a:solidFill>
                            <a:srgbClr val="1A1A2E"/>
                          </a:solidFill>
                          <a:latin typeface="Calibri"/>
                        </a:rPr>
                        <a:t>Future</a:t>
                      </a:r>
                      <a:endParaRPr sz="1250" dirty="0">
                        <a:solidFill>
                          <a:srgbClr val="1A1A2E"/>
                        </a:solidFill>
                        <a:latin typeface="Calibri"/>
                      </a:endParaRPr>
                    </a:p>
                  </a:txBody>
                  <a:tcPr>
                    <a:solidFill>
                      <a:srgbClr val="F2F4F8"/>
                    </a:solidFill>
                  </a:tcPr>
                </a:tc>
                <a:tc>
                  <a:txBody>
                    <a:bodyPr/>
                    <a:lstStyle/>
                    <a:p>
                      <a:r>
                        <a:rPr sz="1300" dirty="0">
                          <a:solidFill>
                            <a:srgbClr val="1A1A2E"/>
                          </a:solidFill>
                          <a:latin typeface="Calibri"/>
                        </a:rPr>
                        <a:t>Overkill for the MVP; the natural growth path as we add the other case challenges</a:t>
                      </a:r>
                    </a:p>
                  </a:txBody>
                  <a:tcPr>
                    <a:solidFill>
                      <a:srgbClr val="F2F4F8"/>
                    </a:solidFill>
                  </a:tcPr>
                </a:tc>
                <a:extLst>
                  <a:ext uri="{0D108BD9-81ED-4DB2-BD59-A6C34878D82A}">
                    <a16:rowId xmlns:a16="http://schemas.microsoft.com/office/drawing/2014/main" val="10004"/>
                  </a:ext>
                </a:extLst>
              </a:tr>
            </a:tbl>
          </a:graphicData>
        </a:graphic>
      </p:graphicFrame>
      <p:sp>
        <p:nvSpPr>
          <p:cNvPr id="7" name="Rectangle 6"/>
          <p:cNvSpPr/>
          <p:nvPr/>
        </p:nvSpPr>
        <p:spPr>
          <a:xfrm>
            <a:off x="548640" y="5440680"/>
            <a:ext cx="11064240" cy="86868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5532120"/>
            <a:ext cx="10698480" cy="713232"/>
          </a:xfrm>
          <a:prstGeom prst="rect">
            <a:avLst/>
          </a:prstGeom>
          <a:noFill/>
        </p:spPr>
        <p:txBody>
          <a:bodyPr wrap="square" anchor="ctr">
            <a:spAutoFit/>
          </a:bodyPr>
          <a:lstStyle/>
          <a:p>
            <a:pPr algn="l">
              <a:lnSpc>
                <a:spcPct val="105000"/>
              </a:lnSpc>
              <a:spcAft>
                <a:spcPts val="600"/>
              </a:spcAft>
            </a:pPr>
            <a:r>
              <a:rPr sz="1350" b="1">
                <a:solidFill>
                  <a:srgbClr val="0E7C86"/>
                </a:solidFill>
                <a:latin typeface="Calibri"/>
              </a:rPr>
              <a:t>The trade-off we accept: </a:t>
            </a:r>
            <a:r>
              <a:rPr sz="1350" b="0">
                <a:solidFill>
                  <a:srgbClr val="1A1A2E"/>
                </a:solidFill>
                <a:latin typeface="Calibri"/>
              </a:rPr>
              <a:t>a few more moving parts and a little extra coordination, which we keep in check with a light supervisor and tightly limited tools. A simple automation script could never reason about a brand-new supplier chain, or sensibly decide not to rush a shipment.</a:t>
            </a:r>
          </a:p>
        </p:txBody>
      </p:sp>
      <p:sp>
        <p:nvSpPr>
          <p:cNvPr id="9" name="Rectangle 8"/>
          <p:cNvSpPr/>
          <p:nvPr/>
        </p:nvSpPr>
        <p:spPr>
          <a:xfrm>
            <a:off x="0" y="6510528"/>
            <a:ext cx="12191695" cy="347472"/>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292608" cy="68580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37744"/>
            <a:ext cx="10972800" cy="365760"/>
          </a:xfrm>
          <a:prstGeom prst="rect">
            <a:avLst/>
          </a:prstGeom>
          <a:noFill/>
        </p:spPr>
        <p:txBody>
          <a:bodyPr wrap="square" anchor="t">
            <a:spAutoFit/>
          </a:bodyPr>
          <a:lstStyle/>
          <a:p>
            <a:pPr algn="l">
              <a:lnSpc>
                <a:spcPct val="105000"/>
              </a:lnSpc>
              <a:spcAft>
                <a:spcPts val="600"/>
              </a:spcAft>
            </a:pPr>
            <a:r>
              <a:rPr sz="1300" b="1">
                <a:solidFill>
                  <a:srgbClr val="555555"/>
                </a:solidFill>
                <a:latin typeface="Calibri"/>
              </a:rPr>
              <a:t>TOOLS AND ACTIONS</a:t>
            </a:r>
          </a:p>
        </p:txBody>
      </p:sp>
      <p:sp>
        <p:nvSpPr>
          <p:cNvPr id="4" name="TextBox 3"/>
          <p:cNvSpPr txBox="1"/>
          <p:nvPr/>
        </p:nvSpPr>
        <p:spPr>
          <a:xfrm>
            <a:off x="502920" y="530352"/>
            <a:ext cx="11247120" cy="822960"/>
          </a:xfrm>
          <a:prstGeom prst="rect">
            <a:avLst/>
          </a:prstGeom>
          <a:noFill/>
        </p:spPr>
        <p:txBody>
          <a:bodyPr wrap="square" anchor="t">
            <a:spAutoFit/>
          </a:bodyPr>
          <a:lstStyle/>
          <a:p>
            <a:pPr algn="l">
              <a:lnSpc>
                <a:spcPct val="105000"/>
              </a:lnSpc>
              <a:spcAft>
                <a:spcPts val="600"/>
              </a:spcAft>
            </a:pPr>
            <a:r>
              <a:rPr sz="2700" b="1">
                <a:solidFill>
                  <a:srgbClr val="0A1F6B"/>
                </a:solidFill>
                <a:latin typeface="Calibri"/>
              </a:rPr>
              <a:t>5. The agent decides, the tools carry out the work</a:t>
            </a:r>
          </a:p>
        </p:txBody>
      </p:sp>
      <p:sp>
        <p:nvSpPr>
          <p:cNvPr id="5" name="Rectangle 4"/>
          <p:cNvSpPr/>
          <p:nvPr/>
        </p:nvSpPr>
        <p:spPr>
          <a:xfrm>
            <a:off x="548640" y="1243584"/>
            <a:ext cx="2011680" cy="54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371600"/>
            <a:ext cx="11064240" cy="457200"/>
          </a:xfrm>
          <a:prstGeom prst="rect">
            <a:avLst/>
          </a:prstGeom>
          <a:noFill/>
        </p:spPr>
        <p:txBody>
          <a:bodyPr wrap="square" anchor="t">
            <a:spAutoFit/>
          </a:bodyPr>
          <a:lstStyle/>
          <a:p>
            <a:pPr algn="l">
              <a:lnSpc>
                <a:spcPct val="105000"/>
              </a:lnSpc>
              <a:spcAft>
                <a:spcPts val="600"/>
              </a:spcAft>
            </a:pPr>
            <a:r>
              <a:rPr sz="1350" b="0">
                <a:solidFill>
                  <a:srgbClr val="1A1A2E"/>
                </a:solidFill>
                <a:latin typeface="Calibri"/>
              </a:rPr>
              <a:t>Each tool is passive and does one job when asked. The agent is the one that decides which tool to use, and when.</a:t>
            </a:r>
          </a:p>
        </p:txBody>
      </p:sp>
      <p:graphicFrame>
        <p:nvGraphicFramePr>
          <p:cNvPr id="7" name="Table 6"/>
          <p:cNvGraphicFramePr>
            <a:graphicFrameLocks noGrp="1"/>
          </p:cNvGraphicFramePr>
          <p:nvPr/>
        </p:nvGraphicFramePr>
        <p:xfrm>
          <a:off x="548640" y="1874519"/>
          <a:ext cx="11064240" cy="4425696"/>
        </p:xfrm>
        <a:graphic>
          <a:graphicData uri="http://schemas.openxmlformats.org/drawingml/2006/table">
            <a:tbl>
              <a:tblPr firstRow="1" bandRow="1">
                <a:tableStyleId>{5C22544A-7EE6-4342-B048-85BDC9FD1C3A}</a:tableStyleId>
              </a:tblPr>
              <a:tblGrid>
                <a:gridCol w="246888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5577840">
                  <a:extLst>
                    <a:ext uri="{9D8B030D-6E8A-4147-A177-3AD203B41FA5}">
                      <a16:colId xmlns:a16="http://schemas.microsoft.com/office/drawing/2014/main" val="20003"/>
                    </a:ext>
                  </a:extLst>
                </a:gridCol>
              </a:tblGrid>
              <a:tr h="402336">
                <a:tc>
                  <a:txBody>
                    <a:bodyPr/>
                    <a:lstStyle/>
                    <a:p>
                      <a:r>
                        <a:rPr sz="1150" b="1">
                          <a:solidFill>
                            <a:srgbClr val="FFFFFF"/>
                          </a:solidFill>
                          <a:latin typeface="Calibri"/>
                        </a:rPr>
                        <a:t>Tool</a:t>
                      </a:r>
                    </a:p>
                  </a:txBody>
                  <a:tcPr>
                    <a:solidFill>
                      <a:srgbClr val="0A1F6B"/>
                    </a:solidFill>
                  </a:tcPr>
                </a:tc>
                <a:tc>
                  <a:txBody>
                    <a:bodyPr/>
                    <a:lstStyle/>
                    <a:p>
                      <a:r>
                        <a:rPr sz="1150" b="1">
                          <a:solidFill>
                            <a:srgbClr val="FFFFFF"/>
                          </a:solidFill>
                          <a:latin typeface="Calibri"/>
                        </a:rPr>
                        <a:t>Kind</a:t>
                      </a:r>
                    </a:p>
                  </a:txBody>
                  <a:tcPr>
                    <a:solidFill>
                      <a:srgbClr val="0A1F6B"/>
                    </a:solidFill>
                  </a:tcPr>
                </a:tc>
                <a:tc>
                  <a:txBody>
                    <a:bodyPr/>
                    <a:lstStyle/>
                    <a:p>
                      <a:r>
                        <a:rPr sz="1150" b="1">
                          <a:solidFill>
                            <a:srgbClr val="FFFFFF"/>
                          </a:solidFill>
                          <a:latin typeface="Calibri"/>
                        </a:rPr>
                        <a:t>Needs approval</a:t>
                      </a:r>
                    </a:p>
                  </a:txBody>
                  <a:tcPr>
                    <a:solidFill>
                      <a:srgbClr val="0A1F6B"/>
                    </a:solidFill>
                  </a:tcPr>
                </a:tc>
                <a:tc>
                  <a:txBody>
                    <a:bodyPr/>
                    <a:lstStyle/>
                    <a:p>
                      <a:r>
                        <a:rPr sz="1150" b="1">
                          <a:solidFill>
                            <a:srgbClr val="FFFFFF"/>
                          </a:solidFill>
                          <a:latin typeface="Calibri"/>
                        </a:rPr>
                        <a:t>What it does</a:t>
                      </a:r>
                    </a:p>
                  </a:txBody>
                  <a:tcPr>
                    <a:solidFill>
                      <a:srgbClr val="0A1F6B"/>
                    </a:solidFill>
                  </a:tcPr>
                </a:tc>
                <a:extLst>
                  <a:ext uri="{0D108BD9-81ED-4DB2-BD59-A6C34878D82A}">
                    <a16:rowId xmlns:a16="http://schemas.microsoft.com/office/drawing/2014/main" val="10000"/>
                  </a:ext>
                </a:extLst>
              </a:tr>
              <a:tr h="402336">
                <a:tc>
                  <a:txBody>
                    <a:bodyPr/>
                    <a:lstStyle/>
                    <a:p>
                      <a:r>
                        <a:rPr sz="1150">
                          <a:solidFill>
                            <a:srgbClr val="1A1A2E"/>
                          </a:solidFill>
                          <a:latin typeface="Calibri"/>
                        </a:rPr>
                        <a:t>Supplier map</a:t>
                      </a:r>
                    </a:p>
                  </a:txBody>
                  <a:tcPr>
                    <a:solidFill>
                      <a:srgbClr val="FFFFFF"/>
                    </a:solidFill>
                  </a:tcPr>
                </a:tc>
                <a:tc>
                  <a:txBody>
                    <a:bodyPr/>
                    <a:lstStyle/>
                    <a:p>
                      <a:r>
                        <a:rPr sz="1150">
                          <a:solidFill>
                            <a:srgbClr val="1A1A2E"/>
                          </a:solidFill>
                          <a:latin typeface="Calibri"/>
                        </a:rPr>
                        <a:t>read</a:t>
                      </a:r>
                    </a:p>
                  </a:txBody>
                  <a:tcPr>
                    <a:solidFill>
                      <a:srgbClr val="FFFFFF"/>
                    </a:solidFill>
                  </a:tcPr>
                </a:tc>
                <a:tc>
                  <a:txBody>
                    <a:bodyPr/>
                    <a:lstStyle/>
                    <a:p>
                      <a:r>
                        <a:rPr sz="1150">
                          <a:solidFill>
                            <a:srgbClr val="1A1A2E"/>
                          </a:solidFill>
                          <a:latin typeface="Calibri"/>
                        </a:rPr>
                        <a:t>no</a:t>
                      </a:r>
                    </a:p>
                  </a:txBody>
                  <a:tcPr>
                    <a:solidFill>
                      <a:srgbClr val="FFFFFF"/>
                    </a:solidFill>
                  </a:tcPr>
                </a:tc>
                <a:tc>
                  <a:txBody>
                    <a:bodyPr/>
                    <a:lstStyle/>
                    <a:p>
                      <a:r>
                        <a:rPr sz="1150">
                          <a:solidFill>
                            <a:srgbClr val="1A1A2E"/>
                          </a:solidFill>
                          <a:latin typeface="Calibri"/>
                        </a:rPr>
                        <a:t>Traces dependencies through every supplier tier and finds approved alternates</a:t>
                      </a:r>
                    </a:p>
                  </a:txBody>
                  <a:tcPr>
                    <a:solidFill>
                      <a:srgbClr val="FFFFFF"/>
                    </a:solidFill>
                  </a:tcPr>
                </a:tc>
                <a:extLst>
                  <a:ext uri="{0D108BD9-81ED-4DB2-BD59-A6C34878D82A}">
                    <a16:rowId xmlns:a16="http://schemas.microsoft.com/office/drawing/2014/main" val="10001"/>
                  </a:ext>
                </a:extLst>
              </a:tr>
              <a:tr h="402336">
                <a:tc>
                  <a:txBody>
                    <a:bodyPr/>
                    <a:lstStyle/>
                    <a:p>
                      <a:r>
                        <a:rPr sz="1150">
                          <a:solidFill>
                            <a:srgbClr val="1A1A2E"/>
                          </a:solidFill>
                          <a:latin typeface="Calibri"/>
                        </a:rPr>
                        <a:t>Shipment tracker</a:t>
                      </a:r>
                    </a:p>
                  </a:txBody>
                  <a:tcPr>
                    <a:solidFill>
                      <a:srgbClr val="F2F4F8"/>
                    </a:solidFill>
                  </a:tcPr>
                </a:tc>
                <a:tc>
                  <a:txBody>
                    <a:bodyPr/>
                    <a:lstStyle/>
                    <a:p>
                      <a:r>
                        <a:rPr sz="1150">
                          <a:solidFill>
                            <a:srgbClr val="1A1A2E"/>
                          </a:solidFill>
                          <a:latin typeface="Calibri"/>
                        </a:rPr>
                        <a:t>read</a:t>
                      </a:r>
                    </a:p>
                  </a:txBody>
                  <a:tcPr>
                    <a:solidFill>
                      <a:srgbClr val="F2F4F8"/>
                    </a:solidFill>
                  </a:tcPr>
                </a:tc>
                <a:tc>
                  <a:txBody>
                    <a:bodyPr/>
                    <a:lstStyle/>
                    <a:p>
                      <a:r>
                        <a:rPr sz="1150">
                          <a:solidFill>
                            <a:srgbClr val="1A1A2E"/>
                          </a:solidFill>
                          <a:latin typeface="Calibri"/>
                        </a:rPr>
                        <a:t>no</a:t>
                      </a:r>
                    </a:p>
                  </a:txBody>
                  <a:tcPr>
                    <a:solidFill>
                      <a:srgbClr val="F2F4F8"/>
                    </a:solidFill>
                  </a:tcPr>
                </a:tc>
                <a:tc>
                  <a:txBody>
                    <a:bodyPr/>
                    <a:lstStyle/>
                    <a:p>
                      <a:r>
                        <a:rPr sz="1150">
                          <a:solidFill>
                            <a:srgbClr val="1A1A2E"/>
                          </a:solidFill>
                          <a:latin typeface="Calibri"/>
                        </a:rPr>
                        <a:t>Brings scattered shipping updates into a single, clear view</a:t>
                      </a:r>
                    </a:p>
                  </a:txBody>
                  <a:tcPr>
                    <a:solidFill>
                      <a:srgbClr val="F2F4F8"/>
                    </a:solidFill>
                  </a:tcPr>
                </a:tc>
                <a:extLst>
                  <a:ext uri="{0D108BD9-81ED-4DB2-BD59-A6C34878D82A}">
                    <a16:rowId xmlns:a16="http://schemas.microsoft.com/office/drawing/2014/main" val="10002"/>
                  </a:ext>
                </a:extLst>
              </a:tr>
              <a:tr h="402336">
                <a:tc>
                  <a:txBody>
                    <a:bodyPr/>
                    <a:lstStyle/>
                    <a:p>
                      <a:r>
                        <a:rPr sz="1150">
                          <a:solidFill>
                            <a:srgbClr val="1A1A2E"/>
                          </a:solidFill>
                          <a:latin typeface="Calibri"/>
                        </a:rPr>
                        <a:t>Inventory</a:t>
                      </a:r>
                    </a:p>
                  </a:txBody>
                  <a:tcPr>
                    <a:solidFill>
                      <a:srgbClr val="FFFFFF"/>
                    </a:solidFill>
                  </a:tcPr>
                </a:tc>
                <a:tc>
                  <a:txBody>
                    <a:bodyPr/>
                    <a:lstStyle/>
                    <a:p>
                      <a:r>
                        <a:rPr sz="1150">
                          <a:solidFill>
                            <a:srgbClr val="1A1A2E"/>
                          </a:solidFill>
                          <a:latin typeface="Calibri"/>
                        </a:rPr>
                        <a:t>read</a:t>
                      </a:r>
                    </a:p>
                  </a:txBody>
                  <a:tcPr>
                    <a:solidFill>
                      <a:srgbClr val="FFFFFF"/>
                    </a:solidFill>
                  </a:tcPr>
                </a:tc>
                <a:tc>
                  <a:txBody>
                    <a:bodyPr/>
                    <a:lstStyle/>
                    <a:p>
                      <a:r>
                        <a:rPr sz="1150">
                          <a:solidFill>
                            <a:srgbClr val="1A1A2E"/>
                          </a:solidFill>
                          <a:latin typeface="Calibri"/>
                        </a:rPr>
                        <a:t>no</a:t>
                      </a:r>
                    </a:p>
                  </a:txBody>
                  <a:tcPr>
                    <a:solidFill>
                      <a:srgbClr val="FFFFFF"/>
                    </a:solidFill>
                  </a:tcPr>
                </a:tc>
                <a:tc>
                  <a:txBody>
                    <a:bodyPr/>
                    <a:lstStyle/>
                    <a:p>
                      <a:r>
                        <a:rPr sz="1150">
                          <a:solidFill>
                            <a:srgbClr val="1A1A2E"/>
                          </a:solidFill>
                          <a:latin typeface="Calibri"/>
                        </a:rPr>
                        <a:t>Shows stock on hand, safety stock and days of cover left</a:t>
                      </a:r>
                    </a:p>
                  </a:txBody>
                  <a:tcPr>
                    <a:solidFill>
                      <a:srgbClr val="FFFFFF"/>
                    </a:solidFill>
                  </a:tcPr>
                </a:tc>
                <a:extLst>
                  <a:ext uri="{0D108BD9-81ED-4DB2-BD59-A6C34878D82A}">
                    <a16:rowId xmlns:a16="http://schemas.microsoft.com/office/drawing/2014/main" val="10003"/>
                  </a:ext>
                </a:extLst>
              </a:tr>
              <a:tr h="402336">
                <a:tc>
                  <a:txBody>
                    <a:bodyPr/>
                    <a:lstStyle/>
                    <a:p>
                      <a:r>
                        <a:rPr sz="1150">
                          <a:solidFill>
                            <a:srgbClr val="1A1A2E"/>
                          </a:solidFill>
                          <a:latin typeface="Calibri"/>
                        </a:rPr>
                        <a:t>Risk feed</a:t>
                      </a:r>
                    </a:p>
                  </a:txBody>
                  <a:tcPr>
                    <a:solidFill>
                      <a:srgbClr val="F2F4F8"/>
                    </a:solidFill>
                  </a:tcPr>
                </a:tc>
                <a:tc>
                  <a:txBody>
                    <a:bodyPr/>
                    <a:lstStyle/>
                    <a:p>
                      <a:r>
                        <a:rPr sz="1150">
                          <a:solidFill>
                            <a:srgbClr val="1A1A2E"/>
                          </a:solidFill>
                          <a:latin typeface="Calibri"/>
                        </a:rPr>
                        <a:t>read</a:t>
                      </a:r>
                    </a:p>
                  </a:txBody>
                  <a:tcPr>
                    <a:solidFill>
                      <a:srgbClr val="F2F4F8"/>
                    </a:solidFill>
                  </a:tcPr>
                </a:tc>
                <a:tc>
                  <a:txBody>
                    <a:bodyPr/>
                    <a:lstStyle/>
                    <a:p>
                      <a:r>
                        <a:rPr sz="1150">
                          <a:solidFill>
                            <a:srgbClr val="1A1A2E"/>
                          </a:solidFill>
                          <a:latin typeface="Calibri"/>
                        </a:rPr>
                        <a:t>no</a:t>
                      </a:r>
                    </a:p>
                  </a:txBody>
                  <a:tcPr>
                    <a:solidFill>
                      <a:srgbClr val="F2F4F8"/>
                    </a:solidFill>
                  </a:tcPr>
                </a:tc>
                <a:tc>
                  <a:txBody>
                    <a:bodyPr/>
                    <a:lstStyle/>
                    <a:p>
                      <a:r>
                        <a:rPr sz="1150">
                          <a:solidFill>
                            <a:srgbClr val="1A1A2E"/>
                          </a:solidFill>
                          <a:latin typeface="Calibri"/>
                        </a:rPr>
                        <a:t>Scans weather, ports, news and geopolitical signals</a:t>
                      </a:r>
                    </a:p>
                  </a:txBody>
                  <a:tcPr>
                    <a:solidFill>
                      <a:srgbClr val="F2F4F8"/>
                    </a:solidFill>
                  </a:tcPr>
                </a:tc>
                <a:extLst>
                  <a:ext uri="{0D108BD9-81ED-4DB2-BD59-A6C34878D82A}">
                    <a16:rowId xmlns:a16="http://schemas.microsoft.com/office/drawing/2014/main" val="10004"/>
                  </a:ext>
                </a:extLst>
              </a:tr>
              <a:tr h="402336">
                <a:tc>
                  <a:txBody>
                    <a:bodyPr/>
                    <a:lstStyle/>
                    <a:p>
                      <a:r>
                        <a:rPr sz="1150">
                          <a:solidFill>
                            <a:srgbClr val="1A1A2E"/>
                          </a:solidFill>
                          <a:latin typeface="Calibri"/>
                        </a:rPr>
                        <a:t>Arrival predictor</a:t>
                      </a:r>
                    </a:p>
                  </a:txBody>
                  <a:tcPr>
                    <a:solidFill>
                      <a:srgbClr val="FFFFFF"/>
                    </a:solidFill>
                  </a:tcPr>
                </a:tc>
                <a:tc>
                  <a:txBody>
                    <a:bodyPr/>
                    <a:lstStyle/>
                    <a:p>
                      <a:r>
                        <a:rPr sz="1150">
                          <a:solidFill>
                            <a:srgbClr val="1A1A2E"/>
                          </a:solidFill>
                          <a:latin typeface="Calibri"/>
                        </a:rPr>
                        <a:t>calculate</a:t>
                      </a:r>
                    </a:p>
                  </a:txBody>
                  <a:tcPr>
                    <a:solidFill>
                      <a:srgbClr val="FFFFFF"/>
                    </a:solidFill>
                  </a:tcPr>
                </a:tc>
                <a:tc>
                  <a:txBody>
                    <a:bodyPr/>
                    <a:lstStyle/>
                    <a:p>
                      <a:r>
                        <a:rPr sz="1150">
                          <a:solidFill>
                            <a:srgbClr val="1A1A2E"/>
                          </a:solidFill>
                          <a:latin typeface="Calibri"/>
                        </a:rPr>
                        <a:t>no</a:t>
                      </a:r>
                    </a:p>
                  </a:txBody>
                  <a:tcPr>
                    <a:solidFill>
                      <a:srgbClr val="FFFFFF"/>
                    </a:solidFill>
                  </a:tcPr>
                </a:tc>
                <a:tc>
                  <a:txBody>
                    <a:bodyPr/>
                    <a:lstStyle/>
                    <a:p>
                      <a:r>
                        <a:rPr sz="1150">
                          <a:solidFill>
                            <a:srgbClr val="1A1A2E"/>
                          </a:solidFill>
                          <a:latin typeface="Calibri"/>
                        </a:rPr>
                        <a:t>Estimates a realistic arrival date from status and live disruptions</a:t>
                      </a:r>
                    </a:p>
                  </a:txBody>
                  <a:tcPr>
                    <a:solidFill>
                      <a:srgbClr val="FFFFFF"/>
                    </a:solidFill>
                  </a:tcPr>
                </a:tc>
                <a:extLst>
                  <a:ext uri="{0D108BD9-81ED-4DB2-BD59-A6C34878D82A}">
                    <a16:rowId xmlns:a16="http://schemas.microsoft.com/office/drawing/2014/main" val="10005"/>
                  </a:ext>
                </a:extLst>
              </a:tr>
              <a:tr h="402336">
                <a:tc>
                  <a:txBody>
                    <a:bodyPr/>
                    <a:lstStyle/>
                    <a:p>
                      <a:r>
                        <a:rPr sz="1150">
                          <a:solidFill>
                            <a:srgbClr val="1A1A2E"/>
                          </a:solidFill>
                          <a:latin typeface="Calibri"/>
                        </a:rPr>
                        <a:t>Risk scorer</a:t>
                      </a:r>
                    </a:p>
                  </a:txBody>
                  <a:tcPr>
                    <a:solidFill>
                      <a:srgbClr val="F2F4F8"/>
                    </a:solidFill>
                  </a:tcPr>
                </a:tc>
                <a:tc>
                  <a:txBody>
                    <a:bodyPr/>
                    <a:lstStyle/>
                    <a:p>
                      <a:r>
                        <a:rPr sz="1150">
                          <a:solidFill>
                            <a:srgbClr val="1A1A2E"/>
                          </a:solidFill>
                          <a:latin typeface="Calibri"/>
                        </a:rPr>
                        <a:t>calculate</a:t>
                      </a:r>
                    </a:p>
                  </a:txBody>
                  <a:tcPr>
                    <a:solidFill>
                      <a:srgbClr val="F2F4F8"/>
                    </a:solidFill>
                  </a:tcPr>
                </a:tc>
                <a:tc>
                  <a:txBody>
                    <a:bodyPr/>
                    <a:lstStyle/>
                    <a:p>
                      <a:r>
                        <a:rPr sz="1150">
                          <a:solidFill>
                            <a:srgbClr val="1A1A2E"/>
                          </a:solidFill>
                          <a:latin typeface="Calibri"/>
                        </a:rPr>
                        <a:t>no</a:t>
                      </a:r>
                    </a:p>
                  </a:txBody>
                  <a:tcPr>
                    <a:solidFill>
                      <a:srgbClr val="F2F4F8"/>
                    </a:solidFill>
                  </a:tcPr>
                </a:tc>
                <a:tc>
                  <a:txBody>
                    <a:bodyPr/>
                    <a:lstStyle/>
                    <a:p>
                      <a:r>
                        <a:rPr sz="1150">
                          <a:solidFill>
                            <a:srgbClr val="1A1A2E"/>
                          </a:solidFill>
                          <a:latin typeface="Calibri"/>
                        </a:rPr>
                        <a:t>Turns the picture into a 0 to 100 priority score and a dollar exposure</a:t>
                      </a:r>
                    </a:p>
                  </a:txBody>
                  <a:tcPr>
                    <a:solidFill>
                      <a:srgbClr val="F2F4F8"/>
                    </a:solidFill>
                  </a:tcPr>
                </a:tc>
                <a:extLst>
                  <a:ext uri="{0D108BD9-81ED-4DB2-BD59-A6C34878D82A}">
                    <a16:rowId xmlns:a16="http://schemas.microsoft.com/office/drawing/2014/main" val="10006"/>
                  </a:ext>
                </a:extLst>
              </a:tr>
              <a:tr h="402336">
                <a:tc>
                  <a:txBody>
                    <a:bodyPr/>
                    <a:lstStyle/>
                    <a:p>
                      <a:r>
                        <a:rPr sz="1150">
                          <a:solidFill>
                            <a:srgbClr val="1A1A2E"/>
                          </a:solidFill>
                          <a:latin typeface="Calibri"/>
                        </a:rPr>
                        <a:t>Create purchase order</a:t>
                      </a:r>
                    </a:p>
                  </a:txBody>
                  <a:tcPr>
                    <a:solidFill>
                      <a:srgbClr val="FFFFFF"/>
                    </a:solidFill>
                  </a:tcPr>
                </a:tc>
                <a:tc>
                  <a:txBody>
                    <a:bodyPr/>
                    <a:lstStyle/>
                    <a:p>
                      <a:r>
                        <a:rPr sz="1150">
                          <a:solidFill>
                            <a:srgbClr val="1A1A2E"/>
                          </a:solidFill>
                          <a:latin typeface="Calibri"/>
                        </a:rPr>
                        <a:t>act</a:t>
                      </a:r>
                    </a:p>
                  </a:txBody>
                  <a:tcPr>
                    <a:solidFill>
                      <a:srgbClr val="FFFFFF"/>
                    </a:solidFill>
                  </a:tcPr>
                </a:tc>
                <a:tc>
                  <a:txBody>
                    <a:bodyPr/>
                    <a:lstStyle/>
                    <a:p>
                      <a:r>
                        <a:rPr sz="1150">
                          <a:solidFill>
                            <a:srgbClr val="1A1A2E"/>
                          </a:solidFill>
                          <a:latin typeface="Calibri"/>
                        </a:rPr>
                        <a:t>to commit funds</a:t>
                      </a:r>
                    </a:p>
                  </a:txBody>
                  <a:tcPr>
                    <a:solidFill>
                      <a:srgbClr val="FFFFFF"/>
                    </a:solidFill>
                  </a:tcPr>
                </a:tc>
                <a:tc>
                  <a:txBody>
                    <a:bodyPr/>
                    <a:lstStyle/>
                    <a:p>
                      <a:r>
                        <a:rPr sz="1150">
                          <a:solidFill>
                            <a:srgbClr val="1A1A2E"/>
                          </a:solidFill>
                          <a:latin typeface="Calibri"/>
                        </a:rPr>
                        <a:t>Drafts an order freely; committing real money needs a person</a:t>
                      </a:r>
                    </a:p>
                  </a:txBody>
                  <a:tcPr>
                    <a:solidFill>
                      <a:srgbClr val="FFFFFF"/>
                    </a:solidFill>
                  </a:tcPr>
                </a:tc>
                <a:extLst>
                  <a:ext uri="{0D108BD9-81ED-4DB2-BD59-A6C34878D82A}">
                    <a16:rowId xmlns:a16="http://schemas.microsoft.com/office/drawing/2014/main" val="10007"/>
                  </a:ext>
                </a:extLst>
              </a:tr>
              <a:tr h="402336">
                <a:tc>
                  <a:txBody>
                    <a:bodyPr/>
                    <a:lstStyle/>
                    <a:p>
                      <a:r>
                        <a:rPr sz="1150">
                          <a:solidFill>
                            <a:srgbClr val="1A1A2E"/>
                          </a:solidFill>
                          <a:latin typeface="Calibri"/>
                        </a:rPr>
                        <a:t>Expedite freight</a:t>
                      </a:r>
                    </a:p>
                  </a:txBody>
                  <a:tcPr>
                    <a:solidFill>
                      <a:srgbClr val="F2F4F8"/>
                    </a:solidFill>
                  </a:tcPr>
                </a:tc>
                <a:tc>
                  <a:txBody>
                    <a:bodyPr/>
                    <a:lstStyle/>
                    <a:p>
                      <a:r>
                        <a:rPr sz="1150">
                          <a:solidFill>
                            <a:srgbClr val="1A1A2E"/>
                          </a:solidFill>
                          <a:latin typeface="Calibri"/>
                        </a:rPr>
                        <a:t>act</a:t>
                      </a:r>
                    </a:p>
                  </a:txBody>
                  <a:tcPr>
                    <a:solidFill>
                      <a:srgbClr val="F2F4F8"/>
                    </a:solidFill>
                  </a:tcPr>
                </a:tc>
                <a:tc>
                  <a:txBody>
                    <a:bodyPr/>
                    <a:lstStyle/>
                    <a:p>
                      <a:r>
                        <a:rPr sz="1150">
                          <a:solidFill>
                            <a:srgbClr val="1A1A2E"/>
                          </a:solidFill>
                          <a:latin typeface="Calibri"/>
                        </a:rPr>
                        <a:t>always</a:t>
                      </a:r>
                    </a:p>
                  </a:txBody>
                  <a:tcPr>
                    <a:solidFill>
                      <a:srgbClr val="F2F4F8"/>
                    </a:solidFill>
                  </a:tcPr>
                </a:tc>
                <a:tc>
                  <a:txBody>
                    <a:bodyPr/>
                    <a:lstStyle/>
                    <a:p>
                      <a:r>
                        <a:rPr sz="1150">
                          <a:solidFill>
                            <a:srgbClr val="1A1A2E"/>
                          </a:solidFill>
                          <a:latin typeface="Calibri"/>
                        </a:rPr>
                        <a:t>Books premium shipping, which is a controlled cost</a:t>
                      </a:r>
                    </a:p>
                  </a:txBody>
                  <a:tcPr>
                    <a:solidFill>
                      <a:srgbClr val="F2F4F8"/>
                    </a:solidFill>
                  </a:tcPr>
                </a:tc>
                <a:extLst>
                  <a:ext uri="{0D108BD9-81ED-4DB2-BD59-A6C34878D82A}">
                    <a16:rowId xmlns:a16="http://schemas.microsoft.com/office/drawing/2014/main" val="10008"/>
                  </a:ext>
                </a:extLst>
              </a:tr>
              <a:tr h="402336">
                <a:tc>
                  <a:txBody>
                    <a:bodyPr/>
                    <a:lstStyle/>
                    <a:p>
                      <a:r>
                        <a:rPr sz="1150">
                          <a:solidFill>
                            <a:srgbClr val="1A1A2E"/>
                          </a:solidFill>
                          <a:latin typeface="Calibri"/>
                        </a:rPr>
                        <a:t>Reschedule line</a:t>
                      </a:r>
                    </a:p>
                  </a:txBody>
                  <a:tcPr>
                    <a:solidFill>
                      <a:srgbClr val="FFFFFF"/>
                    </a:solidFill>
                  </a:tcPr>
                </a:tc>
                <a:tc>
                  <a:txBody>
                    <a:bodyPr/>
                    <a:lstStyle/>
                    <a:p>
                      <a:r>
                        <a:rPr sz="1150">
                          <a:solidFill>
                            <a:srgbClr val="1A1A2E"/>
                          </a:solidFill>
                          <a:latin typeface="Calibri"/>
                        </a:rPr>
                        <a:t>act</a:t>
                      </a:r>
                    </a:p>
                  </a:txBody>
                  <a:tcPr>
                    <a:solidFill>
                      <a:srgbClr val="FFFFFF"/>
                    </a:solidFill>
                  </a:tcPr>
                </a:tc>
                <a:tc>
                  <a:txBody>
                    <a:bodyPr/>
                    <a:lstStyle/>
                    <a:p>
                      <a:r>
                        <a:rPr sz="1150">
                          <a:solidFill>
                            <a:srgbClr val="1A1A2E"/>
                          </a:solidFill>
                          <a:latin typeface="Calibri"/>
                        </a:rPr>
                        <a:t>always</a:t>
                      </a:r>
                    </a:p>
                  </a:txBody>
                  <a:tcPr>
                    <a:solidFill>
                      <a:srgbClr val="FFFFFF"/>
                    </a:solidFill>
                  </a:tcPr>
                </a:tc>
                <a:tc>
                  <a:txBody>
                    <a:bodyPr/>
                    <a:lstStyle/>
                    <a:p>
                      <a:r>
                        <a:rPr sz="1150">
                          <a:solidFill>
                            <a:srgbClr val="1A1A2E"/>
                          </a:solidFill>
                          <a:latin typeface="Calibri"/>
                        </a:rPr>
                        <a:t>Reorders a live production line, which affects people and safety</a:t>
                      </a:r>
                    </a:p>
                  </a:txBody>
                  <a:tcPr>
                    <a:solidFill>
                      <a:srgbClr val="FFFFFF"/>
                    </a:solidFill>
                  </a:tcPr>
                </a:tc>
                <a:extLst>
                  <a:ext uri="{0D108BD9-81ED-4DB2-BD59-A6C34878D82A}">
                    <a16:rowId xmlns:a16="http://schemas.microsoft.com/office/drawing/2014/main" val="10009"/>
                  </a:ext>
                </a:extLst>
              </a:tr>
              <a:tr h="402336">
                <a:tc>
                  <a:txBody>
                    <a:bodyPr/>
                    <a:lstStyle/>
                    <a:p>
                      <a:r>
                        <a:rPr sz="1150">
                          <a:solidFill>
                            <a:srgbClr val="1A1A2E"/>
                          </a:solidFill>
                          <a:latin typeface="Calibri"/>
                        </a:rPr>
                        <a:t>Notify people</a:t>
                      </a:r>
                    </a:p>
                  </a:txBody>
                  <a:tcPr>
                    <a:solidFill>
                      <a:srgbClr val="F2F4F8"/>
                    </a:solidFill>
                  </a:tcPr>
                </a:tc>
                <a:tc>
                  <a:txBody>
                    <a:bodyPr/>
                    <a:lstStyle/>
                    <a:p>
                      <a:r>
                        <a:rPr sz="1150">
                          <a:solidFill>
                            <a:srgbClr val="1A1A2E"/>
                          </a:solidFill>
                          <a:latin typeface="Calibri"/>
                        </a:rPr>
                        <a:t>act</a:t>
                      </a:r>
                    </a:p>
                  </a:txBody>
                  <a:tcPr>
                    <a:solidFill>
                      <a:srgbClr val="F2F4F8"/>
                    </a:solidFill>
                  </a:tcPr>
                </a:tc>
                <a:tc>
                  <a:txBody>
                    <a:bodyPr/>
                    <a:lstStyle/>
                    <a:p>
                      <a:r>
                        <a:rPr sz="1150">
                          <a:solidFill>
                            <a:srgbClr val="1A1A2E"/>
                          </a:solidFill>
                          <a:latin typeface="Calibri"/>
                        </a:rPr>
                        <a:t>no</a:t>
                      </a:r>
                    </a:p>
                  </a:txBody>
                  <a:tcPr>
                    <a:solidFill>
                      <a:srgbClr val="F2F4F8"/>
                    </a:solidFill>
                  </a:tcPr>
                </a:tc>
                <a:tc>
                  <a:txBody>
                    <a:bodyPr/>
                    <a:lstStyle/>
                    <a:p>
                      <a:r>
                        <a:rPr sz="1150">
                          <a:solidFill>
                            <a:srgbClr val="1A1A2E"/>
                          </a:solidFill>
                          <a:latin typeface="Calibri"/>
                        </a:rPr>
                        <a:t>Sends an alert or briefing, which is easily reversible</a:t>
                      </a:r>
                    </a:p>
                  </a:txBody>
                  <a:tcPr>
                    <a:solidFill>
                      <a:srgbClr val="F2F4F8"/>
                    </a:solidFill>
                  </a:tcPr>
                </a:tc>
                <a:extLst>
                  <a:ext uri="{0D108BD9-81ED-4DB2-BD59-A6C34878D82A}">
                    <a16:rowId xmlns:a16="http://schemas.microsoft.com/office/drawing/2014/main" val="10010"/>
                  </a:ext>
                </a:extLst>
              </a:tr>
            </a:tbl>
          </a:graphicData>
        </a:graphic>
      </p:graphicFrame>
      <p:sp>
        <p:nvSpPr>
          <p:cNvPr id="8" name="Rectangle 7"/>
          <p:cNvSpPr/>
          <p:nvPr/>
        </p:nvSpPr>
        <p:spPr>
          <a:xfrm>
            <a:off x="0" y="6510528"/>
            <a:ext cx="12191695" cy="347472"/>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292608" cy="68580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37744"/>
            <a:ext cx="10972800" cy="365760"/>
          </a:xfrm>
          <a:prstGeom prst="rect">
            <a:avLst/>
          </a:prstGeom>
          <a:noFill/>
        </p:spPr>
        <p:txBody>
          <a:bodyPr wrap="square" anchor="t">
            <a:spAutoFit/>
          </a:bodyPr>
          <a:lstStyle/>
          <a:p>
            <a:pPr algn="l">
              <a:lnSpc>
                <a:spcPct val="105000"/>
              </a:lnSpc>
              <a:spcAft>
                <a:spcPts val="600"/>
              </a:spcAft>
            </a:pPr>
            <a:r>
              <a:rPr sz="1300" b="1">
                <a:solidFill>
                  <a:srgbClr val="555555"/>
                </a:solidFill>
                <a:latin typeface="Calibri"/>
              </a:rPr>
              <a:t>HOW IT THINKS</a:t>
            </a:r>
          </a:p>
        </p:txBody>
      </p:sp>
      <p:sp>
        <p:nvSpPr>
          <p:cNvPr id="4" name="TextBox 3"/>
          <p:cNvSpPr txBox="1"/>
          <p:nvPr/>
        </p:nvSpPr>
        <p:spPr>
          <a:xfrm>
            <a:off x="502920" y="530352"/>
            <a:ext cx="11247120" cy="510909"/>
          </a:xfrm>
          <a:prstGeom prst="rect">
            <a:avLst/>
          </a:prstGeom>
          <a:noFill/>
        </p:spPr>
        <p:txBody>
          <a:bodyPr wrap="square" anchor="t">
            <a:spAutoFit/>
          </a:bodyPr>
          <a:lstStyle/>
          <a:p>
            <a:pPr>
              <a:lnSpc>
                <a:spcPct val="105000"/>
              </a:lnSpc>
              <a:spcAft>
                <a:spcPts val="600"/>
              </a:spcAft>
            </a:pPr>
            <a:r>
              <a:rPr sz="2700" b="1" dirty="0">
                <a:solidFill>
                  <a:srgbClr val="0A1F6B"/>
                </a:solidFill>
                <a:latin typeface="Calibri"/>
              </a:rPr>
              <a:t>6. </a:t>
            </a:r>
            <a:r>
              <a:rPr lang="en-GB" sz="2700" b="1" dirty="0">
                <a:solidFill>
                  <a:srgbClr val="0A1F6B"/>
                </a:solidFill>
              </a:rPr>
              <a:t>Perception, reasoning, action, learning</a:t>
            </a:r>
            <a:endParaRPr sz="2700" b="1" dirty="0">
              <a:solidFill>
                <a:srgbClr val="0A1F6B"/>
              </a:solidFill>
              <a:latin typeface="Calibri"/>
            </a:endParaRPr>
          </a:p>
        </p:txBody>
      </p:sp>
      <p:sp>
        <p:nvSpPr>
          <p:cNvPr id="5" name="Rectangle 4"/>
          <p:cNvSpPr/>
          <p:nvPr/>
        </p:nvSpPr>
        <p:spPr>
          <a:xfrm>
            <a:off x="548640" y="1243584"/>
            <a:ext cx="2011680" cy="54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743200" y="1554480"/>
            <a:ext cx="8869680" cy="960120"/>
          </a:xfrm>
          <a:prstGeom prst="rect">
            <a:avLst/>
          </a:prstGeom>
          <a:noFill/>
        </p:spPr>
        <p:txBody>
          <a:bodyPr wrap="square" anchor="ctr">
            <a:spAutoFit/>
          </a:bodyPr>
          <a:lstStyle/>
          <a:p>
            <a:pPr algn="l">
              <a:lnSpc>
                <a:spcPct val="105000"/>
              </a:lnSpc>
              <a:spcAft>
                <a:spcPts val="600"/>
              </a:spcAft>
            </a:pPr>
            <a:r>
              <a:rPr sz="1400" b="0">
                <a:solidFill>
                  <a:srgbClr val="1A1A2E"/>
                </a:solidFill>
                <a:latin typeface="Calibri"/>
              </a:rPr>
              <a:t>The Risk Intelligence specialist sifts the serious signals out of the daily noise (the case describes around 22,000 unsorted alerts a day).</a:t>
            </a:r>
          </a:p>
        </p:txBody>
      </p:sp>
      <p:sp>
        <p:nvSpPr>
          <p:cNvPr id="11" name="TextBox 10"/>
          <p:cNvSpPr txBox="1"/>
          <p:nvPr/>
        </p:nvSpPr>
        <p:spPr>
          <a:xfrm>
            <a:off x="2743200" y="2633472"/>
            <a:ext cx="8869680" cy="960120"/>
          </a:xfrm>
          <a:prstGeom prst="rect">
            <a:avLst/>
          </a:prstGeom>
          <a:noFill/>
        </p:spPr>
        <p:txBody>
          <a:bodyPr wrap="square" anchor="ctr">
            <a:spAutoFit/>
          </a:bodyPr>
          <a:lstStyle/>
          <a:p>
            <a:pPr algn="l">
              <a:lnSpc>
                <a:spcPct val="105000"/>
              </a:lnSpc>
              <a:spcAft>
                <a:spcPts val="600"/>
              </a:spcAft>
            </a:pPr>
            <a:r>
              <a:rPr sz="1400" b="0">
                <a:solidFill>
                  <a:srgbClr val="1A1A2E"/>
                </a:solidFill>
                <a:latin typeface="Calibri"/>
              </a:rPr>
              <a:t>The Supplier Mapping specialist follows the chain to the critical parts a troubled supplier feeds, and treats a stuck part upstream as the real bottleneck rather than trusting an optimistic promised date.</a:t>
            </a:r>
          </a:p>
        </p:txBody>
      </p:sp>
      <p:sp>
        <p:nvSpPr>
          <p:cNvPr id="14" name="TextBox 13"/>
          <p:cNvSpPr txBox="1"/>
          <p:nvPr/>
        </p:nvSpPr>
        <p:spPr>
          <a:xfrm>
            <a:off x="2743200" y="3712463"/>
            <a:ext cx="8869680" cy="960120"/>
          </a:xfrm>
          <a:prstGeom prst="rect">
            <a:avLst/>
          </a:prstGeom>
          <a:noFill/>
        </p:spPr>
        <p:txBody>
          <a:bodyPr wrap="square" anchor="ctr">
            <a:spAutoFit/>
          </a:bodyPr>
          <a:lstStyle/>
          <a:p>
            <a:pPr algn="l">
              <a:lnSpc>
                <a:spcPct val="105000"/>
              </a:lnSpc>
              <a:spcAft>
                <a:spcPts val="600"/>
              </a:spcAft>
            </a:pPr>
            <a:r>
              <a:rPr sz="1400" b="0">
                <a:solidFill>
                  <a:srgbClr val="1A1A2E"/>
                </a:solidFill>
                <a:latin typeface="Calibri"/>
              </a:rPr>
              <a:t>It drafts a backup order on its own, then, once a person signs off, places the order, reschedules the line, tells the right people, and records everything.</a:t>
            </a:r>
          </a:p>
        </p:txBody>
      </p:sp>
      <p:sp>
        <p:nvSpPr>
          <p:cNvPr id="18" name="Rectangle 17"/>
          <p:cNvSpPr/>
          <p:nvPr/>
        </p:nvSpPr>
        <p:spPr>
          <a:xfrm>
            <a:off x="548640" y="5943600"/>
            <a:ext cx="11064240" cy="4572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0" y="6510528"/>
            <a:ext cx="12191695" cy="347472"/>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a:extLst>
              <a:ext uri="{FF2B5EF4-FFF2-40B4-BE49-F238E27FC236}">
                <a16:creationId xmlns:a16="http://schemas.microsoft.com/office/drawing/2014/main" id="{E2DA18D0-9E77-5BDB-CEA2-EAA553EC3299}"/>
              </a:ext>
            </a:extLst>
          </p:cNvPr>
          <p:cNvSpPr/>
          <p:nvPr/>
        </p:nvSpPr>
        <p:spPr>
          <a:xfrm>
            <a:off x="548640" y="1554480"/>
            <a:ext cx="2148840" cy="960120"/>
          </a:xfrm>
          <a:prstGeom prst="rect">
            <a:avLst/>
          </a:prstGeom>
          <a:solidFill>
            <a:srgbClr val="1E40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a:extLst>
              <a:ext uri="{FF2B5EF4-FFF2-40B4-BE49-F238E27FC236}">
                <a16:creationId xmlns:a16="http://schemas.microsoft.com/office/drawing/2014/main" id="{83A24BDB-A2FB-BBEA-3492-DF43F4FF19FA}"/>
              </a:ext>
            </a:extLst>
          </p:cNvPr>
          <p:cNvSpPr txBox="1"/>
          <p:nvPr/>
        </p:nvSpPr>
        <p:spPr>
          <a:xfrm>
            <a:off x="548640" y="1554480"/>
            <a:ext cx="2148840" cy="960120"/>
          </a:xfrm>
          <a:prstGeom prst="rect">
            <a:avLst/>
          </a:prstGeom>
          <a:noFill/>
        </p:spPr>
        <p:txBody>
          <a:bodyPr wrap="square" anchor="ctr">
            <a:spAutoFit/>
          </a:bodyPr>
          <a:lstStyle/>
          <a:p>
            <a:pPr algn="ctr">
              <a:lnSpc>
                <a:spcPct val="105000"/>
              </a:lnSpc>
              <a:spcAft>
                <a:spcPts val="600"/>
              </a:spcAft>
            </a:pPr>
            <a:r>
              <a:rPr sz="1400" b="1">
                <a:solidFill>
                  <a:srgbClr val="FFFFFF"/>
                </a:solidFill>
                <a:latin typeface="Calibri"/>
              </a:rPr>
              <a:t>PERCEPTION</a:t>
            </a:r>
          </a:p>
        </p:txBody>
      </p:sp>
      <p:sp>
        <p:nvSpPr>
          <p:cNvPr id="24" name="Rectangle 23">
            <a:extLst>
              <a:ext uri="{FF2B5EF4-FFF2-40B4-BE49-F238E27FC236}">
                <a16:creationId xmlns:a16="http://schemas.microsoft.com/office/drawing/2014/main" id="{1C0A5F45-883B-6ECE-3315-27B468782949}"/>
              </a:ext>
            </a:extLst>
          </p:cNvPr>
          <p:cNvSpPr/>
          <p:nvPr/>
        </p:nvSpPr>
        <p:spPr>
          <a:xfrm>
            <a:off x="548640" y="2633472"/>
            <a:ext cx="2148840" cy="960120"/>
          </a:xfrm>
          <a:prstGeom prst="rect">
            <a:avLst/>
          </a:prstGeom>
          <a:solidFill>
            <a:srgbClr val="1E40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a:extLst>
              <a:ext uri="{FF2B5EF4-FFF2-40B4-BE49-F238E27FC236}">
                <a16:creationId xmlns:a16="http://schemas.microsoft.com/office/drawing/2014/main" id="{EA29CD0C-C5EF-4AA9-57AF-42BBC18E5C0C}"/>
              </a:ext>
            </a:extLst>
          </p:cNvPr>
          <p:cNvSpPr txBox="1"/>
          <p:nvPr/>
        </p:nvSpPr>
        <p:spPr>
          <a:xfrm>
            <a:off x="548640" y="2633472"/>
            <a:ext cx="2148840" cy="960120"/>
          </a:xfrm>
          <a:prstGeom prst="rect">
            <a:avLst/>
          </a:prstGeom>
          <a:noFill/>
        </p:spPr>
        <p:txBody>
          <a:bodyPr wrap="square" anchor="ctr">
            <a:spAutoFit/>
          </a:bodyPr>
          <a:lstStyle/>
          <a:p>
            <a:pPr algn="ctr">
              <a:lnSpc>
                <a:spcPct val="105000"/>
              </a:lnSpc>
              <a:spcAft>
                <a:spcPts val="600"/>
              </a:spcAft>
            </a:pPr>
            <a:r>
              <a:rPr sz="1400" b="1">
                <a:solidFill>
                  <a:srgbClr val="FFFFFF"/>
                </a:solidFill>
                <a:latin typeface="Calibri"/>
              </a:rPr>
              <a:t>REASONING</a:t>
            </a:r>
          </a:p>
        </p:txBody>
      </p:sp>
      <p:sp>
        <p:nvSpPr>
          <p:cNvPr id="26" name="Rectangle 25">
            <a:extLst>
              <a:ext uri="{FF2B5EF4-FFF2-40B4-BE49-F238E27FC236}">
                <a16:creationId xmlns:a16="http://schemas.microsoft.com/office/drawing/2014/main" id="{959E553F-784A-151A-28B5-AC075342D13C}"/>
              </a:ext>
            </a:extLst>
          </p:cNvPr>
          <p:cNvSpPr/>
          <p:nvPr/>
        </p:nvSpPr>
        <p:spPr>
          <a:xfrm>
            <a:off x="548640" y="3712463"/>
            <a:ext cx="2148840" cy="960120"/>
          </a:xfrm>
          <a:prstGeom prst="rect">
            <a:avLst/>
          </a:prstGeom>
          <a:solidFill>
            <a:srgbClr val="1E40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a:extLst>
              <a:ext uri="{FF2B5EF4-FFF2-40B4-BE49-F238E27FC236}">
                <a16:creationId xmlns:a16="http://schemas.microsoft.com/office/drawing/2014/main" id="{7D2D4A65-6354-E569-4FAF-1F2C8BA2F397}"/>
              </a:ext>
            </a:extLst>
          </p:cNvPr>
          <p:cNvSpPr txBox="1"/>
          <p:nvPr/>
        </p:nvSpPr>
        <p:spPr>
          <a:xfrm>
            <a:off x="548640" y="3712463"/>
            <a:ext cx="2148840" cy="960120"/>
          </a:xfrm>
          <a:prstGeom prst="rect">
            <a:avLst/>
          </a:prstGeom>
          <a:noFill/>
        </p:spPr>
        <p:txBody>
          <a:bodyPr wrap="square" anchor="ctr">
            <a:spAutoFit/>
          </a:bodyPr>
          <a:lstStyle/>
          <a:p>
            <a:pPr algn="ctr">
              <a:lnSpc>
                <a:spcPct val="105000"/>
              </a:lnSpc>
              <a:spcAft>
                <a:spcPts val="600"/>
              </a:spcAft>
            </a:pPr>
            <a:r>
              <a:rPr sz="1400" b="1">
                <a:solidFill>
                  <a:srgbClr val="FFFFFF"/>
                </a:solidFill>
                <a:latin typeface="Calibri"/>
              </a:rPr>
              <a:t>ACTION</a:t>
            </a:r>
          </a:p>
        </p:txBody>
      </p:sp>
      <p:sp>
        <p:nvSpPr>
          <p:cNvPr id="28" name="Rectangle 27">
            <a:extLst>
              <a:ext uri="{FF2B5EF4-FFF2-40B4-BE49-F238E27FC236}">
                <a16:creationId xmlns:a16="http://schemas.microsoft.com/office/drawing/2014/main" id="{03612DE2-320E-A350-F0D8-F10D9BFA4C4B}"/>
              </a:ext>
            </a:extLst>
          </p:cNvPr>
          <p:cNvSpPr/>
          <p:nvPr/>
        </p:nvSpPr>
        <p:spPr>
          <a:xfrm>
            <a:off x="548640" y="4791455"/>
            <a:ext cx="2148840" cy="960120"/>
          </a:xfrm>
          <a:prstGeom prst="rect">
            <a:avLst/>
          </a:prstGeom>
          <a:solidFill>
            <a:srgbClr val="1E40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a:extLst>
              <a:ext uri="{FF2B5EF4-FFF2-40B4-BE49-F238E27FC236}">
                <a16:creationId xmlns:a16="http://schemas.microsoft.com/office/drawing/2014/main" id="{A5221498-00B0-4BE2-B736-66FA8B07A523}"/>
              </a:ext>
            </a:extLst>
          </p:cNvPr>
          <p:cNvSpPr txBox="1"/>
          <p:nvPr/>
        </p:nvSpPr>
        <p:spPr>
          <a:xfrm>
            <a:off x="548640" y="4791455"/>
            <a:ext cx="2148840" cy="960120"/>
          </a:xfrm>
          <a:prstGeom prst="rect">
            <a:avLst/>
          </a:prstGeom>
          <a:noFill/>
        </p:spPr>
        <p:txBody>
          <a:bodyPr wrap="square" anchor="ctr">
            <a:spAutoFit/>
          </a:bodyPr>
          <a:lstStyle/>
          <a:p>
            <a:pPr algn="ctr">
              <a:lnSpc>
                <a:spcPct val="105000"/>
              </a:lnSpc>
              <a:spcAft>
                <a:spcPts val="600"/>
              </a:spcAft>
            </a:pPr>
            <a:r>
              <a:rPr sz="1400" b="1">
                <a:solidFill>
                  <a:srgbClr val="FFFFFF"/>
                </a:solidFill>
                <a:latin typeface="Calibri"/>
              </a:rPr>
              <a:t>LEARNING</a:t>
            </a:r>
          </a:p>
        </p:txBody>
      </p:sp>
      <p:sp>
        <p:nvSpPr>
          <p:cNvPr id="30" name="TextBox 29">
            <a:extLst>
              <a:ext uri="{FF2B5EF4-FFF2-40B4-BE49-F238E27FC236}">
                <a16:creationId xmlns:a16="http://schemas.microsoft.com/office/drawing/2014/main" id="{EADA48C6-D120-2BEF-3E05-730D6C6EF7B0}"/>
              </a:ext>
            </a:extLst>
          </p:cNvPr>
          <p:cNvSpPr txBox="1"/>
          <p:nvPr/>
        </p:nvSpPr>
        <p:spPr>
          <a:xfrm>
            <a:off x="2743200" y="4800600"/>
            <a:ext cx="8732520" cy="960120"/>
          </a:xfrm>
          <a:prstGeom prst="rect">
            <a:avLst/>
          </a:prstGeom>
          <a:noFill/>
        </p:spPr>
        <p:txBody>
          <a:bodyPr wrap="square" anchor="ctr">
            <a:spAutoFit/>
          </a:bodyPr>
          <a:lstStyle/>
          <a:p>
            <a:pPr algn="l">
              <a:lnSpc>
                <a:spcPct val="105000"/>
              </a:lnSpc>
              <a:spcAft>
                <a:spcPts val="600"/>
              </a:spcAft>
            </a:pPr>
            <a:r>
              <a:rPr sz="1400" b="0" dirty="0">
                <a:solidFill>
                  <a:srgbClr val="1A1A2E"/>
                </a:solidFill>
                <a:latin typeface="Calibri"/>
              </a:rPr>
              <a:t>Each run is stored in episodic memory; planner approvals and edits become feedback that tunes risk thresholds and supplier rankings</a:t>
            </a:r>
          </a:p>
        </p:txBody>
      </p:sp>
      <p:sp>
        <p:nvSpPr>
          <p:cNvPr id="31" name="TextBox 30">
            <a:extLst>
              <a:ext uri="{FF2B5EF4-FFF2-40B4-BE49-F238E27FC236}">
                <a16:creationId xmlns:a16="http://schemas.microsoft.com/office/drawing/2014/main" id="{FDDE1445-2C04-4FD8-5477-88967DF7C626}"/>
              </a:ext>
            </a:extLst>
          </p:cNvPr>
          <p:cNvSpPr txBox="1"/>
          <p:nvPr/>
        </p:nvSpPr>
        <p:spPr>
          <a:xfrm>
            <a:off x="731520" y="6021357"/>
            <a:ext cx="10698480" cy="301686"/>
          </a:xfrm>
          <a:prstGeom prst="rect">
            <a:avLst/>
          </a:prstGeom>
          <a:noFill/>
        </p:spPr>
        <p:txBody>
          <a:bodyPr wrap="square" anchor="ctr">
            <a:spAutoFit/>
          </a:bodyPr>
          <a:lstStyle/>
          <a:p>
            <a:pPr algn="l">
              <a:lnSpc>
                <a:spcPct val="105000"/>
              </a:lnSpc>
              <a:spcAft>
                <a:spcPts val="600"/>
              </a:spcAft>
            </a:pPr>
            <a:r>
              <a:rPr lang="de-CH" sz="1350" b="1" dirty="0">
                <a:solidFill>
                  <a:srgbClr val="FFFFFF"/>
                </a:solidFill>
                <a:latin typeface="Calibri"/>
              </a:rPr>
              <a:t>Honest </a:t>
            </a:r>
            <a:r>
              <a:rPr lang="de-CH" sz="1350" b="1" dirty="0" err="1">
                <a:solidFill>
                  <a:srgbClr val="FFFFFF"/>
                </a:solidFill>
                <a:latin typeface="Calibri"/>
              </a:rPr>
              <a:t>note</a:t>
            </a:r>
            <a:r>
              <a:rPr sz="1350" b="1" dirty="0">
                <a:solidFill>
                  <a:srgbClr val="FFFFFF"/>
                </a:solidFill>
                <a:latin typeface="Calibri"/>
              </a:rPr>
              <a:t>: agents do not self-learn for free; improvement comes from curated feedback.</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292608" cy="68580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37744"/>
            <a:ext cx="10972800" cy="365760"/>
          </a:xfrm>
          <a:prstGeom prst="rect">
            <a:avLst/>
          </a:prstGeom>
          <a:noFill/>
        </p:spPr>
        <p:txBody>
          <a:bodyPr wrap="square" anchor="t">
            <a:spAutoFit/>
          </a:bodyPr>
          <a:lstStyle/>
          <a:p>
            <a:pPr algn="l">
              <a:lnSpc>
                <a:spcPct val="105000"/>
              </a:lnSpc>
              <a:spcAft>
                <a:spcPts val="600"/>
              </a:spcAft>
            </a:pPr>
            <a:r>
              <a:rPr sz="1300" b="1">
                <a:solidFill>
                  <a:srgbClr val="555555"/>
                </a:solidFill>
                <a:latin typeface="Calibri"/>
              </a:rPr>
              <a:t>A REAL WALKTHROUGH</a:t>
            </a:r>
          </a:p>
        </p:txBody>
      </p:sp>
      <p:sp>
        <p:nvSpPr>
          <p:cNvPr id="4" name="TextBox 3"/>
          <p:cNvSpPr txBox="1"/>
          <p:nvPr/>
        </p:nvSpPr>
        <p:spPr>
          <a:xfrm>
            <a:off x="502920" y="530352"/>
            <a:ext cx="11247120" cy="822960"/>
          </a:xfrm>
          <a:prstGeom prst="rect">
            <a:avLst/>
          </a:prstGeom>
          <a:noFill/>
        </p:spPr>
        <p:txBody>
          <a:bodyPr wrap="square" anchor="t">
            <a:spAutoFit/>
          </a:bodyPr>
          <a:lstStyle/>
          <a:p>
            <a:pPr algn="l">
              <a:lnSpc>
                <a:spcPct val="105000"/>
              </a:lnSpc>
              <a:spcAft>
                <a:spcPts val="600"/>
              </a:spcAft>
            </a:pPr>
            <a:r>
              <a:rPr sz="2700" b="1">
                <a:solidFill>
                  <a:srgbClr val="0A1F6B"/>
                </a:solidFill>
                <a:latin typeface="Calibri"/>
              </a:rPr>
              <a:t>7. A real example: a major risk caught early</a:t>
            </a:r>
          </a:p>
        </p:txBody>
      </p:sp>
      <p:sp>
        <p:nvSpPr>
          <p:cNvPr id="5" name="Rectangle 4"/>
          <p:cNvSpPr/>
          <p:nvPr/>
        </p:nvSpPr>
        <p:spPr>
          <a:xfrm>
            <a:off x="548640" y="1243584"/>
            <a:ext cx="2011680" cy="54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417320"/>
            <a:ext cx="11064240" cy="2662139"/>
          </a:xfrm>
          <a:prstGeom prst="rect">
            <a:avLst/>
          </a:prstGeom>
          <a:noFill/>
        </p:spPr>
        <p:txBody>
          <a:bodyPr wrap="square" anchor="t">
            <a:spAutoFit/>
          </a:bodyPr>
          <a:lstStyle/>
          <a:p>
            <a:pPr algn="l">
              <a:lnSpc>
                <a:spcPct val="110000"/>
              </a:lnSpc>
              <a:spcAft>
                <a:spcPts val="700"/>
              </a:spcAft>
            </a:pPr>
            <a:r>
              <a:rPr sz="1400" b="1" dirty="0">
                <a:solidFill>
                  <a:srgbClr val="0E7C86"/>
                </a:solidFill>
                <a:latin typeface="Calibri"/>
              </a:rPr>
              <a:t>•  </a:t>
            </a:r>
            <a:r>
              <a:rPr sz="1400" b="1" dirty="0">
                <a:solidFill>
                  <a:srgbClr val="1A1A2E"/>
                </a:solidFill>
                <a:latin typeface="Calibri"/>
              </a:rPr>
              <a:t>The trigger: </a:t>
            </a:r>
            <a:r>
              <a:rPr sz="1400" b="0" dirty="0">
                <a:solidFill>
                  <a:srgbClr val="1A1A2E"/>
                </a:solidFill>
                <a:latin typeface="Calibri"/>
              </a:rPr>
              <a:t>the risk feed reports a typhoon closing the port of Kaohsiung and a power failure halting a chip factory in Taiwan.</a:t>
            </a:r>
          </a:p>
          <a:p>
            <a:pPr algn="l">
              <a:lnSpc>
                <a:spcPct val="110000"/>
              </a:lnSpc>
              <a:spcAft>
                <a:spcPts val="700"/>
              </a:spcAft>
            </a:pPr>
            <a:r>
              <a:rPr sz="1400" b="1" dirty="0">
                <a:solidFill>
                  <a:srgbClr val="0E7C86"/>
                </a:solidFill>
                <a:latin typeface="Calibri"/>
              </a:rPr>
              <a:t>•  </a:t>
            </a:r>
            <a:r>
              <a:rPr lang="de-CH" sz="1400" b="1" dirty="0">
                <a:solidFill>
                  <a:srgbClr val="1A1A2E"/>
                </a:solidFill>
                <a:latin typeface="Calibri"/>
              </a:rPr>
              <a:t>Reason</a:t>
            </a:r>
            <a:r>
              <a:rPr sz="1400" b="1" dirty="0">
                <a:solidFill>
                  <a:srgbClr val="1A1A2E"/>
                </a:solidFill>
                <a:latin typeface="Calibri"/>
              </a:rPr>
              <a:t>: </a:t>
            </a:r>
            <a:r>
              <a:rPr sz="1400" b="0" dirty="0">
                <a:solidFill>
                  <a:srgbClr val="1A1A2E"/>
                </a:solidFill>
                <a:latin typeface="Calibri"/>
              </a:rPr>
              <a:t>the agent flags both as serious, then finds that our critical Servo Motor Controller (part SVC-2200) quietly depends on that single Taiwanese chip supplier, two tiers up, through our direct supplier Nexa.</a:t>
            </a:r>
          </a:p>
          <a:p>
            <a:pPr algn="l">
              <a:lnSpc>
                <a:spcPct val="110000"/>
              </a:lnSpc>
              <a:spcAft>
                <a:spcPts val="700"/>
              </a:spcAft>
            </a:pPr>
            <a:r>
              <a:rPr sz="1400" b="1" dirty="0">
                <a:solidFill>
                  <a:srgbClr val="0E7C86"/>
                </a:solidFill>
                <a:latin typeface="Calibri"/>
              </a:rPr>
              <a:t>•  </a:t>
            </a:r>
            <a:r>
              <a:rPr sz="1400" b="1" dirty="0">
                <a:solidFill>
                  <a:srgbClr val="1A1A2E"/>
                </a:solidFill>
                <a:latin typeface="Calibri"/>
              </a:rPr>
              <a:t>Predicting: </a:t>
            </a:r>
            <a:r>
              <a:rPr sz="1400" b="0" dirty="0">
                <a:solidFill>
                  <a:srgbClr val="1A1A2E"/>
                </a:solidFill>
                <a:latin typeface="Calibri"/>
              </a:rPr>
              <a:t>it sees that Nexa's order is really stuck waiting for that chip, so the true delay is about 19 days, while we hold only 2 days of stock.</a:t>
            </a:r>
          </a:p>
          <a:p>
            <a:pPr algn="l">
              <a:lnSpc>
                <a:spcPct val="110000"/>
              </a:lnSpc>
              <a:spcAft>
                <a:spcPts val="700"/>
              </a:spcAft>
            </a:pPr>
            <a:r>
              <a:rPr sz="1400" b="1" dirty="0">
                <a:solidFill>
                  <a:srgbClr val="0E7C86"/>
                </a:solidFill>
                <a:latin typeface="Calibri"/>
              </a:rPr>
              <a:t>•  </a:t>
            </a:r>
            <a:r>
              <a:rPr sz="1400" b="1" dirty="0">
                <a:solidFill>
                  <a:srgbClr val="1A1A2E"/>
                </a:solidFill>
                <a:latin typeface="Calibri"/>
              </a:rPr>
              <a:t>Scoring: </a:t>
            </a:r>
            <a:r>
              <a:rPr sz="1400" b="0" dirty="0">
                <a:solidFill>
                  <a:srgbClr val="1A1A2E"/>
                </a:solidFill>
                <a:latin typeface="Calibri"/>
              </a:rPr>
              <a:t>the risk comes back critical, 97 out of 100, with roughly $3.06 million at stake.</a:t>
            </a:r>
          </a:p>
          <a:p>
            <a:pPr algn="l">
              <a:lnSpc>
                <a:spcPct val="110000"/>
              </a:lnSpc>
              <a:spcAft>
                <a:spcPts val="700"/>
              </a:spcAft>
            </a:pPr>
            <a:r>
              <a:rPr sz="1400" b="1" dirty="0">
                <a:solidFill>
                  <a:srgbClr val="0E7C86"/>
                </a:solidFill>
                <a:latin typeface="Calibri"/>
              </a:rPr>
              <a:t>•  </a:t>
            </a:r>
            <a:r>
              <a:rPr sz="1400" b="1" dirty="0">
                <a:solidFill>
                  <a:srgbClr val="1A1A2E"/>
                </a:solidFill>
                <a:latin typeface="Calibri"/>
              </a:rPr>
              <a:t>Adapting: </a:t>
            </a:r>
            <a:r>
              <a:rPr sz="1400" b="0" dirty="0">
                <a:solidFill>
                  <a:srgbClr val="1A1A2E"/>
                </a:solidFill>
                <a:latin typeface="Calibri"/>
              </a:rPr>
              <a:t>the agent first considers rushing Nexa's shipment, then rejects that idea, because Nexa cannot ship without the missing chip, and instead switches to an approved European supplier, </a:t>
            </a:r>
            <a:r>
              <a:rPr sz="1400" b="0" dirty="0" err="1">
                <a:solidFill>
                  <a:srgbClr val="1A1A2E"/>
                </a:solidFill>
                <a:latin typeface="Calibri"/>
              </a:rPr>
              <a:t>AltaControl</a:t>
            </a:r>
            <a:r>
              <a:rPr sz="1400" b="0" dirty="0">
                <a:solidFill>
                  <a:srgbClr val="1A1A2E"/>
                </a:solidFill>
                <a:latin typeface="Calibri"/>
              </a:rPr>
              <a:t>, that avoids Taiwan altogether.</a:t>
            </a:r>
          </a:p>
          <a:p>
            <a:pPr algn="l">
              <a:lnSpc>
                <a:spcPct val="110000"/>
              </a:lnSpc>
              <a:spcAft>
                <a:spcPts val="700"/>
              </a:spcAft>
            </a:pPr>
            <a:r>
              <a:rPr sz="1400" b="1" dirty="0">
                <a:solidFill>
                  <a:srgbClr val="0E7C86"/>
                </a:solidFill>
                <a:latin typeface="Calibri"/>
              </a:rPr>
              <a:t>•  </a:t>
            </a:r>
            <a:r>
              <a:rPr sz="1400" b="1" dirty="0">
                <a:solidFill>
                  <a:srgbClr val="1A1A2E"/>
                </a:solidFill>
                <a:latin typeface="Calibri"/>
              </a:rPr>
              <a:t>Acting, with </a:t>
            </a:r>
            <a:r>
              <a:rPr lang="de-CH" sz="1400" b="1" dirty="0">
                <a:solidFill>
                  <a:srgbClr val="1A1A2E"/>
                </a:solidFill>
                <a:latin typeface="Calibri"/>
              </a:rPr>
              <a:t>human-in-</a:t>
            </a:r>
            <a:r>
              <a:rPr lang="de-CH" sz="1400" b="1" dirty="0" err="1">
                <a:solidFill>
                  <a:srgbClr val="1A1A2E"/>
                </a:solidFill>
                <a:latin typeface="Calibri"/>
              </a:rPr>
              <a:t>the</a:t>
            </a:r>
            <a:r>
              <a:rPr lang="de-CH" sz="1400" b="1" dirty="0">
                <a:solidFill>
                  <a:srgbClr val="1A1A2E"/>
                </a:solidFill>
                <a:latin typeface="Calibri"/>
              </a:rPr>
              <a:t>-loop</a:t>
            </a:r>
            <a:r>
              <a:rPr sz="1400" b="1" dirty="0">
                <a:solidFill>
                  <a:srgbClr val="1A1A2E"/>
                </a:solidFill>
                <a:latin typeface="Calibri"/>
              </a:rPr>
              <a:t>: </a:t>
            </a:r>
            <a:r>
              <a:rPr sz="1400" b="0" dirty="0">
                <a:solidFill>
                  <a:srgbClr val="1A1A2E"/>
                </a:solidFill>
                <a:latin typeface="Calibri"/>
              </a:rPr>
              <a:t>it drafts the backup order on its own, then asks a manager to approve the $294,300 commitment and the line change, and notifies everyone involved.</a:t>
            </a:r>
          </a:p>
        </p:txBody>
      </p:sp>
      <p:sp>
        <p:nvSpPr>
          <p:cNvPr id="7" name="Rectangle 6"/>
          <p:cNvSpPr/>
          <p:nvPr/>
        </p:nvSpPr>
        <p:spPr>
          <a:xfrm>
            <a:off x="548640" y="5532120"/>
            <a:ext cx="11064240" cy="777240"/>
          </a:xfrm>
          <a:prstGeom prst="rect">
            <a:avLst/>
          </a:prstGeom>
          <a:solidFill>
            <a:srgbClr val="0A1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5652974"/>
            <a:ext cx="10698480" cy="535531"/>
          </a:xfrm>
          <a:prstGeom prst="rect">
            <a:avLst/>
          </a:prstGeom>
          <a:noFill/>
        </p:spPr>
        <p:txBody>
          <a:bodyPr wrap="square" anchor="ctr">
            <a:spAutoFit/>
          </a:bodyPr>
          <a:lstStyle/>
          <a:p>
            <a:pPr>
              <a:lnSpc>
                <a:spcPct val="105000"/>
              </a:lnSpc>
              <a:spcAft>
                <a:spcPts val="600"/>
              </a:spcAft>
            </a:pPr>
            <a:r>
              <a:rPr sz="1400" b="1" dirty="0">
                <a:solidFill>
                  <a:srgbClr val="6CB400"/>
                </a:solidFill>
                <a:latin typeface="Calibri"/>
              </a:rPr>
              <a:t>The result: </a:t>
            </a:r>
            <a:r>
              <a:rPr sz="1400" b="0" dirty="0">
                <a:solidFill>
                  <a:srgbClr val="FFFFFF"/>
                </a:solidFill>
                <a:latin typeface="Calibri"/>
              </a:rPr>
              <a:t>a critical risk caught around three weeks before the line would have stopped, with a costed plan ready and a complete record of every step. We can run this live.</a:t>
            </a:r>
            <a:r>
              <a:rPr lang="de-CH" sz="1400" b="0" dirty="0">
                <a:solidFill>
                  <a:srgbClr val="FFFFFF"/>
                </a:solidFill>
                <a:latin typeface="Calibri"/>
              </a:rPr>
              <a:t> </a:t>
            </a:r>
            <a:r>
              <a:rPr lang="de-CH" sz="1400" dirty="0">
                <a:solidFill>
                  <a:srgbClr val="FFFFFF"/>
                </a:solidFill>
              </a:rPr>
              <a:t>https://</a:t>
            </a:r>
            <a:r>
              <a:rPr lang="de-CH" sz="1400" dirty="0" err="1">
                <a:solidFill>
                  <a:srgbClr val="FFFFFF"/>
                </a:solidFill>
              </a:rPr>
              <a:t>agentic</a:t>
            </a:r>
            <a:r>
              <a:rPr lang="de-CH" sz="1400" dirty="0">
                <a:solidFill>
                  <a:srgbClr val="FFFFFF"/>
                </a:solidFill>
              </a:rPr>
              <a:t>-ai-</a:t>
            </a:r>
            <a:r>
              <a:rPr lang="de-CH" sz="1400" dirty="0" err="1">
                <a:solidFill>
                  <a:srgbClr val="FFFFFF"/>
                </a:solidFill>
              </a:rPr>
              <a:t>sentinel.streamlit.app</a:t>
            </a:r>
            <a:r>
              <a:rPr lang="de-CH" sz="1400" dirty="0">
                <a:solidFill>
                  <a:srgbClr val="FFFFFF"/>
                </a:solidFill>
              </a:rPr>
              <a:t>/</a:t>
            </a:r>
            <a:endParaRPr sz="1400" b="0" dirty="0">
              <a:solidFill>
                <a:srgbClr val="FFFFFF"/>
              </a:solidFill>
              <a:latin typeface="Calibri"/>
            </a:endParaRPr>
          </a:p>
        </p:txBody>
      </p:sp>
      <p:sp>
        <p:nvSpPr>
          <p:cNvPr id="9" name="Rectangle 8"/>
          <p:cNvSpPr/>
          <p:nvPr/>
        </p:nvSpPr>
        <p:spPr>
          <a:xfrm>
            <a:off x="0" y="6510528"/>
            <a:ext cx="12191695" cy="347472"/>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292608" cy="68580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37744"/>
            <a:ext cx="10972800" cy="365760"/>
          </a:xfrm>
          <a:prstGeom prst="rect">
            <a:avLst/>
          </a:prstGeom>
          <a:noFill/>
        </p:spPr>
        <p:txBody>
          <a:bodyPr wrap="square" anchor="t">
            <a:spAutoFit/>
          </a:bodyPr>
          <a:lstStyle/>
          <a:p>
            <a:pPr algn="l">
              <a:lnSpc>
                <a:spcPct val="105000"/>
              </a:lnSpc>
              <a:spcAft>
                <a:spcPts val="600"/>
              </a:spcAft>
            </a:pPr>
            <a:r>
              <a:rPr sz="1300" b="1">
                <a:solidFill>
                  <a:srgbClr val="555555"/>
                </a:solidFill>
                <a:latin typeface="Calibri"/>
              </a:rPr>
              <a:t>KEEPING IT SAFE</a:t>
            </a:r>
          </a:p>
        </p:txBody>
      </p:sp>
      <p:sp>
        <p:nvSpPr>
          <p:cNvPr id="4" name="TextBox 3"/>
          <p:cNvSpPr txBox="1"/>
          <p:nvPr/>
        </p:nvSpPr>
        <p:spPr>
          <a:xfrm>
            <a:off x="502920" y="530352"/>
            <a:ext cx="11247120" cy="822960"/>
          </a:xfrm>
          <a:prstGeom prst="rect">
            <a:avLst/>
          </a:prstGeom>
          <a:noFill/>
        </p:spPr>
        <p:txBody>
          <a:bodyPr wrap="square" anchor="t">
            <a:spAutoFit/>
          </a:bodyPr>
          <a:lstStyle/>
          <a:p>
            <a:pPr algn="l">
              <a:lnSpc>
                <a:spcPct val="105000"/>
              </a:lnSpc>
              <a:spcAft>
                <a:spcPts val="600"/>
              </a:spcAft>
            </a:pPr>
            <a:r>
              <a:rPr sz="2700" b="1">
                <a:solidFill>
                  <a:srgbClr val="0A1F6B"/>
                </a:solidFill>
                <a:latin typeface="Calibri"/>
              </a:rPr>
              <a:t>8. What could go wrong, and how we prevent it</a:t>
            </a:r>
          </a:p>
        </p:txBody>
      </p:sp>
      <p:sp>
        <p:nvSpPr>
          <p:cNvPr id="5" name="Rectangle 4"/>
          <p:cNvSpPr/>
          <p:nvPr/>
        </p:nvSpPr>
        <p:spPr>
          <a:xfrm>
            <a:off x="548640" y="1243584"/>
            <a:ext cx="2011680" cy="54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6" name="Table 5"/>
          <p:cNvGraphicFramePr>
            <a:graphicFrameLocks noGrp="1"/>
          </p:cNvGraphicFramePr>
          <p:nvPr>
            <p:extLst>
              <p:ext uri="{D42A27DB-BD31-4B8C-83A1-F6EECF244321}">
                <p14:modId xmlns:p14="http://schemas.microsoft.com/office/powerpoint/2010/main" val="3669741928"/>
              </p:ext>
            </p:extLst>
          </p:nvPr>
        </p:nvGraphicFramePr>
        <p:xfrm>
          <a:off x="548640" y="1417320"/>
          <a:ext cx="11064240" cy="3401568"/>
        </p:xfrm>
        <a:graphic>
          <a:graphicData uri="http://schemas.openxmlformats.org/drawingml/2006/table">
            <a:tbl>
              <a:tblPr firstRow="1" bandRow="1">
                <a:tableStyleId>{5C22544A-7EE6-4342-B048-85BDC9FD1C3A}</a:tableStyleId>
              </a:tblPr>
              <a:tblGrid>
                <a:gridCol w="3931920">
                  <a:extLst>
                    <a:ext uri="{9D8B030D-6E8A-4147-A177-3AD203B41FA5}">
                      <a16:colId xmlns:a16="http://schemas.microsoft.com/office/drawing/2014/main" val="20000"/>
                    </a:ext>
                  </a:extLst>
                </a:gridCol>
                <a:gridCol w="7132320">
                  <a:extLst>
                    <a:ext uri="{9D8B030D-6E8A-4147-A177-3AD203B41FA5}">
                      <a16:colId xmlns:a16="http://schemas.microsoft.com/office/drawing/2014/main" val="20001"/>
                    </a:ext>
                  </a:extLst>
                </a:gridCol>
              </a:tblGrid>
              <a:tr h="566928">
                <a:tc>
                  <a:txBody>
                    <a:bodyPr/>
                    <a:lstStyle/>
                    <a:p>
                      <a:r>
                        <a:rPr lang="de-CH" sz="1300" b="1" dirty="0">
                          <a:solidFill>
                            <a:srgbClr val="FFFFFF"/>
                          </a:solidFill>
                          <a:latin typeface="Calibri"/>
                        </a:rPr>
                        <a:t>Risk</a:t>
                      </a:r>
                      <a:endParaRPr sz="1300" b="1" dirty="0">
                        <a:solidFill>
                          <a:srgbClr val="FFFFFF"/>
                        </a:solidFill>
                        <a:latin typeface="Calibri"/>
                      </a:endParaRPr>
                    </a:p>
                  </a:txBody>
                  <a:tcPr>
                    <a:solidFill>
                      <a:srgbClr val="0A1F6B"/>
                    </a:solidFill>
                  </a:tcPr>
                </a:tc>
                <a:tc>
                  <a:txBody>
                    <a:bodyPr/>
                    <a:lstStyle/>
                    <a:p>
                      <a:r>
                        <a:rPr lang="de-CH" sz="1300" b="1" dirty="0" err="1">
                          <a:solidFill>
                            <a:srgbClr val="FFFFFF"/>
                          </a:solidFill>
                          <a:latin typeface="Calibri"/>
                        </a:rPr>
                        <a:t>Guardrail</a:t>
                      </a:r>
                      <a:endParaRPr sz="1300" b="1" dirty="0">
                        <a:solidFill>
                          <a:srgbClr val="FFFFFF"/>
                        </a:solidFill>
                        <a:latin typeface="Calibri"/>
                      </a:endParaRPr>
                    </a:p>
                  </a:txBody>
                  <a:tcPr>
                    <a:solidFill>
                      <a:srgbClr val="0A1F6B"/>
                    </a:solidFill>
                  </a:tcPr>
                </a:tc>
                <a:extLst>
                  <a:ext uri="{0D108BD9-81ED-4DB2-BD59-A6C34878D82A}">
                    <a16:rowId xmlns:a16="http://schemas.microsoft.com/office/drawing/2014/main" val="10000"/>
                  </a:ext>
                </a:extLst>
              </a:tr>
              <a:tr h="566928">
                <a:tc>
                  <a:txBody>
                    <a:bodyPr/>
                    <a:lstStyle/>
                    <a:p>
                      <a:r>
                        <a:rPr sz="1300">
                          <a:solidFill>
                            <a:srgbClr val="1A1A2E"/>
                          </a:solidFill>
                          <a:latin typeface="Calibri"/>
                        </a:rPr>
                        <a:t>Wrong or irreversible action</a:t>
                      </a:r>
                    </a:p>
                  </a:txBody>
                  <a:tcPr>
                    <a:solidFill>
                      <a:srgbClr val="FFFFFF"/>
                    </a:solidFill>
                  </a:tcPr>
                </a:tc>
                <a:tc>
                  <a:txBody>
                    <a:bodyPr/>
                    <a:lstStyle/>
                    <a:p>
                      <a:r>
                        <a:rPr sz="1300">
                          <a:solidFill>
                            <a:srgbClr val="1A1A2E"/>
                          </a:solidFill>
                          <a:latin typeface="Calibri"/>
                        </a:rPr>
                        <a:t>Writes are draft-by-default; costly or live writes require sign-off</a:t>
                      </a:r>
                    </a:p>
                  </a:txBody>
                  <a:tcPr>
                    <a:solidFill>
                      <a:srgbClr val="FFFFFF"/>
                    </a:solidFill>
                  </a:tcPr>
                </a:tc>
                <a:extLst>
                  <a:ext uri="{0D108BD9-81ED-4DB2-BD59-A6C34878D82A}">
                    <a16:rowId xmlns:a16="http://schemas.microsoft.com/office/drawing/2014/main" val="10001"/>
                  </a:ext>
                </a:extLst>
              </a:tr>
              <a:tr h="566928">
                <a:tc>
                  <a:txBody>
                    <a:bodyPr/>
                    <a:lstStyle/>
                    <a:p>
                      <a:r>
                        <a:rPr sz="1300">
                          <a:solidFill>
                            <a:srgbClr val="1A1A2E"/>
                          </a:solidFill>
                          <a:latin typeface="Calibri"/>
                        </a:rPr>
                        <a:t>Hallucinated event</a:t>
                      </a:r>
                    </a:p>
                  </a:txBody>
                  <a:tcPr>
                    <a:solidFill>
                      <a:srgbClr val="F2F4F8"/>
                    </a:solidFill>
                  </a:tcPr>
                </a:tc>
                <a:tc>
                  <a:txBody>
                    <a:bodyPr/>
                    <a:lstStyle/>
                    <a:p>
                      <a:r>
                        <a:rPr sz="1300">
                          <a:solidFill>
                            <a:srgbClr val="1A1A2E"/>
                          </a:solidFill>
                          <a:latin typeface="Calibri"/>
                        </a:rPr>
                        <a:t>The Risk agent must cite a real feed event; no invention</a:t>
                      </a:r>
                    </a:p>
                  </a:txBody>
                  <a:tcPr>
                    <a:solidFill>
                      <a:srgbClr val="F2F4F8"/>
                    </a:solidFill>
                  </a:tcPr>
                </a:tc>
                <a:extLst>
                  <a:ext uri="{0D108BD9-81ED-4DB2-BD59-A6C34878D82A}">
                    <a16:rowId xmlns:a16="http://schemas.microsoft.com/office/drawing/2014/main" val="10002"/>
                  </a:ext>
                </a:extLst>
              </a:tr>
              <a:tr h="566928">
                <a:tc>
                  <a:txBody>
                    <a:bodyPr/>
                    <a:lstStyle/>
                    <a:p>
                      <a:r>
                        <a:rPr sz="1300">
                          <a:solidFill>
                            <a:srgbClr val="1A1A2E"/>
                          </a:solidFill>
                          <a:latin typeface="Calibri"/>
                        </a:rPr>
                        <a:t>Over-spend</a:t>
                      </a:r>
                    </a:p>
                  </a:txBody>
                  <a:tcPr>
                    <a:solidFill>
                      <a:srgbClr val="FFFFFF"/>
                    </a:solidFill>
                  </a:tcPr>
                </a:tc>
                <a:tc>
                  <a:txBody>
                    <a:bodyPr/>
                    <a:lstStyle/>
                    <a:p>
                      <a:r>
                        <a:rPr sz="1300">
                          <a:solidFill>
                            <a:srgbClr val="1A1A2E"/>
                          </a:solidFill>
                          <a:latin typeface="Calibri"/>
                        </a:rPr>
                        <a:t>Hard spend limit auto-escalates commits; scoped to qualified suppliers</a:t>
                      </a:r>
                    </a:p>
                  </a:txBody>
                  <a:tcPr>
                    <a:solidFill>
                      <a:srgbClr val="FFFFFF"/>
                    </a:solidFill>
                  </a:tcPr>
                </a:tc>
                <a:extLst>
                  <a:ext uri="{0D108BD9-81ED-4DB2-BD59-A6C34878D82A}">
                    <a16:rowId xmlns:a16="http://schemas.microsoft.com/office/drawing/2014/main" val="10003"/>
                  </a:ext>
                </a:extLst>
              </a:tr>
              <a:tr h="566928">
                <a:tc>
                  <a:txBody>
                    <a:bodyPr/>
                    <a:lstStyle/>
                    <a:p>
                      <a:r>
                        <a:rPr sz="1300" dirty="0">
                          <a:solidFill>
                            <a:srgbClr val="1A1A2E"/>
                          </a:solidFill>
                          <a:latin typeface="Calibri"/>
                        </a:rPr>
                        <a:t>Cascading multi-agent error</a:t>
                      </a:r>
                    </a:p>
                  </a:txBody>
                  <a:tcPr>
                    <a:solidFill>
                      <a:srgbClr val="F2F4F8"/>
                    </a:solidFill>
                  </a:tcPr>
                </a:tc>
                <a:tc>
                  <a:txBody>
                    <a:bodyPr/>
                    <a:lstStyle/>
                    <a:p>
                      <a:r>
                        <a:rPr sz="1300">
                          <a:solidFill>
                            <a:srgbClr val="1A1A2E"/>
                          </a:solidFill>
                          <a:latin typeface="Calibri"/>
                        </a:rPr>
                        <a:t>Thin supervisor, tight tool scopes, full tracing for audit</a:t>
                      </a:r>
                    </a:p>
                  </a:txBody>
                  <a:tcPr>
                    <a:solidFill>
                      <a:srgbClr val="F2F4F8"/>
                    </a:solidFill>
                  </a:tcPr>
                </a:tc>
                <a:extLst>
                  <a:ext uri="{0D108BD9-81ED-4DB2-BD59-A6C34878D82A}">
                    <a16:rowId xmlns:a16="http://schemas.microsoft.com/office/drawing/2014/main" val="10004"/>
                  </a:ext>
                </a:extLst>
              </a:tr>
              <a:tr h="566928">
                <a:tc>
                  <a:txBody>
                    <a:bodyPr/>
                    <a:lstStyle/>
                    <a:p>
                      <a:r>
                        <a:rPr sz="1300" dirty="0">
                          <a:solidFill>
                            <a:srgbClr val="1A1A2E"/>
                          </a:solidFill>
                          <a:latin typeface="Calibri"/>
                        </a:rPr>
                        <a:t>Prompt injection via supplier text</a:t>
                      </a:r>
                    </a:p>
                  </a:txBody>
                  <a:tcPr>
                    <a:solidFill>
                      <a:srgbClr val="FFFFFF"/>
                    </a:solidFill>
                  </a:tcPr>
                </a:tc>
                <a:tc>
                  <a:txBody>
                    <a:bodyPr/>
                    <a:lstStyle/>
                    <a:p>
                      <a:r>
                        <a:rPr sz="1300" dirty="0">
                          <a:solidFill>
                            <a:srgbClr val="1A1A2E"/>
                          </a:solidFill>
                          <a:latin typeface="Calibri"/>
                        </a:rPr>
                        <a:t>External text treated as data, never as commands</a:t>
                      </a:r>
                    </a:p>
                  </a:txBody>
                  <a:tcPr>
                    <a:solidFill>
                      <a:srgbClr val="FFFFFF"/>
                    </a:solidFill>
                  </a:tcPr>
                </a:tc>
                <a:extLst>
                  <a:ext uri="{0D108BD9-81ED-4DB2-BD59-A6C34878D82A}">
                    <a16:rowId xmlns:a16="http://schemas.microsoft.com/office/drawing/2014/main" val="10005"/>
                  </a:ext>
                </a:extLst>
              </a:tr>
            </a:tbl>
          </a:graphicData>
        </a:graphic>
      </p:graphicFrame>
      <p:sp>
        <p:nvSpPr>
          <p:cNvPr id="7" name="Rectangle 6"/>
          <p:cNvSpPr/>
          <p:nvPr/>
        </p:nvSpPr>
        <p:spPr>
          <a:xfrm>
            <a:off x="548640" y="5212080"/>
            <a:ext cx="11064240" cy="960120"/>
          </a:xfrm>
          <a:prstGeom prst="rect">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5424374"/>
            <a:ext cx="10698480" cy="535531"/>
          </a:xfrm>
          <a:prstGeom prst="rect">
            <a:avLst/>
          </a:prstGeom>
          <a:noFill/>
        </p:spPr>
        <p:txBody>
          <a:bodyPr wrap="square" anchor="ctr">
            <a:spAutoFit/>
          </a:bodyPr>
          <a:lstStyle/>
          <a:p>
            <a:pPr algn="l">
              <a:lnSpc>
                <a:spcPct val="105000"/>
              </a:lnSpc>
              <a:spcAft>
                <a:spcPts val="600"/>
              </a:spcAft>
            </a:pPr>
            <a:r>
              <a:rPr lang="de-CH" sz="1400" b="1" dirty="0">
                <a:solidFill>
                  <a:srgbClr val="C02A2A"/>
                </a:solidFill>
                <a:latin typeface="Calibri"/>
              </a:rPr>
              <a:t>Human-in-</a:t>
            </a:r>
            <a:r>
              <a:rPr lang="de-CH" sz="1400" b="1" dirty="0" err="1">
                <a:solidFill>
                  <a:srgbClr val="C02A2A"/>
                </a:solidFill>
                <a:latin typeface="Calibri"/>
              </a:rPr>
              <a:t>the</a:t>
            </a:r>
            <a:r>
              <a:rPr lang="de-CH" sz="1400" b="1" dirty="0">
                <a:solidFill>
                  <a:srgbClr val="C02A2A"/>
                </a:solidFill>
                <a:latin typeface="Calibri"/>
              </a:rPr>
              <a:t>-loop </a:t>
            </a:r>
            <a:r>
              <a:rPr sz="1400" b="0" dirty="0">
                <a:solidFill>
                  <a:srgbClr val="1A1A2E"/>
                </a:solidFill>
                <a:latin typeface="Calibri"/>
              </a:rPr>
              <a:t>for the decisions that matter: committing money beyond the limit, booking premium freight, or changing a live production schedule. Everything that is easily reversible runs on its own.</a:t>
            </a:r>
          </a:p>
        </p:txBody>
      </p:sp>
      <p:sp>
        <p:nvSpPr>
          <p:cNvPr id="9" name="Rectangle 8"/>
          <p:cNvSpPr/>
          <p:nvPr/>
        </p:nvSpPr>
        <p:spPr>
          <a:xfrm>
            <a:off x="0" y="6510528"/>
            <a:ext cx="12191695" cy="347472"/>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292608" cy="68580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37744"/>
            <a:ext cx="10972800" cy="365760"/>
          </a:xfrm>
          <a:prstGeom prst="rect">
            <a:avLst/>
          </a:prstGeom>
          <a:noFill/>
        </p:spPr>
        <p:txBody>
          <a:bodyPr wrap="square" anchor="t">
            <a:spAutoFit/>
          </a:bodyPr>
          <a:lstStyle/>
          <a:p>
            <a:pPr algn="l">
              <a:lnSpc>
                <a:spcPct val="105000"/>
              </a:lnSpc>
              <a:spcAft>
                <a:spcPts val="600"/>
              </a:spcAft>
            </a:pPr>
            <a:r>
              <a:rPr sz="1300" b="1">
                <a:solidFill>
                  <a:srgbClr val="555555"/>
                </a:solidFill>
                <a:latin typeface="Calibri"/>
              </a:rPr>
              <a:t>HOW IT IS BUILT</a:t>
            </a:r>
          </a:p>
        </p:txBody>
      </p:sp>
      <p:sp>
        <p:nvSpPr>
          <p:cNvPr id="4" name="TextBox 3"/>
          <p:cNvSpPr txBox="1"/>
          <p:nvPr/>
        </p:nvSpPr>
        <p:spPr>
          <a:xfrm>
            <a:off x="502920" y="530352"/>
            <a:ext cx="11247120" cy="822960"/>
          </a:xfrm>
          <a:prstGeom prst="rect">
            <a:avLst/>
          </a:prstGeom>
          <a:noFill/>
        </p:spPr>
        <p:txBody>
          <a:bodyPr wrap="square" anchor="t">
            <a:spAutoFit/>
          </a:bodyPr>
          <a:lstStyle/>
          <a:p>
            <a:pPr algn="l">
              <a:lnSpc>
                <a:spcPct val="105000"/>
              </a:lnSpc>
              <a:spcAft>
                <a:spcPts val="600"/>
              </a:spcAft>
            </a:pPr>
            <a:r>
              <a:rPr sz="2700" b="1">
                <a:solidFill>
                  <a:srgbClr val="0A1F6B"/>
                </a:solidFill>
                <a:latin typeface="Calibri"/>
              </a:rPr>
              <a:t>9. How it is built and how it connects</a:t>
            </a:r>
          </a:p>
        </p:txBody>
      </p:sp>
      <p:sp>
        <p:nvSpPr>
          <p:cNvPr id="5" name="Rectangle 4"/>
          <p:cNvSpPr/>
          <p:nvPr/>
        </p:nvSpPr>
        <p:spPr>
          <a:xfrm>
            <a:off x="548640" y="1243584"/>
            <a:ext cx="2011680" cy="54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371600"/>
            <a:ext cx="11064240" cy="457200"/>
          </a:xfrm>
          <a:prstGeom prst="rect">
            <a:avLst/>
          </a:prstGeom>
          <a:noFill/>
        </p:spPr>
        <p:txBody>
          <a:bodyPr wrap="square" anchor="t">
            <a:spAutoFit/>
          </a:bodyPr>
          <a:lstStyle/>
          <a:p>
            <a:pPr algn="l">
              <a:lnSpc>
                <a:spcPct val="105000"/>
              </a:lnSpc>
              <a:spcAft>
                <a:spcPts val="600"/>
              </a:spcAft>
            </a:pPr>
            <a:r>
              <a:rPr sz="1350" b="0">
                <a:solidFill>
                  <a:srgbClr val="1A1A2E"/>
                </a:solidFill>
                <a:latin typeface="Calibri"/>
              </a:rPr>
              <a:t>We chose proven, open technology, so the system stays flexible, secure and easy to inspect.</a:t>
            </a:r>
          </a:p>
        </p:txBody>
      </p:sp>
      <p:graphicFrame>
        <p:nvGraphicFramePr>
          <p:cNvPr id="7" name="Table 6"/>
          <p:cNvGraphicFramePr>
            <a:graphicFrameLocks noGrp="1"/>
          </p:cNvGraphicFramePr>
          <p:nvPr>
            <p:extLst>
              <p:ext uri="{D42A27DB-BD31-4B8C-83A1-F6EECF244321}">
                <p14:modId xmlns:p14="http://schemas.microsoft.com/office/powerpoint/2010/main" val="2898428357"/>
              </p:ext>
            </p:extLst>
          </p:nvPr>
        </p:nvGraphicFramePr>
        <p:xfrm>
          <a:off x="548640" y="1874519"/>
          <a:ext cx="11064240" cy="3621024"/>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4389120">
                  <a:extLst>
                    <a:ext uri="{9D8B030D-6E8A-4147-A177-3AD203B41FA5}">
                      <a16:colId xmlns:a16="http://schemas.microsoft.com/office/drawing/2014/main" val="20001"/>
                    </a:ext>
                  </a:extLst>
                </a:gridCol>
                <a:gridCol w="4480560">
                  <a:extLst>
                    <a:ext uri="{9D8B030D-6E8A-4147-A177-3AD203B41FA5}">
                      <a16:colId xmlns:a16="http://schemas.microsoft.com/office/drawing/2014/main" val="20002"/>
                    </a:ext>
                  </a:extLst>
                </a:gridCol>
              </a:tblGrid>
              <a:tr h="603504">
                <a:tc>
                  <a:txBody>
                    <a:bodyPr/>
                    <a:lstStyle/>
                    <a:p>
                      <a:r>
                        <a:rPr sz="1150" b="1">
                          <a:solidFill>
                            <a:srgbClr val="FFFFFF"/>
                          </a:solidFill>
                          <a:latin typeface="Calibri"/>
                        </a:rPr>
                        <a:t>Choice</a:t>
                      </a:r>
                    </a:p>
                  </a:txBody>
                  <a:tcPr>
                    <a:solidFill>
                      <a:srgbClr val="0A1F6B"/>
                    </a:solidFill>
                  </a:tcPr>
                </a:tc>
                <a:tc>
                  <a:txBody>
                    <a:bodyPr/>
                    <a:lstStyle/>
                    <a:p>
                      <a:r>
                        <a:rPr sz="1150" b="1">
                          <a:solidFill>
                            <a:srgbClr val="FFFFFF"/>
                          </a:solidFill>
                          <a:latin typeface="Calibri"/>
                        </a:rPr>
                        <a:t>What we use</a:t>
                      </a:r>
                    </a:p>
                  </a:txBody>
                  <a:tcPr>
                    <a:solidFill>
                      <a:srgbClr val="0A1F6B"/>
                    </a:solidFill>
                  </a:tcPr>
                </a:tc>
                <a:tc>
                  <a:txBody>
                    <a:bodyPr/>
                    <a:lstStyle/>
                    <a:p>
                      <a:r>
                        <a:rPr sz="1150" b="1">
                          <a:solidFill>
                            <a:srgbClr val="FFFFFF"/>
                          </a:solidFill>
                          <a:latin typeface="Calibri"/>
                        </a:rPr>
                        <a:t>Why</a:t>
                      </a:r>
                    </a:p>
                  </a:txBody>
                  <a:tcPr>
                    <a:solidFill>
                      <a:srgbClr val="0A1F6B"/>
                    </a:solidFill>
                  </a:tcPr>
                </a:tc>
                <a:extLst>
                  <a:ext uri="{0D108BD9-81ED-4DB2-BD59-A6C34878D82A}">
                    <a16:rowId xmlns:a16="http://schemas.microsoft.com/office/drawing/2014/main" val="10000"/>
                  </a:ext>
                </a:extLst>
              </a:tr>
              <a:tr h="603504">
                <a:tc>
                  <a:txBody>
                    <a:bodyPr/>
                    <a:lstStyle/>
                    <a:p>
                      <a:r>
                        <a:rPr sz="1150">
                          <a:solidFill>
                            <a:srgbClr val="1A1A2E"/>
                          </a:solidFill>
                          <a:latin typeface="Calibri"/>
                        </a:rPr>
                        <a:t>Reasoning</a:t>
                      </a:r>
                    </a:p>
                  </a:txBody>
                  <a:tcPr>
                    <a:solidFill>
                      <a:srgbClr val="FFFFFF"/>
                    </a:solidFill>
                  </a:tcPr>
                </a:tc>
                <a:tc>
                  <a:txBody>
                    <a:bodyPr/>
                    <a:lstStyle/>
                    <a:p>
                      <a:r>
                        <a:rPr lang="de-CH" sz="1150" dirty="0">
                          <a:solidFill>
                            <a:srgbClr val="1A1A2E"/>
                          </a:solidFill>
                          <a:latin typeface="Calibri"/>
                        </a:rPr>
                        <a:t>LLM </a:t>
                      </a:r>
                      <a:r>
                        <a:rPr sz="1150" dirty="0">
                          <a:solidFill>
                            <a:srgbClr val="1A1A2E"/>
                          </a:solidFill>
                          <a:latin typeface="Calibri"/>
                        </a:rPr>
                        <a:t>as the </a:t>
                      </a:r>
                      <a:r>
                        <a:rPr lang="de-CH" sz="1150" dirty="0" err="1">
                          <a:solidFill>
                            <a:srgbClr val="1A1A2E"/>
                          </a:solidFill>
                          <a:latin typeface="Calibri"/>
                        </a:rPr>
                        <a:t>reasoning</a:t>
                      </a:r>
                      <a:r>
                        <a:rPr sz="1150" dirty="0">
                          <a:solidFill>
                            <a:srgbClr val="1A1A2E"/>
                          </a:solidFill>
                          <a:latin typeface="Calibri"/>
                        </a:rPr>
                        <a:t> engine</a:t>
                      </a:r>
                    </a:p>
                  </a:txBody>
                  <a:tcPr>
                    <a:solidFill>
                      <a:srgbClr val="FFFFFF"/>
                    </a:solidFill>
                  </a:tcPr>
                </a:tc>
                <a:tc>
                  <a:txBody>
                    <a:bodyPr/>
                    <a:lstStyle/>
                    <a:p>
                      <a:r>
                        <a:rPr sz="1150">
                          <a:solidFill>
                            <a:srgbClr val="1A1A2E"/>
                          </a:solidFill>
                          <a:latin typeface="Calibri"/>
                        </a:rPr>
                        <a:t>Excellent at using tools and reasoning over many steps, with room for large context</a:t>
                      </a:r>
                    </a:p>
                  </a:txBody>
                  <a:tcPr>
                    <a:solidFill>
                      <a:srgbClr val="FFFFFF"/>
                    </a:solidFill>
                  </a:tcPr>
                </a:tc>
                <a:extLst>
                  <a:ext uri="{0D108BD9-81ED-4DB2-BD59-A6C34878D82A}">
                    <a16:rowId xmlns:a16="http://schemas.microsoft.com/office/drawing/2014/main" val="10001"/>
                  </a:ext>
                </a:extLst>
              </a:tr>
              <a:tr h="603504">
                <a:tc>
                  <a:txBody>
                    <a:bodyPr/>
                    <a:lstStyle/>
                    <a:p>
                      <a:r>
                        <a:rPr sz="1150">
                          <a:solidFill>
                            <a:srgbClr val="1A1A2E"/>
                          </a:solidFill>
                          <a:latin typeface="Calibri"/>
                        </a:rPr>
                        <a:t>Specialist forecasts</a:t>
                      </a:r>
                    </a:p>
                  </a:txBody>
                  <a:tcPr>
                    <a:solidFill>
                      <a:srgbClr val="F2F4F8"/>
                    </a:solidFill>
                  </a:tcPr>
                </a:tc>
                <a:tc>
                  <a:txBody>
                    <a:bodyPr/>
                    <a:lstStyle/>
                    <a:p>
                      <a:r>
                        <a:rPr sz="1150" dirty="0">
                          <a:solidFill>
                            <a:srgbClr val="1A1A2E"/>
                          </a:solidFill>
                          <a:latin typeface="Calibri"/>
                        </a:rPr>
                        <a:t>The option to add a </a:t>
                      </a:r>
                      <a:r>
                        <a:rPr lang="de-CH" sz="1150" dirty="0" err="1">
                          <a:solidFill>
                            <a:srgbClr val="1A1A2E"/>
                          </a:solidFill>
                          <a:latin typeface="Calibri"/>
                        </a:rPr>
                        <a:t>fine-tuned</a:t>
                      </a:r>
                      <a:r>
                        <a:rPr sz="1150" dirty="0">
                          <a:solidFill>
                            <a:srgbClr val="1A1A2E"/>
                          </a:solidFill>
                          <a:latin typeface="Calibri"/>
                        </a:rPr>
                        <a:t> model for arrival and lifespan predictions</a:t>
                      </a:r>
                    </a:p>
                  </a:txBody>
                  <a:tcPr>
                    <a:solidFill>
                      <a:srgbClr val="F2F4F8"/>
                    </a:solidFill>
                  </a:tcPr>
                </a:tc>
                <a:tc>
                  <a:txBody>
                    <a:bodyPr/>
                    <a:lstStyle/>
                    <a:p>
                      <a:r>
                        <a:rPr lang="de-CH" sz="1150" dirty="0">
                          <a:solidFill>
                            <a:srgbClr val="1A1A2E"/>
                          </a:solidFill>
                          <a:latin typeface="Calibri"/>
                        </a:rPr>
                        <a:t>Fine-</a:t>
                      </a:r>
                      <a:r>
                        <a:rPr lang="de-CH" sz="1150" dirty="0" err="1">
                          <a:solidFill>
                            <a:srgbClr val="1A1A2E"/>
                          </a:solidFill>
                          <a:latin typeface="Calibri"/>
                        </a:rPr>
                        <a:t>tuned</a:t>
                      </a:r>
                      <a:r>
                        <a:rPr sz="1150" dirty="0">
                          <a:solidFill>
                            <a:srgbClr val="1A1A2E"/>
                          </a:solidFill>
                          <a:latin typeface="Calibri"/>
                        </a:rPr>
                        <a:t> models do better on numeric forecasts, and we can swap models freely</a:t>
                      </a:r>
                    </a:p>
                  </a:txBody>
                  <a:tcPr>
                    <a:solidFill>
                      <a:srgbClr val="F2F4F8"/>
                    </a:solidFill>
                  </a:tcPr>
                </a:tc>
                <a:extLst>
                  <a:ext uri="{0D108BD9-81ED-4DB2-BD59-A6C34878D82A}">
                    <a16:rowId xmlns:a16="http://schemas.microsoft.com/office/drawing/2014/main" val="10002"/>
                  </a:ext>
                </a:extLst>
              </a:tr>
              <a:tr h="603504">
                <a:tc>
                  <a:txBody>
                    <a:bodyPr/>
                    <a:lstStyle/>
                    <a:p>
                      <a:r>
                        <a:rPr lang="de-CH" sz="1150" dirty="0">
                          <a:solidFill>
                            <a:srgbClr val="1A1A2E"/>
                          </a:solidFill>
                          <a:latin typeface="Calibri"/>
                        </a:rPr>
                        <a:t>Cloud</a:t>
                      </a:r>
                      <a:endParaRPr sz="1150" dirty="0">
                        <a:solidFill>
                          <a:srgbClr val="1A1A2E"/>
                        </a:solidFill>
                        <a:latin typeface="Calibri"/>
                      </a:endParaRPr>
                    </a:p>
                  </a:txBody>
                  <a:tcPr>
                    <a:solidFill>
                      <a:srgbClr val="FFFFFF"/>
                    </a:solidFill>
                  </a:tcPr>
                </a:tc>
                <a:tc>
                  <a:txBody>
                    <a:bodyPr/>
                    <a:lstStyle/>
                    <a:p>
                      <a:r>
                        <a:rPr sz="1150">
                          <a:solidFill>
                            <a:srgbClr val="1A1A2E"/>
                          </a:solidFill>
                          <a:latin typeface="Calibri"/>
                        </a:rPr>
                        <a:t>Managed services on Amazon Bedrock or Google Vertex</a:t>
                      </a:r>
                    </a:p>
                  </a:txBody>
                  <a:tcPr>
                    <a:solidFill>
                      <a:srgbClr val="FFFFFF"/>
                    </a:solidFill>
                  </a:tcPr>
                </a:tc>
                <a:tc>
                  <a:txBody>
                    <a:bodyPr/>
                    <a:lstStyle/>
                    <a:p>
                      <a:r>
                        <a:rPr sz="1150">
                          <a:solidFill>
                            <a:srgbClr val="1A1A2E"/>
                          </a:solidFill>
                          <a:latin typeface="Calibri"/>
                        </a:rPr>
                        <a:t>Keeps our data in our own environment, with no heavy hardware to run ourselves</a:t>
                      </a:r>
                    </a:p>
                  </a:txBody>
                  <a:tcPr>
                    <a:solidFill>
                      <a:srgbClr val="FFFFFF"/>
                    </a:solidFill>
                  </a:tcPr>
                </a:tc>
                <a:extLst>
                  <a:ext uri="{0D108BD9-81ED-4DB2-BD59-A6C34878D82A}">
                    <a16:rowId xmlns:a16="http://schemas.microsoft.com/office/drawing/2014/main" val="10003"/>
                  </a:ext>
                </a:extLst>
              </a:tr>
              <a:tr h="603504">
                <a:tc>
                  <a:txBody>
                    <a:bodyPr/>
                    <a:lstStyle/>
                    <a:p>
                      <a:r>
                        <a:rPr lang="de-CH" sz="1150" dirty="0" err="1">
                          <a:solidFill>
                            <a:srgbClr val="1A1A2E"/>
                          </a:solidFill>
                          <a:latin typeface="Calibri"/>
                        </a:rPr>
                        <a:t>Platform</a:t>
                      </a:r>
                      <a:endParaRPr sz="1150" dirty="0">
                        <a:solidFill>
                          <a:srgbClr val="1A1A2E"/>
                        </a:solidFill>
                        <a:latin typeface="Calibri"/>
                      </a:endParaRPr>
                    </a:p>
                  </a:txBody>
                  <a:tcPr>
                    <a:solidFill>
                      <a:srgbClr val="F2F4F8"/>
                    </a:solidFill>
                  </a:tcPr>
                </a:tc>
                <a:tc>
                  <a:txBody>
                    <a:bodyPr/>
                    <a:lstStyle/>
                    <a:p>
                      <a:r>
                        <a:rPr sz="1150" dirty="0">
                          <a:solidFill>
                            <a:srgbClr val="1A1A2E"/>
                          </a:solidFill>
                          <a:latin typeface="Calibri"/>
                        </a:rPr>
                        <a:t>Python, with established agent frameworks (or a no-code option</a:t>
                      </a:r>
                      <a:r>
                        <a:rPr lang="de-CH" sz="1150" dirty="0">
                          <a:solidFill>
                            <a:srgbClr val="1A1A2E"/>
                          </a:solidFill>
                          <a:latin typeface="Calibri"/>
                        </a:rPr>
                        <a:t>, e.g. Helix</a:t>
                      </a:r>
                      <a:r>
                        <a:rPr sz="1150" dirty="0">
                          <a:solidFill>
                            <a:srgbClr val="1A1A2E"/>
                          </a:solidFill>
                          <a:latin typeface="Calibri"/>
                        </a:rPr>
                        <a:t>)</a:t>
                      </a:r>
                    </a:p>
                  </a:txBody>
                  <a:tcPr>
                    <a:solidFill>
                      <a:srgbClr val="F2F4F8"/>
                    </a:solidFill>
                  </a:tcPr>
                </a:tc>
                <a:tc>
                  <a:txBody>
                    <a:bodyPr/>
                    <a:lstStyle/>
                    <a:p>
                      <a:r>
                        <a:rPr sz="1150">
                          <a:solidFill>
                            <a:srgbClr val="1A1A2E"/>
                          </a:solidFill>
                          <a:latin typeface="Calibri"/>
                        </a:rPr>
                        <a:t>The richest ecosystem for agents, and our prototype runs offline in plain Python</a:t>
                      </a:r>
                    </a:p>
                  </a:txBody>
                  <a:tcPr>
                    <a:solidFill>
                      <a:srgbClr val="F2F4F8"/>
                    </a:solidFill>
                  </a:tcPr>
                </a:tc>
                <a:extLst>
                  <a:ext uri="{0D108BD9-81ED-4DB2-BD59-A6C34878D82A}">
                    <a16:rowId xmlns:a16="http://schemas.microsoft.com/office/drawing/2014/main" val="10004"/>
                  </a:ext>
                </a:extLst>
              </a:tr>
              <a:tr h="603504">
                <a:tc>
                  <a:txBody>
                    <a:bodyPr/>
                    <a:lstStyle/>
                    <a:p>
                      <a:r>
                        <a:rPr lang="de-CH" sz="1150" dirty="0">
                          <a:solidFill>
                            <a:srgbClr val="1A1A2E"/>
                          </a:solidFill>
                          <a:latin typeface="Calibri"/>
                        </a:rPr>
                        <a:t>Standards</a:t>
                      </a:r>
                      <a:endParaRPr sz="1150" dirty="0">
                        <a:solidFill>
                          <a:srgbClr val="1A1A2E"/>
                        </a:solidFill>
                        <a:latin typeface="Calibri"/>
                      </a:endParaRPr>
                    </a:p>
                  </a:txBody>
                  <a:tcPr>
                    <a:solidFill>
                      <a:srgbClr val="FFFFFF"/>
                    </a:solidFill>
                  </a:tcPr>
                </a:tc>
                <a:tc>
                  <a:txBody>
                    <a:bodyPr/>
                    <a:lstStyle/>
                    <a:p>
                      <a:r>
                        <a:rPr sz="1150">
                          <a:solidFill>
                            <a:srgbClr val="1A1A2E"/>
                          </a:solidFill>
                          <a:latin typeface="Calibri"/>
                        </a:rPr>
                        <a:t>The Model Context Protocol, Agent-to-Agent messaging, and tracing tools</a:t>
                      </a:r>
                    </a:p>
                  </a:txBody>
                  <a:tcPr>
                    <a:solidFill>
                      <a:srgbClr val="FFFFFF"/>
                    </a:solidFill>
                  </a:tcPr>
                </a:tc>
                <a:tc>
                  <a:txBody>
                    <a:bodyPr/>
                    <a:lstStyle/>
                    <a:p>
                      <a:r>
                        <a:rPr sz="1150" dirty="0">
                          <a:solidFill>
                            <a:srgbClr val="1A1A2E"/>
                          </a:solidFill>
                          <a:latin typeface="Calibri"/>
                        </a:rPr>
                        <a:t>Keeps integrations simple and makes every decision fully auditable</a:t>
                      </a:r>
                    </a:p>
                  </a:txBody>
                  <a:tcPr>
                    <a:solidFill>
                      <a:srgbClr val="FFFFFF"/>
                    </a:solidFill>
                  </a:tcPr>
                </a:tc>
                <a:extLst>
                  <a:ext uri="{0D108BD9-81ED-4DB2-BD59-A6C34878D82A}">
                    <a16:rowId xmlns:a16="http://schemas.microsoft.com/office/drawing/2014/main" val="10005"/>
                  </a:ext>
                </a:extLst>
              </a:tr>
            </a:tbl>
          </a:graphicData>
        </a:graphic>
      </p:graphicFrame>
      <p:sp>
        <p:nvSpPr>
          <p:cNvPr id="8" name="Rectangle 7"/>
          <p:cNvSpPr/>
          <p:nvPr/>
        </p:nvSpPr>
        <p:spPr>
          <a:xfrm>
            <a:off x="548640" y="5623560"/>
            <a:ext cx="11064240" cy="68580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31520" y="5717814"/>
            <a:ext cx="10698480" cy="488147"/>
          </a:xfrm>
          <a:prstGeom prst="rect">
            <a:avLst/>
          </a:prstGeom>
          <a:noFill/>
        </p:spPr>
        <p:txBody>
          <a:bodyPr wrap="square" anchor="ctr">
            <a:spAutoFit/>
          </a:bodyPr>
          <a:lstStyle/>
          <a:p>
            <a:pPr algn="l">
              <a:lnSpc>
                <a:spcPct val="105000"/>
              </a:lnSpc>
              <a:spcAft>
                <a:spcPts val="600"/>
              </a:spcAft>
            </a:pPr>
            <a:r>
              <a:rPr sz="1250" b="1" dirty="0">
                <a:solidFill>
                  <a:srgbClr val="0E7C86"/>
                </a:solidFill>
                <a:latin typeface="Calibri"/>
              </a:rPr>
              <a:t>Our working prototype already mirrors this design: </a:t>
            </a:r>
            <a:r>
              <a:rPr sz="1250" b="0" dirty="0">
                <a:solidFill>
                  <a:srgbClr val="1A1A2E"/>
                </a:solidFill>
                <a:latin typeface="Calibri"/>
              </a:rPr>
              <a:t>a tool registry for the connectors, a console trace for the production tracing, and a single orchestrator for the supervisor.</a:t>
            </a:r>
          </a:p>
        </p:txBody>
      </p:sp>
      <p:sp>
        <p:nvSpPr>
          <p:cNvPr id="10" name="Rectangle 9"/>
          <p:cNvSpPr/>
          <p:nvPr/>
        </p:nvSpPr>
        <p:spPr>
          <a:xfrm>
            <a:off x="0" y="6510528"/>
            <a:ext cx="12191695" cy="347472"/>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292608" cy="68580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37744"/>
            <a:ext cx="10972800" cy="365760"/>
          </a:xfrm>
          <a:prstGeom prst="rect">
            <a:avLst/>
          </a:prstGeom>
          <a:noFill/>
        </p:spPr>
        <p:txBody>
          <a:bodyPr wrap="square" anchor="t">
            <a:spAutoFit/>
          </a:bodyPr>
          <a:lstStyle/>
          <a:p>
            <a:pPr algn="l">
              <a:lnSpc>
                <a:spcPct val="105000"/>
              </a:lnSpc>
              <a:spcAft>
                <a:spcPts val="600"/>
              </a:spcAft>
            </a:pPr>
            <a:r>
              <a:rPr sz="1300" b="1">
                <a:solidFill>
                  <a:srgbClr val="555555"/>
                </a:solidFill>
                <a:latin typeface="Calibri"/>
              </a:rPr>
              <a:t>THE PAYOFF AND WHAT IS NEXT</a:t>
            </a:r>
          </a:p>
        </p:txBody>
      </p:sp>
      <p:sp>
        <p:nvSpPr>
          <p:cNvPr id="4" name="TextBox 3"/>
          <p:cNvSpPr txBox="1"/>
          <p:nvPr/>
        </p:nvSpPr>
        <p:spPr>
          <a:xfrm>
            <a:off x="502920" y="530352"/>
            <a:ext cx="11247120" cy="822960"/>
          </a:xfrm>
          <a:prstGeom prst="rect">
            <a:avLst/>
          </a:prstGeom>
          <a:noFill/>
        </p:spPr>
        <p:txBody>
          <a:bodyPr wrap="square" anchor="t">
            <a:spAutoFit/>
          </a:bodyPr>
          <a:lstStyle/>
          <a:p>
            <a:pPr algn="l">
              <a:lnSpc>
                <a:spcPct val="105000"/>
              </a:lnSpc>
              <a:spcAft>
                <a:spcPts val="600"/>
              </a:spcAft>
            </a:pPr>
            <a:r>
              <a:rPr sz="2700" b="1">
                <a:solidFill>
                  <a:srgbClr val="0A1F6B"/>
                </a:solidFill>
                <a:latin typeface="Calibri"/>
              </a:rPr>
              <a:t>10. The payoff, and where we go next</a:t>
            </a:r>
          </a:p>
        </p:txBody>
      </p:sp>
      <p:sp>
        <p:nvSpPr>
          <p:cNvPr id="5" name="Rectangle 4"/>
          <p:cNvSpPr/>
          <p:nvPr/>
        </p:nvSpPr>
        <p:spPr>
          <a:xfrm>
            <a:off x="548640" y="1243584"/>
            <a:ext cx="2011680" cy="54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417320"/>
            <a:ext cx="11064240" cy="365760"/>
          </a:xfrm>
          <a:prstGeom prst="rect">
            <a:avLst/>
          </a:prstGeom>
          <a:noFill/>
        </p:spPr>
        <p:txBody>
          <a:bodyPr wrap="square" anchor="t">
            <a:spAutoFit/>
          </a:bodyPr>
          <a:lstStyle/>
          <a:p>
            <a:pPr algn="l">
              <a:lnSpc>
                <a:spcPct val="105000"/>
              </a:lnSpc>
              <a:spcAft>
                <a:spcPts val="600"/>
              </a:spcAft>
            </a:pPr>
            <a:r>
              <a:rPr sz="1500" b="1">
                <a:solidFill>
                  <a:srgbClr val="0A1F6B"/>
                </a:solidFill>
                <a:latin typeface="Calibri"/>
              </a:rPr>
              <a:t>What we expect to gain</a:t>
            </a:r>
          </a:p>
        </p:txBody>
      </p:sp>
      <p:sp>
        <p:nvSpPr>
          <p:cNvPr id="7" name="TextBox 6"/>
          <p:cNvSpPr txBox="1"/>
          <p:nvPr/>
        </p:nvSpPr>
        <p:spPr>
          <a:xfrm>
            <a:off x="548640" y="1828800"/>
            <a:ext cx="11064240" cy="1371600"/>
          </a:xfrm>
          <a:prstGeom prst="rect">
            <a:avLst/>
          </a:prstGeom>
          <a:noFill/>
        </p:spPr>
        <p:txBody>
          <a:bodyPr wrap="square" anchor="t">
            <a:spAutoFit/>
          </a:bodyPr>
          <a:lstStyle/>
          <a:p>
            <a:pPr algn="l">
              <a:lnSpc>
                <a:spcPct val="110000"/>
              </a:lnSpc>
              <a:spcAft>
                <a:spcPts val="800"/>
              </a:spcAft>
            </a:pPr>
            <a:r>
              <a:rPr sz="1450" b="1">
                <a:solidFill>
                  <a:srgbClr val="0E7C86"/>
                </a:solidFill>
                <a:latin typeface="Calibri"/>
              </a:rPr>
              <a:t>•  </a:t>
            </a:r>
            <a:r>
              <a:rPr sz="1450" b="0">
                <a:solidFill>
                  <a:srgbClr val="1A1A2E"/>
                </a:solidFill>
                <a:latin typeface="Calibri"/>
              </a:rPr>
              <a:t>Protect that $14 million quarterly loss and cut rushed-freight spending by roughly a third.</a:t>
            </a:r>
          </a:p>
          <a:p>
            <a:pPr algn="l">
              <a:lnSpc>
                <a:spcPct val="110000"/>
              </a:lnSpc>
              <a:spcAft>
                <a:spcPts val="800"/>
              </a:spcAft>
            </a:pPr>
            <a:r>
              <a:rPr sz="1450" b="1">
                <a:solidFill>
                  <a:srgbClr val="0E7C86"/>
                </a:solidFill>
                <a:latin typeface="Calibri"/>
              </a:rPr>
              <a:t>•  </a:t>
            </a:r>
            <a:r>
              <a:rPr sz="1450" b="0">
                <a:solidFill>
                  <a:srgbClr val="1A1A2E"/>
                </a:solidFill>
                <a:latin typeface="Calibri"/>
              </a:rPr>
              <a:t>Turn days of manual analysis into minutes, with full visibility into every critical part, right down to its deepest suppliers.</a:t>
            </a:r>
          </a:p>
        </p:txBody>
      </p:sp>
      <p:sp>
        <p:nvSpPr>
          <p:cNvPr id="8" name="TextBox 7"/>
          <p:cNvSpPr txBox="1"/>
          <p:nvPr/>
        </p:nvSpPr>
        <p:spPr>
          <a:xfrm>
            <a:off x="548640" y="3200400"/>
            <a:ext cx="11064240" cy="365760"/>
          </a:xfrm>
          <a:prstGeom prst="rect">
            <a:avLst/>
          </a:prstGeom>
          <a:noFill/>
        </p:spPr>
        <p:txBody>
          <a:bodyPr wrap="square" anchor="t">
            <a:spAutoFit/>
          </a:bodyPr>
          <a:lstStyle/>
          <a:p>
            <a:pPr algn="l">
              <a:lnSpc>
                <a:spcPct val="105000"/>
              </a:lnSpc>
              <a:spcAft>
                <a:spcPts val="600"/>
              </a:spcAft>
            </a:pPr>
            <a:r>
              <a:rPr sz="1500" b="1">
                <a:solidFill>
                  <a:srgbClr val="0A1F6B"/>
                </a:solidFill>
                <a:latin typeface="Calibri"/>
              </a:rPr>
              <a:t>Where we go next</a:t>
            </a:r>
          </a:p>
        </p:txBody>
      </p:sp>
      <p:sp>
        <p:nvSpPr>
          <p:cNvPr id="9" name="TextBox 8"/>
          <p:cNvSpPr txBox="1"/>
          <p:nvPr/>
        </p:nvSpPr>
        <p:spPr>
          <a:xfrm>
            <a:off x="548640" y="3611880"/>
            <a:ext cx="11064240" cy="2011680"/>
          </a:xfrm>
          <a:prstGeom prst="rect">
            <a:avLst/>
          </a:prstGeom>
          <a:noFill/>
        </p:spPr>
        <p:txBody>
          <a:bodyPr wrap="square" anchor="t">
            <a:spAutoFit/>
          </a:bodyPr>
          <a:lstStyle/>
          <a:p>
            <a:pPr algn="l">
              <a:lnSpc>
                <a:spcPct val="110000"/>
              </a:lnSpc>
              <a:spcAft>
                <a:spcPts val="800"/>
              </a:spcAft>
            </a:pPr>
            <a:r>
              <a:rPr sz="1450" b="1">
                <a:solidFill>
                  <a:srgbClr val="0E7C86"/>
                </a:solidFill>
                <a:latin typeface="Calibri"/>
              </a:rPr>
              <a:t>•  </a:t>
            </a:r>
            <a:r>
              <a:rPr sz="1450" b="1">
                <a:solidFill>
                  <a:srgbClr val="1A1A2E"/>
                </a:solidFill>
                <a:latin typeface="Calibri"/>
              </a:rPr>
              <a:t>Pilot: </a:t>
            </a:r>
            <a:r>
              <a:rPr sz="1450" b="0">
                <a:solidFill>
                  <a:srgbClr val="1A1A2E"/>
                </a:solidFill>
                <a:latin typeface="Calibri"/>
              </a:rPr>
              <a:t>run a three-month trial on the Stuttgart line and measure two things, hours of downtime and freight cost.</a:t>
            </a:r>
          </a:p>
          <a:p>
            <a:pPr algn="l">
              <a:lnSpc>
                <a:spcPct val="110000"/>
              </a:lnSpc>
              <a:spcAft>
                <a:spcPts val="800"/>
              </a:spcAft>
            </a:pPr>
            <a:r>
              <a:rPr sz="1450" b="1">
                <a:solidFill>
                  <a:srgbClr val="0E7C86"/>
                </a:solidFill>
                <a:latin typeface="Calibri"/>
              </a:rPr>
              <a:t>•  </a:t>
            </a:r>
            <a:r>
              <a:rPr sz="1450" b="1">
                <a:solidFill>
                  <a:srgbClr val="1A1A2E"/>
                </a:solidFill>
                <a:latin typeface="Calibri"/>
              </a:rPr>
              <a:t>Learn: </a:t>
            </a:r>
            <a:r>
              <a:rPr sz="1450" b="0">
                <a:solidFill>
                  <a:srgbClr val="1A1A2E"/>
                </a:solidFill>
                <a:latin typeface="Calibri"/>
              </a:rPr>
              <a:t>feed planner approvals and edits back in to sharpen the risk scores and supplier preferences.</a:t>
            </a:r>
          </a:p>
          <a:p>
            <a:pPr algn="l">
              <a:lnSpc>
                <a:spcPct val="110000"/>
              </a:lnSpc>
              <a:spcAft>
                <a:spcPts val="800"/>
              </a:spcAft>
            </a:pPr>
            <a:r>
              <a:rPr sz="1450" b="1">
                <a:solidFill>
                  <a:srgbClr val="0E7C86"/>
                </a:solidFill>
                <a:latin typeface="Calibri"/>
              </a:rPr>
              <a:t>•  </a:t>
            </a:r>
            <a:r>
              <a:rPr sz="1450" b="1">
                <a:solidFill>
                  <a:srgbClr val="1A1A2E"/>
                </a:solidFill>
                <a:latin typeface="Calibri"/>
              </a:rPr>
              <a:t>Grow: </a:t>
            </a:r>
            <a:r>
              <a:rPr sz="1450" b="0">
                <a:solidFill>
                  <a:srgbClr val="1A1A2E"/>
                </a:solidFill>
                <a:latin typeface="Calibri"/>
              </a:rPr>
              <a:t>extend it to all twenty-eight plants, and then to the other challenges such as maintenance and quality, using the deeper hierarchy described earlier.</a:t>
            </a:r>
          </a:p>
          <a:p>
            <a:pPr algn="l">
              <a:lnSpc>
                <a:spcPct val="110000"/>
              </a:lnSpc>
              <a:spcAft>
                <a:spcPts val="800"/>
              </a:spcAft>
            </a:pPr>
            <a:r>
              <a:rPr sz="1450" b="1">
                <a:solidFill>
                  <a:srgbClr val="0E7C86"/>
                </a:solidFill>
                <a:latin typeface="Calibri"/>
              </a:rPr>
              <a:t>•  </a:t>
            </a:r>
            <a:r>
              <a:rPr sz="1450" b="1">
                <a:solidFill>
                  <a:srgbClr val="1A1A2E"/>
                </a:solidFill>
                <a:latin typeface="Calibri"/>
              </a:rPr>
              <a:t>Strengthen: </a:t>
            </a:r>
            <a:r>
              <a:rPr sz="1450" b="0">
                <a:solidFill>
                  <a:srgbClr val="1A1A2E"/>
                </a:solidFill>
                <a:latin typeface="Calibri"/>
              </a:rPr>
              <a:t>connect the live systems and add full production-grade tracing.</a:t>
            </a:r>
          </a:p>
        </p:txBody>
      </p:sp>
      <p:sp>
        <p:nvSpPr>
          <p:cNvPr id="10" name="Rectangle 9"/>
          <p:cNvSpPr/>
          <p:nvPr/>
        </p:nvSpPr>
        <p:spPr>
          <a:xfrm>
            <a:off x="548640" y="5806440"/>
            <a:ext cx="11064240" cy="548640"/>
          </a:xfrm>
          <a:prstGeom prst="rect">
            <a:avLst/>
          </a:prstGeom>
          <a:solidFill>
            <a:srgbClr val="0A1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31520" y="5833872"/>
            <a:ext cx="10698480" cy="502920"/>
          </a:xfrm>
          <a:prstGeom prst="rect">
            <a:avLst/>
          </a:prstGeom>
          <a:noFill/>
        </p:spPr>
        <p:txBody>
          <a:bodyPr wrap="square" anchor="ctr">
            <a:spAutoFit/>
          </a:bodyPr>
          <a:lstStyle/>
          <a:p>
            <a:pPr algn="l">
              <a:lnSpc>
                <a:spcPct val="105000"/>
              </a:lnSpc>
              <a:spcAft>
                <a:spcPts val="600"/>
              </a:spcAft>
            </a:pPr>
            <a:r>
              <a:rPr sz="1500" b="1">
                <a:solidFill>
                  <a:srgbClr val="6CB400"/>
                </a:solidFill>
                <a:latin typeface="Calibri"/>
              </a:rPr>
              <a:t>What we are asking for: </a:t>
            </a:r>
            <a:r>
              <a:rPr sz="1500" b="0">
                <a:solidFill>
                  <a:srgbClr val="FFFFFF"/>
                </a:solidFill>
                <a:latin typeface="Calibri"/>
              </a:rPr>
              <a:t>approval to run a single-line, single-quarter pilot. Low cost, low risk, and easy to measure.</a:t>
            </a:r>
          </a:p>
        </p:txBody>
      </p:sp>
      <p:sp>
        <p:nvSpPr>
          <p:cNvPr id="12" name="Rectangle 11"/>
          <p:cNvSpPr/>
          <p:nvPr/>
        </p:nvSpPr>
        <p:spPr>
          <a:xfrm>
            <a:off x="0" y="6510528"/>
            <a:ext cx="12191695" cy="347472"/>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A1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2788920"/>
            <a:ext cx="12191695" cy="73152"/>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2926080"/>
            <a:ext cx="10515600" cy="1005840"/>
          </a:xfrm>
          <a:prstGeom prst="rect">
            <a:avLst/>
          </a:prstGeom>
          <a:noFill/>
        </p:spPr>
        <p:txBody>
          <a:bodyPr wrap="square" anchor="t">
            <a:spAutoFit/>
          </a:bodyPr>
          <a:lstStyle/>
          <a:p>
            <a:pPr algn="l">
              <a:lnSpc>
                <a:spcPct val="105000"/>
              </a:lnSpc>
              <a:spcAft>
                <a:spcPts val="600"/>
              </a:spcAft>
            </a:pPr>
            <a:r>
              <a:rPr sz="5000" b="1">
                <a:solidFill>
                  <a:srgbClr val="FFFFFF"/>
                </a:solidFill>
                <a:latin typeface="Calibri"/>
              </a:rPr>
              <a:t>Thank you</a:t>
            </a:r>
          </a:p>
        </p:txBody>
      </p:sp>
      <p:sp>
        <p:nvSpPr>
          <p:cNvPr id="5" name="TextBox 4"/>
          <p:cNvSpPr txBox="1"/>
          <p:nvPr/>
        </p:nvSpPr>
        <p:spPr>
          <a:xfrm>
            <a:off x="868680" y="3977639"/>
            <a:ext cx="10607040" cy="640080"/>
          </a:xfrm>
          <a:prstGeom prst="rect">
            <a:avLst/>
          </a:prstGeom>
          <a:noFill/>
        </p:spPr>
        <p:txBody>
          <a:bodyPr wrap="square" anchor="t">
            <a:spAutoFit/>
          </a:bodyPr>
          <a:lstStyle/>
          <a:p>
            <a:pPr algn="l">
              <a:lnSpc>
                <a:spcPct val="105000"/>
              </a:lnSpc>
              <a:spcAft>
                <a:spcPts val="600"/>
              </a:spcAft>
            </a:pPr>
            <a:r>
              <a:rPr sz="2200" b="0">
                <a:solidFill>
                  <a:srgbClr val="5FD0D9"/>
                </a:solidFill>
                <a:latin typeface="Calibri"/>
              </a:rPr>
              <a:t>We would love to hear your questions.</a:t>
            </a:r>
          </a:p>
        </p:txBody>
      </p:sp>
      <p:sp>
        <p:nvSpPr>
          <p:cNvPr id="6" name="TextBox 5"/>
          <p:cNvSpPr txBox="1"/>
          <p:nvPr/>
        </p:nvSpPr>
        <p:spPr>
          <a:xfrm>
            <a:off x="868680" y="4709160"/>
            <a:ext cx="10607040" cy="548640"/>
          </a:xfrm>
          <a:prstGeom prst="rect">
            <a:avLst/>
          </a:prstGeom>
          <a:noFill/>
        </p:spPr>
        <p:txBody>
          <a:bodyPr wrap="square" anchor="t">
            <a:spAutoFit/>
          </a:bodyPr>
          <a:lstStyle/>
          <a:p>
            <a:pPr algn="l">
              <a:lnSpc>
                <a:spcPct val="105000"/>
              </a:lnSpc>
              <a:spcAft>
                <a:spcPts val="600"/>
              </a:spcAft>
            </a:pPr>
            <a:r>
              <a:rPr sz="1600" b="0">
                <a:solidFill>
                  <a:srgbClr val="FFFFFF"/>
                </a:solidFill>
                <a:latin typeface="Calibri"/>
              </a:rPr>
              <a:t>Supply Chain Sentinel: catching supply shocks early, and keeping Titan's lines running.</a:t>
            </a:r>
          </a:p>
        </p:txBody>
      </p:sp>
      <p:sp>
        <p:nvSpPr>
          <p:cNvPr id="7" name="TextBox 6"/>
          <p:cNvSpPr txBox="1"/>
          <p:nvPr/>
        </p:nvSpPr>
        <p:spPr>
          <a:xfrm>
            <a:off x="868680" y="5943600"/>
            <a:ext cx="10607040" cy="293863"/>
          </a:xfrm>
          <a:prstGeom prst="rect">
            <a:avLst/>
          </a:prstGeom>
          <a:noFill/>
        </p:spPr>
        <p:txBody>
          <a:bodyPr wrap="square" anchor="t">
            <a:spAutoFit/>
          </a:bodyPr>
          <a:lstStyle/>
          <a:p>
            <a:pPr>
              <a:lnSpc>
                <a:spcPct val="105000"/>
              </a:lnSpc>
              <a:spcAft>
                <a:spcPts val="600"/>
              </a:spcAft>
            </a:pPr>
            <a:r>
              <a:rPr sz="1300" b="0" dirty="0">
                <a:solidFill>
                  <a:srgbClr val="CFDAF0"/>
                </a:solidFill>
                <a:latin typeface="Calibri"/>
              </a:rPr>
              <a:t>Team: Gilles Hamers, </a:t>
            </a:r>
            <a:r>
              <a:rPr lang="de-CH" sz="1300" dirty="0">
                <a:solidFill>
                  <a:srgbClr val="CFDAF0"/>
                </a:solidFill>
                <a:latin typeface="Calibri"/>
              </a:rPr>
              <a:t>Lorenz Rösgen, Dan </a:t>
            </a:r>
            <a:r>
              <a:rPr lang="de-CH" sz="1300" dirty="0" err="1">
                <a:solidFill>
                  <a:srgbClr val="CFDAF0"/>
                </a:solidFill>
                <a:latin typeface="Calibri"/>
              </a:rPr>
              <a:t>Tigu</a:t>
            </a:r>
            <a:r>
              <a:rPr lang="de-CH" sz="1300" dirty="0">
                <a:solidFill>
                  <a:srgbClr val="CFDAF0"/>
                </a:solidFill>
                <a:latin typeface="Calibri"/>
              </a:rPr>
              <a:t>, Marti </a:t>
            </a:r>
            <a:r>
              <a:rPr lang="de-CH" sz="1300" dirty="0" err="1">
                <a:solidFill>
                  <a:srgbClr val="CFDAF0"/>
                </a:solidFill>
                <a:latin typeface="Calibri"/>
              </a:rPr>
              <a:t>Solà</a:t>
            </a:r>
            <a:r>
              <a:rPr lang="de-CH" sz="1300" dirty="0">
                <a:solidFill>
                  <a:srgbClr val="CFDAF0"/>
                </a:solidFill>
                <a:latin typeface="Calibri"/>
              </a:rPr>
              <a:t> Puig</a:t>
            </a:r>
            <a:r>
              <a:rPr sz="1300" b="0" dirty="0">
                <a:solidFill>
                  <a:srgbClr val="CFDAF0"/>
                </a:solidFill>
                <a:latin typeface="Calibri"/>
              </a:rPr>
              <a:t>  |  Agentic AI for IT, IE University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25</TotalTime>
  <Words>2482</Words>
  <Application>Microsoft Macintosh PowerPoint</Application>
  <PresentationFormat>Widescreen</PresentationFormat>
  <Paragraphs>210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Gilles Hamers</cp:lastModifiedBy>
  <cp:revision>4</cp:revision>
  <dcterms:created xsi:type="dcterms:W3CDTF">2013-01-27T09:14:16Z</dcterms:created>
  <dcterms:modified xsi:type="dcterms:W3CDTF">2026-06-30T11:01:44Z</dcterms:modified>
  <cp:category/>
</cp:coreProperties>
</file>