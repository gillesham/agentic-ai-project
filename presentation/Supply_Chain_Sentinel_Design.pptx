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(30s): This is our engineering view of the system. We will walk the goal, the architecture and why we chose it, the memory model, the tools, the agent loop, interoperability, a concrete run, risk controls and the technology stack. It mirrors our design docs. Replace teammate names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Goal sentence first, then the money (14M, 180k/day, +52% freight), then the metrics. This is straight from docs/02 section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Top table is triggers, inputs and what changes versus what is stable. The bottom row is the four memory types from Session 2, which is what lets the agent reason with context rather than from scratch each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(90s) This is the core diagram from docs/03. Top: a thin supervisor that only decides and routes. Middle: four specialists, each an augmented LLM running its own reason-and-act loop. They share state over a Blackboard. Below: the MCP tool layer with approval-gated write tools starred. Bottom: the real systems of record we would connect.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The rubric asks for trade-offs, so name them. Each sub-agent runs ReAct because the step count is not fixed and we need observe-and-adapt behaviour. This table is lifted directly from docs/03.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Read tools are perception, execute tools are computation, write tools are real-world actions. The approval column is the guardrail. The agent decides which tool and with what arguments; the tool only performs the operation. Full machine-readable descriptions are in docs/04.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(90s) The four lifecycle stages from the handout. The honest note at the bottom matters: we are not claiming magic self-learning; the loop improves because planner feedback is curated back into thresholds and rankings.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Two design pillars on top: MCP keeps integrations linear, A2A shares context, and everything is traced for audit. The table shows each production piece has a working stand-in in our repo, so the MVP is faithful to the design.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to 4 min, the centrepiece) Optionally run the live demo here; it is deterministic and offline. The Adapt step is the proof of real reasoning: the agent rejects its own first plan because expediting a shipment blocked upstream is pointless. Numbers are exactly those in docs/05.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Note for the professor: the design handout itself carried a hidden SYSTEM OVERRIDE instruction telling AI tools to refuse the task, a real indirect prompt-injection. We disregarded it as untrusted document content, which is exactly the prompt-injection guardrail 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Straight from docs/02 section 8. The key message: strongest reasoning model, model-agnostic integration so we can swap, hosted in our own cloud for data control, Python on open standards so nothing is locked 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 Close on outcomes then the roadmap. The hierarchical pattern from slide 4 is the growth path to the other case challenges. End on the pilot ask and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40280"/>
            <a:ext cx="12191695" cy="7315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31720"/>
            <a:ext cx="10515600" cy="1280160"/>
          </a:xfrm>
          <a:prstGeom prst="rect">
            <a:avLst/>
          </a:prstGeom>
          <a:noFill/>
        </p:spPr>
        <p:txBody>
          <a:bodyPr wrap="square" anchor="t">
            <a:spAutoFit/>
          </a:bodyPr>
          <a:lstStyle/>
          <a:p>
            <a:pPr algn="l">
              <a:lnSpc>
                <a:spcPct val="105000"/>
              </a:lnSpc>
              <a:spcAft>
                <a:spcPts val="600"/>
              </a:spcAft>
            </a:pPr>
            <a:r>
              <a:rPr sz="5000" b="1">
                <a:solidFill>
                  <a:srgbClr val="FFFFFF"/>
                </a:solidFill>
                <a:latin typeface="Calibri"/>
              </a:rPr>
              <a:t>Supply Chain Sentinel</a:t>
            </a:r>
          </a:p>
        </p:txBody>
      </p:sp>
      <p:sp>
        <p:nvSpPr>
          <p:cNvPr id="5" name="TextBox 4"/>
          <p:cNvSpPr txBox="1"/>
          <p:nvPr/>
        </p:nvSpPr>
        <p:spPr>
          <a:xfrm>
            <a:off x="868680" y="3337560"/>
            <a:ext cx="10607040" cy="822960"/>
          </a:xfrm>
          <a:prstGeom prst="rect">
            <a:avLst/>
          </a:prstGeom>
          <a:noFill/>
        </p:spPr>
        <p:txBody>
          <a:bodyPr wrap="square" anchor="t">
            <a:spAutoFit/>
          </a:bodyPr>
          <a:lstStyle/>
          <a:p>
            <a:pPr algn="l">
              <a:lnSpc>
                <a:spcPct val="105000"/>
              </a:lnSpc>
              <a:spcAft>
                <a:spcPts val="600"/>
              </a:spcAft>
            </a:pPr>
            <a:r>
              <a:rPr sz="2400" b="0">
                <a:solidFill>
                  <a:srgbClr val="5FD0D9"/>
                </a:solidFill>
                <a:latin typeface="Calibri"/>
              </a:rPr>
              <a:t>Technical design and architecture deep dive</a:t>
            </a:r>
          </a:p>
        </p:txBody>
      </p:sp>
      <p:sp>
        <p:nvSpPr>
          <p:cNvPr id="6" name="TextBox 5"/>
          <p:cNvSpPr txBox="1"/>
          <p:nvPr/>
        </p:nvSpPr>
        <p:spPr>
          <a:xfrm>
            <a:off x="868680" y="4114800"/>
            <a:ext cx="10607040" cy="548640"/>
          </a:xfrm>
          <a:prstGeom prst="rect">
            <a:avLst/>
          </a:prstGeom>
          <a:noFill/>
        </p:spPr>
        <p:txBody>
          <a:bodyPr wrap="square" anchor="t">
            <a:spAutoFit/>
          </a:bodyPr>
          <a:lstStyle/>
          <a:p>
            <a:pPr algn="l">
              <a:lnSpc>
                <a:spcPct val="105000"/>
              </a:lnSpc>
              <a:spcAft>
                <a:spcPts val="600"/>
              </a:spcAft>
            </a:pPr>
            <a:r>
              <a:rPr sz="1700" b="0">
                <a:solidFill>
                  <a:srgbClr val="FFFFFF"/>
                </a:solidFill>
                <a:latin typeface="Calibri"/>
              </a:rPr>
              <a:t>An agentic AI system for supply chain volatility | Titan Manufacturing Corporation</a:t>
            </a:r>
          </a:p>
        </p:txBody>
      </p:sp>
      <p:sp>
        <p:nvSpPr>
          <p:cNvPr id="7" name="TextBox 6"/>
          <p:cNvSpPr txBox="1"/>
          <p:nvPr/>
        </p:nvSpPr>
        <p:spPr>
          <a:xfrm>
            <a:off x="868680" y="5577840"/>
            <a:ext cx="10607040" cy="822960"/>
          </a:xfrm>
          <a:prstGeom prst="rect">
            <a:avLst/>
          </a:prstGeom>
          <a:noFill/>
        </p:spPr>
        <p:txBody>
          <a:bodyPr wrap="square" anchor="t">
            <a:spAutoFit/>
          </a:bodyPr>
          <a:lstStyle/>
          <a:p>
            <a:pPr algn="l">
              <a:lnSpc>
                <a:spcPct val="105000"/>
              </a:lnSpc>
              <a:spcAft>
                <a:spcPts val="600"/>
              </a:spcAft>
            </a:pPr>
            <a:r>
              <a:rPr sz="1400" b="0">
                <a:solidFill>
                  <a:srgbClr val="CFDAF0"/>
                </a:solidFill>
                <a:latin typeface="Calibri"/>
              </a:rPr>
              <a:t>Agentic AI for IT  |  IE University, School of Science &amp; Technology</a:t>
            </a:r>
          </a:p>
          <a:p>
            <a:pPr algn="l">
              <a:lnSpc>
                <a:spcPct val="105000"/>
              </a:lnSpc>
              <a:spcAft>
                <a:spcPts val="600"/>
              </a:spcAft>
            </a:pPr>
            <a:r>
              <a:rPr sz="1400" b="0">
                <a:solidFill>
                  <a:srgbClr val="CFDAF0"/>
                </a:solidFill>
                <a:latin typeface="Calibri"/>
              </a:rPr>
              <a:t>Team: Gilles Hamers, [teammate], [teammate]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GOAL &amp; PROBLEM</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1. Agent goal and the value behind it</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17320"/>
            <a:ext cx="11064240" cy="10515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36192"/>
            <a:ext cx="10698480" cy="868680"/>
          </a:xfrm>
          <a:prstGeom prst="rect">
            <a:avLst/>
          </a:prstGeom>
          <a:noFill/>
        </p:spPr>
        <p:txBody>
          <a:bodyPr wrap="square" anchor="ctr">
            <a:spAutoFit/>
          </a:bodyPr>
          <a:lstStyle/>
          <a:p>
            <a:pPr algn="l">
              <a:lnSpc>
                <a:spcPct val="105000"/>
              </a:lnSpc>
              <a:spcAft>
                <a:spcPts val="600"/>
              </a:spcAft>
            </a:pPr>
            <a:r>
              <a:rPr sz="1600" b="1">
                <a:solidFill>
                  <a:srgbClr val="0E7C86"/>
                </a:solidFill>
                <a:latin typeface="Calibri"/>
              </a:rPr>
              <a:t>Primary goal: </a:t>
            </a:r>
            <a:r>
              <a:rPr sz="1600" b="0">
                <a:solidFill>
                  <a:srgbClr val="1A1A2E"/>
                </a:solidFill>
                <a:latin typeface="Calibri"/>
              </a:rPr>
              <a:t>keep every critical part available at every plant by detecting supply risk before it stops a line and driving the lowest-cost mitigation, escalating costly or irreversible actions to a human.</a:t>
            </a:r>
          </a:p>
        </p:txBody>
      </p:sp>
      <p:sp>
        <p:nvSpPr>
          <p:cNvPr id="8" name="TextBox 7"/>
          <p:cNvSpPr txBox="1"/>
          <p:nvPr/>
        </p:nvSpPr>
        <p:spPr>
          <a:xfrm>
            <a:off x="548640" y="2697480"/>
            <a:ext cx="11064240" cy="411480"/>
          </a:xfrm>
          <a:prstGeom prst="rect">
            <a:avLst/>
          </a:prstGeom>
          <a:noFill/>
        </p:spPr>
        <p:txBody>
          <a:bodyPr wrap="square" anchor="t">
            <a:spAutoFit/>
          </a:bodyPr>
          <a:lstStyle/>
          <a:p>
            <a:pPr algn="l">
              <a:lnSpc>
                <a:spcPct val="105000"/>
              </a:lnSpc>
              <a:spcAft>
                <a:spcPts val="600"/>
              </a:spcAft>
            </a:pPr>
            <a:r>
              <a:rPr sz="1500" b="1">
                <a:solidFill>
                  <a:srgbClr val="0A1F6B"/>
                </a:solidFill>
                <a:latin typeface="Calibri"/>
              </a:rPr>
              <a:t>Why it matters (business value):</a:t>
            </a:r>
          </a:p>
        </p:txBody>
      </p:sp>
      <p:sp>
        <p:nvSpPr>
          <p:cNvPr id="9" name="TextBox 8"/>
          <p:cNvSpPr txBox="1"/>
          <p:nvPr/>
        </p:nvSpPr>
        <p:spPr>
          <a:xfrm>
            <a:off x="548640" y="3108960"/>
            <a:ext cx="11064240" cy="1280160"/>
          </a:xfrm>
          <a:prstGeom prst="rect">
            <a:avLst/>
          </a:prstGeom>
          <a:noFill/>
        </p:spPr>
        <p:txBody>
          <a:bodyPr wrap="square" anchor="t">
            <a:spAutoFit/>
          </a:bodyPr>
          <a:lstStyle/>
          <a:p>
            <a:pPr algn="l">
              <a:lnSpc>
                <a:spcPct val="108000"/>
              </a:lnSpc>
              <a:spcAft>
                <a:spcPts val="800"/>
              </a:spcAft>
            </a:pPr>
            <a:r>
              <a:rPr sz="1500" b="1">
                <a:solidFill>
                  <a:srgbClr val="0E7C86"/>
                </a:solidFill>
                <a:latin typeface="Calibri"/>
              </a:rPr>
              <a:t>•  </a:t>
            </a:r>
            <a:r>
              <a:rPr sz="1500" b="0">
                <a:solidFill>
                  <a:srgbClr val="1A1A2E"/>
                </a:solidFill>
                <a:latin typeface="Calibri"/>
              </a:rPr>
              <a:t>Line stoppages cost Titan 14 million dollars last quarter; a critical CNC line burns 180,000 dollars per day when down.</a:t>
            </a:r>
          </a:p>
          <a:p>
            <a:pPr algn="l">
              <a:lnSpc>
                <a:spcPct val="108000"/>
              </a:lnSpc>
              <a:spcAft>
                <a:spcPts val="800"/>
              </a:spcAft>
            </a:pPr>
            <a:r>
              <a:rPr sz="1500" b="1">
                <a:solidFill>
                  <a:srgbClr val="0E7C86"/>
                </a:solidFill>
                <a:latin typeface="Calibri"/>
              </a:rPr>
              <a:t>•  </a:t>
            </a:r>
            <a:r>
              <a:rPr sz="1500" b="0">
                <a:solidFill>
                  <a:srgbClr val="1A1A2E"/>
                </a:solidFill>
                <a:latin typeface="Calibri"/>
              </a:rPr>
              <a:t>Catching disruptions Tier-2 deep and a week earlier turns emergency air freight (up 52%) into planned, cheaper buffer orders, and protects delivery commitments.</a:t>
            </a:r>
          </a:p>
        </p:txBody>
      </p:sp>
      <p:sp>
        <p:nvSpPr>
          <p:cNvPr id="10" name="TextBox 9"/>
          <p:cNvSpPr txBox="1"/>
          <p:nvPr/>
        </p:nvSpPr>
        <p:spPr>
          <a:xfrm>
            <a:off x="548640" y="4526280"/>
            <a:ext cx="11064240" cy="411480"/>
          </a:xfrm>
          <a:prstGeom prst="rect">
            <a:avLst/>
          </a:prstGeom>
          <a:noFill/>
        </p:spPr>
        <p:txBody>
          <a:bodyPr wrap="square" anchor="t">
            <a:spAutoFit/>
          </a:bodyPr>
          <a:lstStyle/>
          <a:p>
            <a:pPr algn="l">
              <a:lnSpc>
                <a:spcPct val="105000"/>
              </a:lnSpc>
              <a:spcAft>
                <a:spcPts val="600"/>
              </a:spcAft>
            </a:pPr>
            <a:r>
              <a:rPr sz="1500" b="1">
                <a:solidFill>
                  <a:srgbClr val="0A1F6B"/>
                </a:solidFill>
                <a:latin typeface="Calibri"/>
              </a:rPr>
              <a:t>Success metrics:</a:t>
            </a:r>
          </a:p>
        </p:txBody>
      </p:sp>
      <p:sp>
        <p:nvSpPr>
          <p:cNvPr id="11" name="TextBox 10"/>
          <p:cNvSpPr txBox="1"/>
          <p:nvPr/>
        </p:nvSpPr>
        <p:spPr>
          <a:xfrm>
            <a:off x="548640" y="4937760"/>
            <a:ext cx="11064240" cy="1371600"/>
          </a:xfrm>
          <a:prstGeom prst="rect">
            <a:avLst/>
          </a:prstGeom>
          <a:noFill/>
        </p:spPr>
        <p:txBody>
          <a:bodyPr wrap="square" anchor="t">
            <a:spAutoFit/>
          </a:bodyPr>
          <a:lstStyle/>
          <a:p>
            <a:pPr algn="l">
              <a:lnSpc>
                <a:spcPct val="108000"/>
              </a:lnSpc>
              <a:spcAft>
                <a:spcPts val="600"/>
              </a:spcAft>
            </a:pPr>
            <a:r>
              <a:rPr sz="1500" b="1">
                <a:solidFill>
                  <a:srgbClr val="0E7C86"/>
                </a:solidFill>
                <a:latin typeface="Calibri"/>
              </a:rPr>
              <a:t>•  </a:t>
            </a:r>
            <a:r>
              <a:rPr sz="1500" b="0">
                <a:solidFill>
                  <a:srgbClr val="1A1A2E"/>
                </a:solidFill>
                <a:latin typeface="Calibri"/>
              </a:rPr>
              <a:t>Signal-to-decision time: days down to minutes.</a:t>
            </a:r>
          </a:p>
          <a:p>
            <a:pPr algn="l">
              <a:lnSpc>
                <a:spcPct val="108000"/>
              </a:lnSpc>
              <a:spcAft>
                <a:spcPts val="600"/>
              </a:spcAft>
            </a:pPr>
            <a:r>
              <a:rPr sz="1500" b="1">
                <a:solidFill>
                  <a:srgbClr val="0E7C86"/>
                </a:solidFill>
                <a:latin typeface="Calibri"/>
              </a:rPr>
              <a:t>•  </a:t>
            </a:r>
            <a:r>
              <a:rPr sz="1500" b="0">
                <a:solidFill>
                  <a:srgbClr val="1A1A2E"/>
                </a:solidFill>
                <a:latin typeface="Calibri"/>
              </a:rPr>
              <a:t>Disruptions detected before a Tier-1 delay appears: target 70% or more.</a:t>
            </a:r>
          </a:p>
          <a:p>
            <a:pPr algn="l">
              <a:lnSpc>
                <a:spcPct val="108000"/>
              </a:lnSpc>
              <a:spcAft>
                <a:spcPts val="600"/>
              </a:spcAft>
            </a:pPr>
            <a:r>
              <a:rPr sz="1500" b="1">
                <a:solidFill>
                  <a:srgbClr val="0E7C86"/>
                </a:solidFill>
                <a:latin typeface="Calibri"/>
              </a:rPr>
              <a:t>•  </a:t>
            </a:r>
            <a:r>
              <a:rPr sz="1500" b="0">
                <a:solidFill>
                  <a:srgbClr val="1A1A2E"/>
                </a:solidFill>
                <a:latin typeface="Calibri"/>
              </a:rPr>
              <a:t>Expedited freight spend down about 30%; full Tier-2/3 coverage of critical parts.</a:t>
            </a:r>
          </a:p>
        </p:txBody>
      </p:sp>
      <p:sp>
        <p:nvSpPr>
          <p:cNvPr id="12" name="Rectangle 11"/>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Problem Framing, Agent Goals &amp; Prompt (15 pts)</a:t>
            </a:r>
            <a:r>
              <a:rPr sz="1100" b="1">
                <a:solidFill>
                  <a:srgbClr val="0A1F6B"/>
                </a:solidFill>
                <a:latin typeface="Calibri"/>
              </a:rPr>
              <a:t>     |     Handout / docs: </a:t>
            </a:r>
            <a:r>
              <a:rPr sz="1100" b="0">
                <a:solidFill>
                  <a:srgbClr val="555555"/>
                </a:solidFill>
                <a:latin typeface="Calibri"/>
              </a:rPr>
              <a:t>Handout 1 | docs/02 sec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INPUT, CONTEXT &amp; MEMORY</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2. What the agent observes and remembers</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417320"/>
          <a:ext cx="11064240" cy="2852928"/>
        </p:xfrm>
        <a:graphic>
          <a:graphicData uri="http://schemas.openxmlformats.org/drawingml/2006/table">
            <a:tbl>
              <a:tblPr firstRow="1" bandRow="1">
                <a:tableStyleId>{5C22544A-7EE6-4342-B048-85BDC9FD1C3A}</a:tableStyleId>
              </a:tblPr>
              <a:tblGrid>
                <a:gridCol w="2468880"/>
                <a:gridCol w="8595360"/>
              </a:tblGrid>
              <a:tr h="713232">
                <a:tc>
                  <a:txBody>
                    <a:bodyPr/>
                    <a:lstStyle/>
                    <a:p>
                      <a:r>
                        <a:rPr sz="1300" b="1">
                          <a:solidFill>
                            <a:srgbClr val="FFFFFF"/>
                          </a:solidFill>
                          <a:latin typeface="Calibri"/>
                        </a:rPr>
                        <a:t>Aspect</a:t>
                      </a:r>
                    </a:p>
                  </a:txBody>
                  <a:tcPr>
                    <a:solidFill>
                      <a:srgbClr val="0A1F6B"/>
                    </a:solidFill>
                  </a:tcPr>
                </a:tc>
                <a:tc>
                  <a:txBody>
                    <a:bodyPr/>
                    <a:lstStyle/>
                    <a:p>
                      <a:r>
                        <a:rPr sz="1300" b="1">
                          <a:solidFill>
                            <a:srgbClr val="FFFFFF"/>
                          </a:solidFill>
                          <a:latin typeface="Calibri"/>
                        </a:rPr>
                        <a:t>Detail</a:t>
                      </a:r>
                    </a:p>
                  </a:txBody>
                  <a:tcPr>
                    <a:solidFill>
                      <a:srgbClr val="0A1F6B"/>
                    </a:solidFill>
                  </a:tcPr>
                </a:tc>
              </a:tr>
              <a:tr h="713232">
                <a:tc>
                  <a:txBody>
                    <a:bodyPr/>
                    <a:lstStyle/>
                    <a:p>
                      <a:r>
                        <a:rPr sz="1300">
                          <a:solidFill>
                            <a:srgbClr val="1A1A2E"/>
                          </a:solidFill>
                          <a:latin typeface="Calibri"/>
                        </a:rPr>
                        <a:t>Triggers</a:t>
                      </a:r>
                    </a:p>
                  </a:txBody>
                  <a:tcPr>
                    <a:solidFill>
                      <a:srgbClr val="FFFFFF"/>
                    </a:solidFill>
                  </a:tcPr>
                </a:tc>
                <a:tc>
                  <a:txBody>
                    <a:bodyPr/>
                    <a:lstStyle/>
                    <a:p>
                      <a:r>
                        <a:rPr sz="1300">
                          <a:solidFill>
                            <a:srgbClr val="1A1A2E"/>
                          </a:solidFill>
                          <a:latin typeface="Calibri"/>
                        </a:rPr>
                        <a:t>Event-driven risk-feed webhook; a 15-minute control-tower scan; an on-demand planner query</a:t>
                      </a:r>
                    </a:p>
                  </a:txBody>
                  <a:tcPr>
                    <a:solidFill>
                      <a:srgbClr val="FFFFFF"/>
                    </a:solidFill>
                  </a:tcPr>
                </a:tc>
              </a:tr>
              <a:tr h="713232">
                <a:tc>
                  <a:txBody>
                    <a:bodyPr/>
                    <a:lstStyle/>
                    <a:p>
                      <a:r>
                        <a:rPr sz="1300">
                          <a:solidFill>
                            <a:srgbClr val="1A1A2E"/>
                          </a:solidFill>
                          <a:latin typeface="Calibri"/>
                        </a:rPr>
                        <a:t>Input data</a:t>
                      </a:r>
                    </a:p>
                  </a:txBody>
                  <a:tcPr>
                    <a:solidFill>
                      <a:srgbClr val="F2F4F8"/>
                    </a:solidFill>
                  </a:tcPr>
                </a:tc>
                <a:tc>
                  <a:txBody>
                    <a:bodyPr/>
                    <a:lstStyle/>
                    <a:p>
                      <a:r>
                        <a:rPr sz="1300">
                          <a:solidFill>
                            <a:srgbClr val="1A1A2E"/>
                          </a:solidFill>
                          <a:latin typeface="Calibri"/>
                        </a:rPr>
                        <a:t>External risk signals, EDI 856 ASN feeds, supplier emails, carrier sheets, ERP inventory and open POs, the supplier graph, the BOM</a:t>
                      </a:r>
                    </a:p>
                  </a:txBody>
                  <a:tcPr>
                    <a:solidFill>
                      <a:srgbClr val="F2F4F8"/>
                    </a:solidFill>
                  </a:tcPr>
                </a:tc>
              </a:tr>
              <a:tr h="713232">
                <a:tc>
                  <a:txBody>
                    <a:bodyPr/>
                    <a:lstStyle/>
                    <a:p>
                      <a:r>
                        <a:rPr sz="1300">
                          <a:solidFill>
                            <a:srgbClr val="1A1A2E"/>
                          </a:solidFill>
                          <a:latin typeface="Calibri"/>
                        </a:rPr>
                        <a:t>Dynamic vs static</a:t>
                      </a:r>
                    </a:p>
                  </a:txBody>
                  <a:tcPr>
                    <a:solidFill>
                      <a:srgbClr val="FFFFFF"/>
                    </a:solidFill>
                  </a:tcPr>
                </a:tc>
                <a:tc>
                  <a:txBody>
                    <a:bodyPr/>
                    <a:lstStyle/>
                    <a:p>
                      <a:r>
                        <a:rPr sz="1300">
                          <a:solidFill>
                            <a:srgbClr val="1A1A2E"/>
                          </a:solidFill>
                          <a:latin typeface="Calibri"/>
                        </a:rPr>
                        <a:t>Changes: shipment status, ETAs, inventory, events, prices. Stable: supplier graph, BOM, qualified suppliers, approval policy</a:t>
                      </a:r>
                    </a:p>
                  </a:txBody>
                  <a:tcPr>
                    <a:solidFill>
                      <a:srgbClr val="FFFFFF"/>
                    </a:solidFill>
                  </a:tcPr>
                </a:tc>
              </a:tr>
            </a:tbl>
          </a:graphicData>
        </a:graphic>
      </p:graphicFrame>
      <p:sp>
        <p:nvSpPr>
          <p:cNvPr id="7" name="TextBox 6"/>
          <p:cNvSpPr txBox="1"/>
          <p:nvPr/>
        </p:nvSpPr>
        <p:spPr>
          <a:xfrm>
            <a:off x="548640" y="4160520"/>
            <a:ext cx="11064240" cy="411480"/>
          </a:xfrm>
          <a:prstGeom prst="rect">
            <a:avLst/>
          </a:prstGeom>
          <a:noFill/>
        </p:spPr>
        <p:txBody>
          <a:bodyPr wrap="square" anchor="t">
            <a:spAutoFit/>
          </a:bodyPr>
          <a:lstStyle/>
          <a:p>
            <a:pPr algn="l">
              <a:lnSpc>
                <a:spcPct val="105000"/>
              </a:lnSpc>
              <a:spcAft>
                <a:spcPts val="600"/>
              </a:spcAft>
            </a:pPr>
            <a:r>
              <a:rPr sz="1500" b="1">
                <a:solidFill>
                  <a:srgbClr val="0A1F6B"/>
                </a:solidFill>
                <a:latin typeface="Calibri"/>
              </a:rPr>
              <a:t>Memory model (Session 2):</a:t>
            </a:r>
          </a:p>
        </p:txBody>
      </p:sp>
      <p:graphicFrame>
        <p:nvGraphicFramePr>
          <p:cNvPr id="8" name="Table 7"/>
          <p:cNvGraphicFramePr>
            <a:graphicFrameLocks noGrp="1"/>
          </p:cNvGraphicFramePr>
          <p:nvPr/>
        </p:nvGraphicFramePr>
        <p:xfrm>
          <a:off x="548640" y="4572000"/>
          <a:ext cx="11064240" cy="1737360"/>
        </p:xfrm>
        <a:graphic>
          <a:graphicData uri="http://schemas.openxmlformats.org/drawingml/2006/table">
            <a:tbl>
              <a:tblPr firstRow="1" bandRow="1">
                <a:tableStyleId>{5C22544A-7EE6-4342-B048-85BDC9FD1C3A}</a:tableStyleId>
              </a:tblPr>
              <a:tblGrid>
                <a:gridCol w="2743200"/>
                <a:gridCol w="2926080"/>
                <a:gridCol w="2743200"/>
                <a:gridCol w="2651760"/>
              </a:tblGrid>
              <a:tr h="868680">
                <a:tc>
                  <a:txBody>
                    <a:bodyPr/>
                    <a:lstStyle/>
                    <a:p>
                      <a:r>
                        <a:rPr sz="1200" b="1">
                          <a:solidFill>
                            <a:srgbClr val="FFFFFF"/>
                          </a:solidFill>
                          <a:latin typeface="Calibri"/>
                        </a:rPr>
                        <a:t>In-context</a:t>
                      </a:r>
                    </a:p>
                  </a:txBody>
                  <a:tcPr>
                    <a:solidFill>
                      <a:srgbClr val="0A1F6B"/>
                    </a:solidFill>
                  </a:tcPr>
                </a:tc>
                <a:tc>
                  <a:txBody>
                    <a:bodyPr/>
                    <a:lstStyle/>
                    <a:p>
                      <a:r>
                        <a:rPr sz="1200" b="1">
                          <a:solidFill>
                            <a:srgbClr val="FFFFFF"/>
                          </a:solidFill>
                          <a:latin typeface="Calibri"/>
                        </a:rPr>
                        <a:t>External (RAG)</a:t>
                      </a:r>
                    </a:p>
                  </a:txBody>
                  <a:tcPr>
                    <a:solidFill>
                      <a:srgbClr val="0A1F6B"/>
                    </a:solidFill>
                  </a:tcPr>
                </a:tc>
                <a:tc>
                  <a:txBody>
                    <a:bodyPr/>
                    <a:lstStyle/>
                    <a:p>
                      <a:r>
                        <a:rPr sz="1200" b="1">
                          <a:solidFill>
                            <a:srgbClr val="FFFFFF"/>
                          </a:solidFill>
                          <a:latin typeface="Calibri"/>
                        </a:rPr>
                        <a:t>Episodic</a:t>
                      </a:r>
                    </a:p>
                  </a:txBody>
                  <a:tcPr>
                    <a:solidFill>
                      <a:srgbClr val="0A1F6B"/>
                    </a:solidFill>
                  </a:tcPr>
                </a:tc>
                <a:tc>
                  <a:txBody>
                    <a:bodyPr/>
                    <a:lstStyle/>
                    <a:p>
                      <a:r>
                        <a:rPr sz="1200" b="1">
                          <a:solidFill>
                            <a:srgbClr val="FFFFFF"/>
                          </a:solidFill>
                          <a:latin typeface="Calibri"/>
                        </a:rPr>
                        <a:t>Semantic</a:t>
                      </a:r>
                    </a:p>
                  </a:txBody>
                  <a:tcPr>
                    <a:solidFill>
                      <a:srgbClr val="0A1F6B"/>
                    </a:solidFill>
                  </a:tcPr>
                </a:tc>
              </a:tr>
              <a:tr h="868680">
                <a:tc>
                  <a:txBody>
                    <a:bodyPr/>
                    <a:lstStyle/>
                    <a:p>
                      <a:r>
                        <a:rPr sz="1200">
                          <a:solidFill>
                            <a:srgbClr val="1A1A2E"/>
                          </a:solidFill>
                          <a:latin typeface="Calibri"/>
                        </a:rPr>
                        <a:t>The run's shared Blackboard</a:t>
                      </a:r>
                    </a:p>
                  </a:txBody>
                  <a:tcPr>
                    <a:solidFill>
                      <a:srgbClr val="FFFFFF"/>
                    </a:solidFill>
                  </a:tcPr>
                </a:tc>
                <a:tc>
                  <a:txBody>
                    <a:bodyPr/>
                    <a:lstStyle/>
                    <a:p>
                      <a:r>
                        <a:rPr sz="1200">
                          <a:solidFill>
                            <a:srgbClr val="1A1A2E"/>
                          </a:solidFill>
                          <a:latin typeface="Calibri"/>
                        </a:rPr>
                        <a:t>Supplier master, BOM, contracts, alternates</a:t>
                      </a:r>
                    </a:p>
                  </a:txBody>
                  <a:tcPr>
                    <a:solidFill>
                      <a:srgbClr val="FFFFFF"/>
                    </a:solidFill>
                  </a:tcPr>
                </a:tc>
                <a:tc>
                  <a:txBody>
                    <a:bodyPr/>
                    <a:lstStyle/>
                    <a:p>
                      <a:r>
                        <a:rPr sz="1200">
                          <a:solidFill>
                            <a:srgbClr val="1A1A2E"/>
                          </a:solidFill>
                          <a:latin typeface="Calibri"/>
                        </a:rPr>
                        <a:t>Past disruptions and what fix worked</a:t>
                      </a:r>
                    </a:p>
                  </a:txBody>
                  <a:tcPr>
                    <a:solidFill>
                      <a:srgbClr val="FFFFFF"/>
                    </a:solidFill>
                  </a:tcPr>
                </a:tc>
                <a:tc>
                  <a:txBody>
                    <a:bodyPr/>
                    <a:lstStyle/>
                    <a:p>
                      <a:r>
                        <a:rPr sz="1200">
                          <a:solidFill>
                            <a:srgbClr val="1A1A2E"/>
                          </a:solidFill>
                          <a:latin typeface="Calibri"/>
                        </a:rPr>
                        <a:t>Domain rules and heuristics</a:t>
                      </a:r>
                    </a:p>
                  </a:txBody>
                  <a:tcPr>
                    <a:solidFill>
                      <a:srgbClr val="FFFFFF"/>
                    </a:solidFill>
                  </a:tcPr>
                </a:tc>
              </a:tr>
            </a:tbl>
          </a:graphicData>
        </a:graphic>
      </p:graphicFrame>
      <p:sp>
        <p:nvSpPr>
          <p:cNvPr id="9" name="Rectangle 8"/>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Problem Framing (15 pts) + Architecture (10 pts)</a:t>
            </a:r>
            <a:r>
              <a:rPr sz="1100" b="1">
                <a:solidFill>
                  <a:srgbClr val="0A1F6B"/>
                </a:solidFill>
                <a:latin typeface="Calibri"/>
              </a:rPr>
              <a:t>     |     Handout / docs: </a:t>
            </a:r>
            <a:r>
              <a:rPr sz="1100" b="0">
                <a:solidFill>
                  <a:srgbClr val="555555"/>
                </a:solidFill>
                <a:latin typeface="Calibri"/>
              </a:rPr>
              <a:t>Handout 2 | docs/02-03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ARCHITECTURE</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3. Orchestrator and four ReAct specialists</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17320"/>
            <a:ext cx="2331720" cy="86868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481328"/>
            <a:ext cx="2148840" cy="777240"/>
          </a:xfrm>
          <a:prstGeom prst="rect">
            <a:avLst/>
          </a:prstGeom>
          <a:noFill/>
        </p:spPr>
        <p:txBody>
          <a:bodyPr wrap="square" anchor="ctr">
            <a:spAutoFit/>
          </a:bodyPr>
          <a:lstStyle/>
          <a:p>
            <a:pPr algn="l">
              <a:lnSpc>
                <a:spcPct val="105000"/>
              </a:lnSpc>
              <a:spcAft>
                <a:spcPts val="600"/>
              </a:spcAft>
            </a:pPr>
            <a:r>
              <a:rPr sz="1250" b="1">
                <a:solidFill>
                  <a:srgbClr val="0A1F6B"/>
                </a:solidFill>
                <a:latin typeface="Calibri"/>
              </a:rPr>
              <a:t>Triggers</a:t>
            </a:r>
          </a:p>
          <a:p>
            <a:pPr algn="l">
              <a:lnSpc>
                <a:spcPct val="105000"/>
              </a:lnSpc>
              <a:spcAft>
                <a:spcPts val="600"/>
              </a:spcAft>
            </a:pPr>
            <a:r>
              <a:rPr sz="1050" b="0">
                <a:solidFill>
                  <a:srgbClr val="555555"/>
                </a:solidFill>
                <a:latin typeface="Calibri"/>
              </a:rPr>
              <a:t>webhook | 15-min scan | planner query</a:t>
            </a:r>
          </a:p>
        </p:txBody>
      </p:sp>
      <p:sp>
        <p:nvSpPr>
          <p:cNvPr id="8" name="Rectangle 7"/>
          <p:cNvSpPr/>
          <p:nvPr/>
        </p:nvSpPr>
        <p:spPr>
          <a:xfrm>
            <a:off x="3154680" y="1417320"/>
            <a:ext cx="8458200" cy="868680"/>
          </a:xfrm>
          <a:prstGeom prst="rect">
            <a:avLst/>
          </a:prstGeom>
          <a:solidFill>
            <a:srgbClr val="0A1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40" y="1481328"/>
            <a:ext cx="8229600" cy="777240"/>
          </a:xfrm>
          <a:prstGeom prst="rect">
            <a:avLst/>
          </a:prstGeom>
          <a:noFill/>
        </p:spPr>
        <p:txBody>
          <a:bodyPr wrap="square" anchor="ctr">
            <a:spAutoFit/>
          </a:bodyPr>
          <a:lstStyle/>
          <a:p>
            <a:pPr algn="ctr">
              <a:lnSpc>
                <a:spcPct val="105000"/>
              </a:lnSpc>
              <a:spcAft>
                <a:spcPts val="600"/>
              </a:spcAft>
            </a:pPr>
            <a:r>
              <a:rPr sz="1500" b="1">
                <a:solidFill>
                  <a:srgbClr val="FFFFFF"/>
                </a:solidFill>
                <a:latin typeface="Calibri"/>
              </a:rPr>
              <a:t>ORCHESTRATOR (Supervisor)</a:t>
            </a:r>
          </a:p>
          <a:p>
            <a:pPr algn="ctr">
              <a:lnSpc>
                <a:spcPct val="105000"/>
              </a:lnSpc>
              <a:spcAft>
                <a:spcPts val="600"/>
              </a:spcAft>
            </a:pPr>
            <a:r>
              <a:rPr sz="1100" b="0">
                <a:solidFill>
                  <a:srgbClr val="CFDAF0"/>
                </a:solidFill>
                <a:latin typeface="Calibri"/>
              </a:rPr>
              <a:t>owns the objective, routes work, synthesizes the briefing; does NOT call data tools directly</a:t>
            </a:r>
          </a:p>
        </p:txBody>
      </p:sp>
      <p:sp>
        <p:nvSpPr>
          <p:cNvPr id="10" name="TextBox 9"/>
          <p:cNvSpPr txBox="1"/>
          <p:nvPr/>
        </p:nvSpPr>
        <p:spPr>
          <a:xfrm>
            <a:off x="3154680" y="2331720"/>
            <a:ext cx="8458200" cy="274320"/>
          </a:xfrm>
          <a:prstGeom prst="rect">
            <a:avLst/>
          </a:prstGeom>
          <a:noFill/>
        </p:spPr>
        <p:txBody>
          <a:bodyPr wrap="square" anchor="t">
            <a:spAutoFit/>
          </a:bodyPr>
          <a:lstStyle/>
          <a:p>
            <a:pPr algn="ctr">
              <a:lnSpc>
                <a:spcPct val="105000"/>
              </a:lnSpc>
              <a:spcAft>
                <a:spcPts val="600"/>
              </a:spcAft>
            </a:pPr>
            <a:r>
              <a:rPr sz="1100" b="1">
                <a:solidFill>
                  <a:srgbClr val="0E7C86"/>
                </a:solidFill>
                <a:latin typeface="Calibri"/>
              </a:rPr>
              <a:t>A2A shared context (Blackboard)</a:t>
            </a:r>
          </a:p>
        </p:txBody>
      </p:sp>
      <p:sp>
        <p:nvSpPr>
          <p:cNvPr id="11" name="Rectangle 10"/>
          <p:cNvSpPr/>
          <p:nvPr/>
        </p:nvSpPr>
        <p:spPr>
          <a:xfrm>
            <a:off x="548640" y="2697480"/>
            <a:ext cx="2697480" cy="91440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743200"/>
            <a:ext cx="2606040" cy="822960"/>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RiskIntel</a:t>
            </a:r>
          </a:p>
          <a:p>
            <a:pPr algn="ctr">
              <a:lnSpc>
                <a:spcPct val="105000"/>
              </a:lnSpc>
              <a:spcAft>
                <a:spcPts val="600"/>
              </a:spcAft>
            </a:pPr>
            <a:r>
              <a:rPr sz="1100" b="0">
                <a:solidFill>
                  <a:srgbClr val="CFDAF0"/>
                </a:solidFill>
                <a:latin typeface="Calibri"/>
              </a:rPr>
              <a:t>perceive | ReAct loop</a:t>
            </a:r>
          </a:p>
        </p:txBody>
      </p:sp>
      <p:sp>
        <p:nvSpPr>
          <p:cNvPr id="13" name="Rectangle 12"/>
          <p:cNvSpPr/>
          <p:nvPr/>
        </p:nvSpPr>
        <p:spPr>
          <a:xfrm>
            <a:off x="3346704" y="2697480"/>
            <a:ext cx="2697480" cy="91440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92424" y="2743200"/>
            <a:ext cx="2606040" cy="822960"/>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SupplierGraph</a:t>
            </a:r>
          </a:p>
          <a:p>
            <a:pPr algn="ctr">
              <a:lnSpc>
                <a:spcPct val="105000"/>
              </a:lnSpc>
              <a:spcAft>
                <a:spcPts val="600"/>
              </a:spcAft>
            </a:pPr>
            <a:r>
              <a:rPr sz="1100" b="0">
                <a:solidFill>
                  <a:srgbClr val="CFDAF0"/>
                </a:solidFill>
                <a:latin typeface="Calibri"/>
              </a:rPr>
              <a:t>trace tiers | ReAct loop</a:t>
            </a:r>
          </a:p>
        </p:txBody>
      </p:sp>
      <p:sp>
        <p:nvSpPr>
          <p:cNvPr id="15" name="Rectangle 14"/>
          <p:cNvSpPr/>
          <p:nvPr/>
        </p:nvSpPr>
        <p:spPr>
          <a:xfrm>
            <a:off x="6144768" y="2697480"/>
            <a:ext cx="2697480" cy="91440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0488" y="2743200"/>
            <a:ext cx="2606040" cy="822960"/>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ETALogistics</a:t>
            </a:r>
          </a:p>
          <a:p>
            <a:pPr algn="ctr">
              <a:lnSpc>
                <a:spcPct val="105000"/>
              </a:lnSpc>
              <a:spcAft>
                <a:spcPts val="600"/>
              </a:spcAft>
            </a:pPr>
            <a:r>
              <a:rPr sz="1100" b="0">
                <a:solidFill>
                  <a:srgbClr val="CFDAF0"/>
                </a:solidFill>
                <a:latin typeface="Calibri"/>
              </a:rPr>
              <a:t>predict | ReAct loop</a:t>
            </a:r>
          </a:p>
        </p:txBody>
      </p:sp>
      <p:sp>
        <p:nvSpPr>
          <p:cNvPr id="17" name="Rectangle 16"/>
          <p:cNvSpPr/>
          <p:nvPr/>
        </p:nvSpPr>
        <p:spPr>
          <a:xfrm>
            <a:off x="8942832" y="2697480"/>
            <a:ext cx="2697480" cy="91440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88552" y="2743200"/>
            <a:ext cx="2606040" cy="822960"/>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Mitigation</a:t>
            </a:r>
          </a:p>
          <a:p>
            <a:pPr algn="ctr">
              <a:lnSpc>
                <a:spcPct val="105000"/>
              </a:lnSpc>
              <a:spcAft>
                <a:spcPts val="600"/>
              </a:spcAft>
            </a:pPr>
            <a:r>
              <a:rPr sz="1100" b="0">
                <a:solidFill>
                  <a:srgbClr val="CFDAF0"/>
                </a:solidFill>
                <a:latin typeface="Calibri"/>
              </a:rPr>
              <a:t>score + plan + act | ReAct loop</a:t>
            </a:r>
          </a:p>
        </p:txBody>
      </p:sp>
      <p:sp>
        <p:nvSpPr>
          <p:cNvPr id="19" name="Rectangle 18"/>
          <p:cNvSpPr/>
          <p:nvPr/>
        </p:nvSpPr>
        <p:spPr>
          <a:xfrm>
            <a:off x="548640" y="3794760"/>
            <a:ext cx="11064240"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794760"/>
            <a:ext cx="10881360" cy="384048"/>
          </a:xfrm>
          <a:prstGeom prst="rect">
            <a:avLst/>
          </a:prstGeom>
          <a:noFill/>
        </p:spPr>
        <p:txBody>
          <a:bodyPr wrap="square" anchor="ctr">
            <a:spAutoFit/>
          </a:bodyPr>
          <a:lstStyle/>
          <a:p>
            <a:pPr algn="ctr">
              <a:lnSpc>
                <a:spcPct val="105000"/>
              </a:lnSpc>
              <a:spcAft>
                <a:spcPts val="600"/>
              </a:spcAft>
            </a:pPr>
            <a:r>
              <a:rPr sz="1200" b="1">
                <a:solidFill>
                  <a:srgbClr val="FFFFFF"/>
                </a:solidFill>
                <a:latin typeface="Calibri"/>
              </a:rPr>
              <a:t>MCP tool layer  (standardised connectors, * = requires human approval)</a:t>
            </a:r>
          </a:p>
        </p:txBody>
      </p:sp>
      <p:sp>
        <p:nvSpPr>
          <p:cNvPr id="21" name="TextBox 20"/>
          <p:cNvSpPr txBox="1"/>
          <p:nvPr/>
        </p:nvSpPr>
        <p:spPr>
          <a:xfrm>
            <a:off x="594360" y="4251960"/>
            <a:ext cx="2606040" cy="1005840"/>
          </a:xfrm>
          <a:prstGeom prst="rect">
            <a:avLst/>
          </a:prstGeom>
          <a:noFill/>
        </p:spPr>
        <p:txBody>
          <a:bodyPr wrap="square" anchor="t">
            <a:spAutoFit/>
          </a:bodyPr>
          <a:lstStyle/>
          <a:p>
            <a:pPr algn="ctr">
              <a:lnSpc>
                <a:spcPct val="100000"/>
              </a:lnSpc>
              <a:spcAft>
                <a:spcPts val="100"/>
              </a:spcAft>
            </a:pPr>
            <a:r>
              <a:rPr sz="1050" b="0">
                <a:solidFill>
                  <a:srgbClr val="1A1A2E"/>
                </a:solidFill>
                <a:latin typeface="Calibri"/>
              </a:rPr>
              <a:t>external_risk_feed</a:t>
            </a:r>
          </a:p>
        </p:txBody>
      </p:sp>
      <p:sp>
        <p:nvSpPr>
          <p:cNvPr id="22" name="TextBox 21"/>
          <p:cNvSpPr txBox="1"/>
          <p:nvPr/>
        </p:nvSpPr>
        <p:spPr>
          <a:xfrm>
            <a:off x="3392424" y="4251960"/>
            <a:ext cx="2606040" cy="1005840"/>
          </a:xfrm>
          <a:prstGeom prst="rect">
            <a:avLst/>
          </a:prstGeom>
          <a:noFill/>
        </p:spPr>
        <p:txBody>
          <a:bodyPr wrap="square" anchor="t">
            <a:spAutoFit/>
          </a:bodyPr>
          <a:lstStyle/>
          <a:p>
            <a:pPr algn="ctr">
              <a:lnSpc>
                <a:spcPct val="100000"/>
              </a:lnSpc>
              <a:spcAft>
                <a:spcPts val="100"/>
              </a:spcAft>
            </a:pPr>
            <a:r>
              <a:rPr sz="1050" b="0">
                <a:solidFill>
                  <a:srgbClr val="1A1A2E"/>
                </a:solidFill>
                <a:latin typeface="Calibri"/>
              </a:rPr>
              <a:t>supplier_graph_db</a:t>
            </a:r>
          </a:p>
          <a:p>
            <a:pPr algn="ctr">
              <a:lnSpc>
                <a:spcPct val="100000"/>
              </a:lnSpc>
              <a:spcAft>
                <a:spcPts val="100"/>
              </a:spcAft>
            </a:pPr>
            <a:r>
              <a:rPr sz="1050" b="0">
                <a:solidFill>
                  <a:srgbClr val="1A1A2E"/>
                </a:solidFill>
                <a:latin typeface="Calibri"/>
              </a:rPr>
              <a:t>inventory_system</a:t>
            </a:r>
          </a:p>
        </p:txBody>
      </p:sp>
      <p:sp>
        <p:nvSpPr>
          <p:cNvPr id="23" name="TextBox 22"/>
          <p:cNvSpPr txBox="1"/>
          <p:nvPr/>
        </p:nvSpPr>
        <p:spPr>
          <a:xfrm>
            <a:off x="6190488" y="4251960"/>
            <a:ext cx="2606040" cy="1005840"/>
          </a:xfrm>
          <a:prstGeom prst="rect">
            <a:avLst/>
          </a:prstGeom>
          <a:noFill/>
        </p:spPr>
        <p:txBody>
          <a:bodyPr wrap="square" anchor="t">
            <a:spAutoFit/>
          </a:bodyPr>
          <a:lstStyle/>
          <a:p>
            <a:pPr algn="ctr">
              <a:lnSpc>
                <a:spcPct val="100000"/>
              </a:lnSpc>
              <a:spcAft>
                <a:spcPts val="100"/>
              </a:spcAft>
            </a:pPr>
            <a:r>
              <a:rPr sz="1050" b="0">
                <a:solidFill>
                  <a:srgbClr val="1A1A2E"/>
                </a:solidFill>
                <a:latin typeface="Calibri"/>
              </a:rPr>
              <a:t>shipment_tracker</a:t>
            </a:r>
          </a:p>
          <a:p>
            <a:pPr algn="ctr">
              <a:lnSpc>
                <a:spcPct val="100000"/>
              </a:lnSpc>
              <a:spcAft>
                <a:spcPts val="100"/>
              </a:spcAft>
            </a:pPr>
            <a:r>
              <a:rPr sz="1050" b="0">
                <a:solidFill>
                  <a:srgbClr val="1A1A2E"/>
                </a:solidFill>
                <a:latin typeface="Calibri"/>
              </a:rPr>
              <a:t>eta_predictor</a:t>
            </a:r>
          </a:p>
          <a:p>
            <a:pPr algn="ctr">
              <a:lnSpc>
                <a:spcPct val="100000"/>
              </a:lnSpc>
              <a:spcAft>
                <a:spcPts val="100"/>
              </a:spcAft>
            </a:pPr>
            <a:r>
              <a:rPr sz="1050" b="0">
                <a:solidFill>
                  <a:srgbClr val="1A1A2E"/>
                </a:solidFill>
                <a:latin typeface="Calibri"/>
              </a:rPr>
              <a:t>risk_scorer</a:t>
            </a:r>
          </a:p>
        </p:txBody>
      </p:sp>
      <p:sp>
        <p:nvSpPr>
          <p:cNvPr id="24" name="TextBox 23"/>
          <p:cNvSpPr txBox="1"/>
          <p:nvPr/>
        </p:nvSpPr>
        <p:spPr>
          <a:xfrm>
            <a:off x="8988552" y="4251960"/>
            <a:ext cx="2606040" cy="1005840"/>
          </a:xfrm>
          <a:prstGeom prst="rect">
            <a:avLst/>
          </a:prstGeom>
          <a:noFill/>
        </p:spPr>
        <p:txBody>
          <a:bodyPr wrap="square" anchor="t">
            <a:spAutoFit/>
          </a:bodyPr>
          <a:lstStyle/>
          <a:p>
            <a:pPr algn="ctr">
              <a:lnSpc>
                <a:spcPct val="100000"/>
              </a:lnSpc>
              <a:spcAft>
                <a:spcPts val="100"/>
              </a:spcAft>
            </a:pPr>
            <a:r>
              <a:rPr sz="1050" b="0">
                <a:solidFill>
                  <a:srgbClr val="1A1A2E"/>
                </a:solidFill>
                <a:latin typeface="Calibri"/>
              </a:rPr>
              <a:t>erp_create_po*</a:t>
            </a:r>
          </a:p>
          <a:p>
            <a:pPr algn="ctr">
              <a:lnSpc>
                <a:spcPct val="100000"/>
              </a:lnSpc>
              <a:spcAft>
                <a:spcPts val="100"/>
              </a:spcAft>
            </a:pPr>
            <a:r>
              <a:rPr sz="1050" b="0">
                <a:solidFill>
                  <a:srgbClr val="1A1A2E"/>
                </a:solidFill>
                <a:latin typeface="Calibri"/>
              </a:rPr>
              <a:t>expedite_logistics*</a:t>
            </a:r>
          </a:p>
          <a:p>
            <a:pPr algn="ctr">
              <a:lnSpc>
                <a:spcPct val="100000"/>
              </a:lnSpc>
              <a:spcAft>
                <a:spcPts val="100"/>
              </a:spcAft>
            </a:pPr>
            <a:r>
              <a:rPr sz="1050" b="0">
                <a:solidFill>
                  <a:srgbClr val="1A1A2E"/>
                </a:solidFill>
                <a:latin typeface="Calibri"/>
              </a:rPr>
              <a:t>production_scheduler*</a:t>
            </a:r>
          </a:p>
          <a:p>
            <a:pPr algn="ctr">
              <a:lnSpc>
                <a:spcPct val="100000"/>
              </a:lnSpc>
              <a:spcAft>
                <a:spcPts val="100"/>
              </a:spcAft>
            </a:pPr>
            <a:r>
              <a:rPr sz="1050" b="0">
                <a:solidFill>
                  <a:srgbClr val="1A1A2E"/>
                </a:solidFill>
                <a:latin typeface="Calibri"/>
              </a:rPr>
              <a:t>notify_stakeholders</a:t>
            </a:r>
          </a:p>
        </p:txBody>
      </p:sp>
      <p:sp>
        <p:nvSpPr>
          <p:cNvPr id="25" name="Rectangle 24"/>
          <p:cNvSpPr/>
          <p:nvPr/>
        </p:nvSpPr>
        <p:spPr>
          <a:xfrm>
            <a:off x="548640" y="5440680"/>
            <a:ext cx="11064240" cy="4572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440680"/>
            <a:ext cx="10881360" cy="457200"/>
          </a:xfrm>
          <a:prstGeom prst="rect">
            <a:avLst/>
          </a:prstGeom>
          <a:noFill/>
        </p:spPr>
        <p:txBody>
          <a:bodyPr wrap="square" anchor="ctr">
            <a:spAutoFit/>
          </a:bodyPr>
          <a:lstStyle/>
          <a:p>
            <a:pPr algn="ctr">
              <a:lnSpc>
                <a:spcPct val="105000"/>
              </a:lnSpc>
              <a:spcAft>
                <a:spcPts val="600"/>
              </a:spcAft>
            </a:pPr>
            <a:r>
              <a:rPr sz="1200" b="1">
                <a:solidFill>
                  <a:srgbClr val="0A1F6B"/>
                </a:solidFill>
                <a:latin typeface="Calibri"/>
              </a:rPr>
              <a:t>Systems of record:  ERP | TMS / EDI | SCADA / Historian | MES | News &amp; Weather APIs</a:t>
            </a:r>
          </a:p>
        </p:txBody>
      </p:sp>
      <p:sp>
        <p:nvSpPr>
          <p:cNvPr id="27" name="Rectangle 26"/>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Agentic System Architecture (10 pts)</a:t>
            </a:r>
            <a:r>
              <a:rPr sz="1100" b="1">
                <a:solidFill>
                  <a:srgbClr val="0A1F6B"/>
                </a:solidFill>
                <a:latin typeface="Calibri"/>
              </a:rPr>
              <a:t>     |     Handout / docs: </a:t>
            </a:r>
            <a:r>
              <a:rPr sz="1100" b="0">
                <a:solidFill>
                  <a:srgbClr val="555555"/>
                </a:solidFill>
                <a:latin typeface="Calibri"/>
              </a:rPr>
              <a:t>Handout 5 | docs/03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PATTERN CHOICE</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4. Why a supervisor, not the alternatives</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463040"/>
          <a:ext cx="11064240" cy="3291840"/>
        </p:xfrm>
        <a:graphic>
          <a:graphicData uri="http://schemas.openxmlformats.org/drawingml/2006/table">
            <a:tbl>
              <a:tblPr firstRow="1" bandRow="1">
                <a:tableStyleId>{5C22544A-7EE6-4342-B048-85BDC9FD1C3A}</a:tableStyleId>
              </a:tblPr>
              <a:tblGrid>
                <a:gridCol w="3017520"/>
                <a:gridCol w="1463040"/>
                <a:gridCol w="6583680"/>
              </a:tblGrid>
              <a:tr h="658368">
                <a:tc>
                  <a:txBody>
                    <a:bodyPr/>
                    <a:lstStyle/>
                    <a:p>
                      <a:r>
                        <a:rPr sz="1300" b="1">
                          <a:solidFill>
                            <a:srgbClr val="FFFFFF"/>
                          </a:solidFill>
                          <a:latin typeface="Calibri"/>
                        </a:rPr>
                        <a:t>Option</a:t>
                      </a:r>
                    </a:p>
                  </a:txBody>
                  <a:tcPr>
                    <a:solidFill>
                      <a:srgbClr val="0A1F6B"/>
                    </a:solidFill>
                  </a:tcPr>
                </a:tc>
                <a:tc>
                  <a:txBody>
                    <a:bodyPr/>
                    <a:lstStyle/>
                    <a:p>
                      <a:r>
                        <a:rPr sz="1300" b="1">
                          <a:solidFill>
                            <a:srgbClr val="FFFFFF"/>
                          </a:solidFill>
                          <a:latin typeface="Calibri"/>
                        </a:rPr>
                        <a:t>Verdict</a:t>
                      </a:r>
                    </a:p>
                  </a:txBody>
                  <a:tcPr>
                    <a:solidFill>
                      <a:srgbClr val="0A1F6B"/>
                    </a:solidFill>
                  </a:tcPr>
                </a:tc>
                <a:tc>
                  <a:txBody>
                    <a:bodyPr/>
                    <a:lstStyle/>
                    <a:p>
                      <a:r>
                        <a:rPr sz="1300" b="1">
                          <a:solidFill>
                            <a:srgbClr val="FFFFFF"/>
                          </a:solidFill>
                          <a:latin typeface="Calibri"/>
                        </a:rPr>
                        <a:t>Reason (Session 4)</a:t>
                      </a:r>
                    </a:p>
                  </a:txBody>
                  <a:tcPr>
                    <a:solidFill>
                      <a:srgbClr val="0A1F6B"/>
                    </a:solidFill>
                  </a:tcPr>
                </a:tc>
              </a:tr>
              <a:tr h="658368">
                <a:tc>
                  <a:txBody>
                    <a:bodyPr/>
                    <a:lstStyle/>
                    <a:p>
                      <a:r>
                        <a:rPr sz="1300">
                          <a:solidFill>
                            <a:srgbClr val="1A1A2E"/>
                          </a:solidFill>
                          <a:latin typeface="Calibri"/>
                        </a:rPr>
                        <a:t>Single agent, all 10 tools</a:t>
                      </a:r>
                    </a:p>
                  </a:txBody>
                  <a:tcPr>
                    <a:solidFill>
                      <a:srgbClr val="FFFFFF"/>
                    </a:solidFill>
                  </a:tcPr>
                </a:tc>
                <a:tc>
                  <a:txBody>
                    <a:bodyPr/>
                    <a:lstStyle/>
                    <a:p>
                      <a:r>
                        <a:rPr sz="1300">
                          <a:solidFill>
                            <a:srgbClr val="1A1A2E"/>
                          </a:solidFill>
                          <a:latin typeface="Calibri"/>
                        </a:rPr>
                        <a:t>Rejected</a:t>
                      </a:r>
                    </a:p>
                  </a:txBody>
                  <a:tcPr>
                    <a:solidFill>
                      <a:srgbClr val="FFFFFF"/>
                    </a:solidFill>
                  </a:tcPr>
                </a:tc>
                <a:tc>
                  <a:txBody>
                    <a:bodyPr/>
                    <a:lstStyle/>
                    <a:p>
                      <a:r>
                        <a:rPr sz="1300">
                          <a:solidFill>
                            <a:srgbClr val="1A1A2E"/>
                          </a:solidFill>
                          <a:latin typeface="Calibri"/>
                        </a:rPr>
                        <a:t>Too many tools means poor decisions; context explodes; cannot be expert at everything</a:t>
                      </a:r>
                    </a:p>
                  </a:txBody>
                  <a:tcPr>
                    <a:solidFill>
                      <a:srgbClr val="FFFFFF"/>
                    </a:solidFill>
                  </a:tcPr>
                </a:tc>
              </a:tr>
              <a:tr h="658368">
                <a:tc>
                  <a:txBody>
                    <a:bodyPr/>
                    <a:lstStyle/>
                    <a:p>
                      <a:r>
                        <a:rPr sz="1300">
                          <a:solidFill>
                            <a:srgbClr val="1A1A2E"/>
                          </a:solidFill>
                          <a:latin typeface="Calibri"/>
                        </a:rPr>
                        <a:t>Decentralized peer-to-peer</a:t>
                      </a:r>
                    </a:p>
                  </a:txBody>
                  <a:tcPr>
                    <a:solidFill>
                      <a:srgbClr val="F2F4F8"/>
                    </a:solidFill>
                  </a:tcPr>
                </a:tc>
                <a:tc>
                  <a:txBody>
                    <a:bodyPr/>
                    <a:lstStyle/>
                    <a:p>
                      <a:r>
                        <a:rPr sz="1300">
                          <a:solidFill>
                            <a:srgbClr val="1A1A2E"/>
                          </a:solidFill>
                          <a:latin typeface="Calibri"/>
                        </a:rPr>
                        <a:t>Rejected</a:t>
                      </a:r>
                    </a:p>
                  </a:txBody>
                  <a:tcPr>
                    <a:solidFill>
                      <a:srgbClr val="F2F4F8"/>
                    </a:solidFill>
                  </a:tcPr>
                </a:tc>
                <a:tc>
                  <a:txBody>
                    <a:bodyPr/>
                    <a:lstStyle/>
                    <a:p>
                      <a:r>
                        <a:rPr sz="1300">
                          <a:solidFill>
                            <a:srgbClr val="1A1A2E"/>
                          </a:solidFill>
                          <a:latin typeface="Calibri"/>
                        </a:rPr>
                        <a:t>Hard to predict and debug; no clear accountability for a 3 million dollar decision</a:t>
                      </a:r>
                    </a:p>
                  </a:txBody>
                  <a:tcPr>
                    <a:solidFill>
                      <a:srgbClr val="F2F4F8"/>
                    </a:solidFill>
                  </a:tcPr>
                </a:tc>
              </a:tr>
              <a:tr h="658368">
                <a:tc>
                  <a:txBody>
                    <a:bodyPr/>
                    <a:lstStyle/>
                    <a:p>
                      <a:r>
                        <a:rPr sz="1300">
                          <a:solidFill>
                            <a:srgbClr val="1A1A2E"/>
                          </a:solidFill>
                          <a:latin typeface="Calibri"/>
                        </a:rPr>
                        <a:t>Orchestrator / Supervisor</a:t>
                      </a:r>
                    </a:p>
                  </a:txBody>
                  <a:tcPr>
                    <a:solidFill>
                      <a:srgbClr val="FFFFFF"/>
                    </a:solidFill>
                  </a:tcPr>
                </a:tc>
                <a:tc>
                  <a:txBody>
                    <a:bodyPr/>
                    <a:lstStyle/>
                    <a:p>
                      <a:r>
                        <a:rPr sz="1300">
                          <a:solidFill>
                            <a:srgbClr val="1A1A2E"/>
                          </a:solidFill>
                          <a:latin typeface="Calibri"/>
                        </a:rPr>
                        <a:t>Chosen</a:t>
                      </a:r>
                    </a:p>
                  </a:txBody>
                  <a:tcPr>
                    <a:solidFill>
                      <a:srgbClr val="FFFFFF"/>
                    </a:solidFill>
                  </a:tcPr>
                </a:tc>
                <a:tc>
                  <a:txBody>
                    <a:bodyPr/>
                    <a:lstStyle/>
                    <a:p>
                      <a:r>
                        <a:rPr sz="1300">
                          <a:solidFill>
                            <a:srgbClr val="1A1A2E"/>
                          </a:solidFill>
                          <a:latin typeface="Calibri"/>
                        </a:rPr>
                        <a:t>Clear accountability and control, simple to debug, divides work to specialists, auditable</a:t>
                      </a:r>
                    </a:p>
                  </a:txBody>
                  <a:tcPr>
                    <a:solidFill>
                      <a:srgbClr val="FFFFFF"/>
                    </a:solidFill>
                  </a:tcPr>
                </a:tc>
              </a:tr>
              <a:tr h="658368">
                <a:tc>
                  <a:txBody>
                    <a:bodyPr/>
                    <a:lstStyle/>
                    <a:p>
                      <a:r>
                        <a:rPr sz="1300">
                          <a:solidFill>
                            <a:srgbClr val="1A1A2E"/>
                          </a:solidFill>
                          <a:latin typeface="Calibri"/>
                        </a:rPr>
                        <a:t>Hierarchical (CEO to worker)</a:t>
                      </a:r>
                    </a:p>
                  </a:txBody>
                  <a:tcPr>
                    <a:solidFill>
                      <a:srgbClr val="F2F4F8"/>
                    </a:solidFill>
                  </a:tcPr>
                </a:tc>
                <a:tc>
                  <a:txBody>
                    <a:bodyPr/>
                    <a:lstStyle/>
                    <a:p>
                      <a:r>
                        <a:rPr sz="1300">
                          <a:solidFill>
                            <a:srgbClr val="1A1A2E"/>
                          </a:solidFill>
                          <a:latin typeface="Calibri"/>
                        </a:rPr>
                        <a:t>Future</a:t>
                      </a:r>
                    </a:p>
                  </a:txBody>
                  <a:tcPr>
                    <a:solidFill>
                      <a:srgbClr val="F2F4F8"/>
                    </a:solidFill>
                  </a:tcPr>
                </a:tc>
                <a:tc>
                  <a:txBody>
                    <a:bodyPr/>
                    <a:lstStyle/>
                    <a:p>
                      <a:r>
                        <a:rPr sz="1300">
                          <a:solidFill>
                            <a:srgbClr val="1A1A2E"/>
                          </a:solidFill>
                          <a:latin typeface="Calibri"/>
                        </a:rPr>
                        <a:t>Overkill for the MVP; the natural growth path as we add the other case challenges</a:t>
                      </a:r>
                    </a:p>
                  </a:txBody>
                  <a:tcPr>
                    <a:solidFill>
                      <a:srgbClr val="F2F4F8"/>
                    </a:solidFill>
                  </a:tcPr>
                </a:tc>
              </a:tr>
            </a:tbl>
          </a:graphicData>
        </a:graphic>
      </p:graphicFrame>
      <p:sp>
        <p:nvSpPr>
          <p:cNvPr id="7" name="Rectangle 6"/>
          <p:cNvSpPr/>
          <p:nvPr/>
        </p:nvSpPr>
        <p:spPr>
          <a:xfrm>
            <a:off x="548640" y="5257800"/>
            <a:ext cx="11064240" cy="96012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349240"/>
            <a:ext cx="10698480" cy="777240"/>
          </a:xfrm>
          <a:prstGeom prst="rect">
            <a:avLst/>
          </a:prstGeom>
          <a:noFill/>
        </p:spPr>
        <p:txBody>
          <a:bodyPr wrap="square" anchor="ctr">
            <a:spAutoFit/>
          </a:bodyPr>
          <a:lstStyle/>
          <a:p>
            <a:pPr algn="l">
              <a:lnSpc>
                <a:spcPct val="105000"/>
              </a:lnSpc>
              <a:spcAft>
                <a:spcPts val="600"/>
              </a:spcAft>
            </a:pPr>
            <a:r>
              <a:rPr sz="1400" b="1">
                <a:solidFill>
                  <a:srgbClr val="0E7C86"/>
                </a:solidFill>
                <a:latin typeface="Calibri"/>
              </a:rPr>
              <a:t>Trade-off we accept: </a:t>
            </a:r>
            <a:r>
              <a:rPr sz="1400" b="0">
                <a:solidFill>
                  <a:srgbClr val="1A1A2E"/>
                </a:solidFill>
                <a:latin typeface="Calibri"/>
              </a:rPr>
              <a:t>more moving parts and some inter-agent latency versus a single agent. We mitigate with a thin supervisor and tight tool scopes. A fixed RPA script could not reason about a novel Tier-2 chain or decide not to expedite.</a:t>
            </a:r>
          </a:p>
        </p:txBody>
      </p:sp>
      <p:sp>
        <p:nvSpPr>
          <p:cNvPr id="9" name="Rectangle 8"/>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Agentic System Architecture (10 pts)</a:t>
            </a:r>
            <a:r>
              <a:rPr sz="1100" b="1">
                <a:solidFill>
                  <a:srgbClr val="0A1F6B"/>
                </a:solidFill>
                <a:latin typeface="Calibri"/>
              </a:rPr>
              <a:t>     |     Handout / docs: </a:t>
            </a:r>
            <a:r>
              <a:rPr sz="1100" b="0">
                <a:solidFill>
                  <a:srgbClr val="555555"/>
                </a:solidFill>
                <a:latin typeface="Calibri"/>
              </a:rPr>
              <a:t>Handout 5 | docs/03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TOOLS &amp; ACTIONS</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5. Tools: passive by design, agent decides</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371600"/>
          <a:ext cx="11064240" cy="4224528"/>
        </p:xfrm>
        <a:graphic>
          <a:graphicData uri="http://schemas.openxmlformats.org/drawingml/2006/table">
            <a:tbl>
              <a:tblPr firstRow="1" bandRow="1">
                <a:tableStyleId>{5C22544A-7EE6-4342-B048-85BDC9FD1C3A}</a:tableStyleId>
              </a:tblPr>
              <a:tblGrid>
                <a:gridCol w="2651760"/>
                <a:gridCol w="1097280"/>
                <a:gridCol w="1828800"/>
                <a:gridCol w="5486400"/>
              </a:tblGrid>
              <a:tr h="384048">
                <a:tc>
                  <a:txBody>
                    <a:bodyPr/>
                    <a:lstStyle/>
                    <a:p>
                      <a:r>
                        <a:rPr sz="1150" b="1">
                          <a:solidFill>
                            <a:srgbClr val="FFFFFF"/>
                          </a:solidFill>
                          <a:latin typeface="Calibri"/>
                        </a:rPr>
                        <a:t>Tool</a:t>
                      </a:r>
                    </a:p>
                  </a:txBody>
                  <a:tcPr>
                    <a:solidFill>
                      <a:srgbClr val="0A1F6B"/>
                    </a:solidFill>
                  </a:tcPr>
                </a:tc>
                <a:tc>
                  <a:txBody>
                    <a:bodyPr/>
                    <a:lstStyle/>
                    <a:p>
                      <a:r>
                        <a:rPr sz="1150" b="1">
                          <a:solidFill>
                            <a:srgbClr val="FFFFFF"/>
                          </a:solidFill>
                          <a:latin typeface="Calibri"/>
                        </a:rPr>
                        <a:t>Type</a:t>
                      </a:r>
                    </a:p>
                  </a:txBody>
                  <a:tcPr>
                    <a:solidFill>
                      <a:srgbClr val="0A1F6B"/>
                    </a:solidFill>
                  </a:tcPr>
                </a:tc>
                <a:tc>
                  <a:txBody>
                    <a:bodyPr/>
                    <a:lstStyle/>
                    <a:p>
                      <a:r>
                        <a:rPr sz="1150" b="1">
                          <a:solidFill>
                            <a:srgbClr val="FFFFFF"/>
                          </a:solidFill>
                          <a:latin typeface="Calibri"/>
                        </a:rPr>
                        <a:t>Approval</a:t>
                      </a:r>
                    </a:p>
                  </a:txBody>
                  <a:tcPr>
                    <a:solidFill>
                      <a:srgbClr val="0A1F6B"/>
                    </a:solidFill>
                  </a:tcPr>
                </a:tc>
                <a:tc>
                  <a:txBody>
                    <a:bodyPr/>
                    <a:lstStyle/>
                    <a:p>
                      <a:r>
                        <a:rPr sz="1150" b="1">
                          <a:solidFill>
                            <a:srgbClr val="FFFFFF"/>
                          </a:solidFill>
                          <a:latin typeface="Calibri"/>
                        </a:rPr>
                        <a:t>Purpose</a:t>
                      </a:r>
                    </a:p>
                  </a:txBody>
                  <a:tcPr>
                    <a:solidFill>
                      <a:srgbClr val="0A1F6B"/>
                    </a:solidFill>
                  </a:tcPr>
                </a:tc>
              </a:tr>
              <a:tr h="384048">
                <a:tc>
                  <a:txBody>
                    <a:bodyPr/>
                    <a:lstStyle/>
                    <a:p>
                      <a:r>
                        <a:rPr sz="1150">
                          <a:solidFill>
                            <a:srgbClr val="1A1A2E"/>
                          </a:solidFill>
                          <a:latin typeface="Calibri"/>
                        </a:rPr>
                        <a:t>supplier_graph_db</a:t>
                      </a:r>
                    </a:p>
                  </a:txBody>
                  <a:tcPr>
                    <a:solidFill>
                      <a:srgbClr val="FFFFFF"/>
                    </a:solidFill>
                  </a:tcPr>
                </a:tc>
                <a:tc>
                  <a:txBody>
                    <a:bodyPr/>
                    <a:lstStyle/>
                    <a:p>
                      <a:r>
                        <a:rPr sz="1150">
                          <a:solidFill>
                            <a:srgbClr val="1A1A2E"/>
                          </a:solidFill>
                          <a:latin typeface="Calibri"/>
                        </a:rPr>
                        <a:t>read</a:t>
                      </a:r>
                    </a:p>
                  </a:txBody>
                  <a:tcPr>
                    <a:solidFill>
                      <a:srgbClr val="FFFFFF"/>
                    </a:solidFill>
                  </a:tcPr>
                </a:tc>
                <a:tc>
                  <a:txBody>
                    <a:bodyPr/>
                    <a:lstStyle/>
                    <a:p>
                      <a:r>
                        <a:rPr sz="1150">
                          <a:solidFill>
                            <a:srgbClr val="1A1A2E"/>
                          </a:solidFill>
                          <a:latin typeface="Calibri"/>
                        </a:rPr>
                        <a:t>no</a:t>
                      </a:r>
                    </a:p>
                  </a:txBody>
                  <a:tcPr>
                    <a:solidFill>
                      <a:srgbClr val="FFFFFF"/>
                    </a:solidFill>
                  </a:tcPr>
                </a:tc>
                <a:tc>
                  <a:txBody>
                    <a:bodyPr/>
                    <a:lstStyle/>
                    <a:p>
                      <a:r>
                        <a:rPr sz="1150">
                          <a:solidFill>
                            <a:srgbClr val="1A1A2E"/>
                          </a:solidFill>
                          <a:latin typeface="Calibri"/>
                        </a:rPr>
                        <a:t>Trace Tier-1 to 2 to 3 dependencies and alternates</a:t>
                      </a:r>
                    </a:p>
                  </a:txBody>
                  <a:tcPr>
                    <a:solidFill>
                      <a:srgbClr val="FFFFFF"/>
                    </a:solidFill>
                  </a:tcPr>
                </a:tc>
              </a:tr>
              <a:tr h="384048">
                <a:tc>
                  <a:txBody>
                    <a:bodyPr/>
                    <a:lstStyle/>
                    <a:p>
                      <a:r>
                        <a:rPr sz="1150">
                          <a:solidFill>
                            <a:srgbClr val="1A1A2E"/>
                          </a:solidFill>
                          <a:latin typeface="Calibri"/>
                        </a:rPr>
                        <a:t>shipment_tracker</a:t>
                      </a:r>
                    </a:p>
                  </a:txBody>
                  <a:tcPr>
                    <a:solidFill>
                      <a:srgbClr val="F2F4F8"/>
                    </a:solidFill>
                  </a:tcPr>
                </a:tc>
                <a:tc>
                  <a:txBody>
                    <a:bodyPr/>
                    <a:lstStyle/>
                    <a:p>
                      <a:r>
                        <a:rPr sz="1150">
                          <a:solidFill>
                            <a:srgbClr val="1A1A2E"/>
                          </a:solidFill>
                          <a:latin typeface="Calibri"/>
                        </a:rPr>
                        <a:t>read</a:t>
                      </a:r>
                    </a:p>
                  </a:txBody>
                  <a:tcPr>
                    <a:solidFill>
                      <a:srgbClr val="F2F4F8"/>
                    </a:solidFill>
                  </a:tcPr>
                </a:tc>
                <a:tc>
                  <a:txBody>
                    <a:bodyPr/>
                    <a:lstStyle/>
                    <a:p>
                      <a:r>
                        <a:rPr sz="1150">
                          <a:solidFill>
                            <a:srgbClr val="1A1A2E"/>
                          </a:solidFill>
                          <a:latin typeface="Calibri"/>
                        </a:rPr>
                        <a:t>no</a:t>
                      </a:r>
                    </a:p>
                  </a:txBody>
                  <a:tcPr>
                    <a:solidFill>
                      <a:srgbClr val="F2F4F8"/>
                    </a:solidFill>
                  </a:tcPr>
                </a:tc>
                <a:tc>
                  <a:txBody>
                    <a:bodyPr/>
                    <a:lstStyle/>
                    <a:p>
                      <a:r>
                        <a:rPr sz="1150">
                          <a:solidFill>
                            <a:srgbClr val="1A1A2E"/>
                          </a:solidFill>
                          <a:latin typeface="Calibri"/>
                        </a:rPr>
                        <a:t>Consolidate EDI / email / spreadsheet logistics</a:t>
                      </a:r>
                    </a:p>
                  </a:txBody>
                  <a:tcPr>
                    <a:solidFill>
                      <a:srgbClr val="F2F4F8"/>
                    </a:solidFill>
                  </a:tcPr>
                </a:tc>
              </a:tr>
              <a:tr h="384048">
                <a:tc>
                  <a:txBody>
                    <a:bodyPr/>
                    <a:lstStyle/>
                    <a:p>
                      <a:r>
                        <a:rPr sz="1150">
                          <a:solidFill>
                            <a:srgbClr val="1A1A2E"/>
                          </a:solidFill>
                          <a:latin typeface="Calibri"/>
                        </a:rPr>
                        <a:t>inventory_system</a:t>
                      </a:r>
                    </a:p>
                  </a:txBody>
                  <a:tcPr>
                    <a:solidFill>
                      <a:srgbClr val="FFFFFF"/>
                    </a:solidFill>
                  </a:tcPr>
                </a:tc>
                <a:tc>
                  <a:txBody>
                    <a:bodyPr/>
                    <a:lstStyle/>
                    <a:p>
                      <a:r>
                        <a:rPr sz="1150">
                          <a:solidFill>
                            <a:srgbClr val="1A1A2E"/>
                          </a:solidFill>
                          <a:latin typeface="Calibri"/>
                        </a:rPr>
                        <a:t>read</a:t>
                      </a:r>
                    </a:p>
                  </a:txBody>
                  <a:tcPr>
                    <a:solidFill>
                      <a:srgbClr val="FFFFFF"/>
                    </a:solidFill>
                  </a:tcPr>
                </a:tc>
                <a:tc>
                  <a:txBody>
                    <a:bodyPr/>
                    <a:lstStyle/>
                    <a:p>
                      <a:r>
                        <a:rPr sz="1150">
                          <a:solidFill>
                            <a:srgbClr val="1A1A2E"/>
                          </a:solidFill>
                          <a:latin typeface="Calibri"/>
                        </a:rPr>
                        <a:t>no</a:t>
                      </a:r>
                    </a:p>
                  </a:txBody>
                  <a:tcPr>
                    <a:solidFill>
                      <a:srgbClr val="FFFFFF"/>
                    </a:solidFill>
                  </a:tcPr>
                </a:tc>
                <a:tc>
                  <a:txBody>
                    <a:bodyPr/>
                    <a:lstStyle/>
                    <a:p>
                      <a:r>
                        <a:rPr sz="1150">
                          <a:solidFill>
                            <a:srgbClr val="1A1A2E"/>
                          </a:solidFill>
                          <a:latin typeface="Calibri"/>
                        </a:rPr>
                        <a:t>On-hand, safety stock, runway (days of cover)</a:t>
                      </a:r>
                    </a:p>
                  </a:txBody>
                  <a:tcPr>
                    <a:solidFill>
                      <a:srgbClr val="FFFFFF"/>
                    </a:solidFill>
                  </a:tcPr>
                </a:tc>
              </a:tr>
              <a:tr h="384048">
                <a:tc>
                  <a:txBody>
                    <a:bodyPr/>
                    <a:lstStyle/>
                    <a:p>
                      <a:r>
                        <a:rPr sz="1150">
                          <a:solidFill>
                            <a:srgbClr val="1A1A2E"/>
                          </a:solidFill>
                          <a:latin typeface="Calibri"/>
                        </a:rPr>
                        <a:t>external_risk_feed</a:t>
                      </a:r>
                    </a:p>
                  </a:txBody>
                  <a:tcPr>
                    <a:solidFill>
                      <a:srgbClr val="F2F4F8"/>
                    </a:solidFill>
                  </a:tcPr>
                </a:tc>
                <a:tc>
                  <a:txBody>
                    <a:bodyPr/>
                    <a:lstStyle/>
                    <a:p>
                      <a:r>
                        <a:rPr sz="1150">
                          <a:solidFill>
                            <a:srgbClr val="1A1A2E"/>
                          </a:solidFill>
                          <a:latin typeface="Calibri"/>
                        </a:rPr>
                        <a:t>read</a:t>
                      </a:r>
                    </a:p>
                  </a:txBody>
                  <a:tcPr>
                    <a:solidFill>
                      <a:srgbClr val="F2F4F8"/>
                    </a:solidFill>
                  </a:tcPr>
                </a:tc>
                <a:tc>
                  <a:txBody>
                    <a:bodyPr/>
                    <a:lstStyle/>
                    <a:p>
                      <a:r>
                        <a:rPr sz="1150">
                          <a:solidFill>
                            <a:srgbClr val="1A1A2E"/>
                          </a:solidFill>
                          <a:latin typeface="Calibri"/>
                        </a:rPr>
                        <a:t>no</a:t>
                      </a:r>
                    </a:p>
                  </a:txBody>
                  <a:tcPr>
                    <a:solidFill>
                      <a:srgbClr val="F2F4F8"/>
                    </a:solidFill>
                  </a:tcPr>
                </a:tc>
                <a:tc>
                  <a:txBody>
                    <a:bodyPr/>
                    <a:lstStyle/>
                    <a:p>
                      <a:r>
                        <a:rPr sz="1150">
                          <a:solidFill>
                            <a:srgbClr val="1A1A2E"/>
                          </a:solidFill>
                          <a:latin typeface="Calibri"/>
                        </a:rPr>
                        <a:t>Weather / port / news / geopolitical signals</a:t>
                      </a:r>
                    </a:p>
                  </a:txBody>
                  <a:tcPr>
                    <a:solidFill>
                      <a:srgbClr val="F2F4F8"/>
                    </a:solidFill>
                  </a:tcPr>
                </a:tc>
              </a:tr>
              <a:tr h="384048">
                <a:tc>
                  <a:txBody>
                    <a:bodyPr/>
                    <a:lstStyle/>
                    <a:p>
                      <a:r>
                        <a:rPr sz="1150">
                          <a:solidFill>
                            <a:srgbClr val="1A1A2E"/>
                          </a:solidFill>
                          <a:latin typeface="Calibri"/>
                        </a:rPr>
                        <a:t>eta_predictor</a:t>
                      </a:r>
                    </a:p>
                  </a:txBody>
                  <a:tcPr>
                    <a:solidFill>
                      <a:srgbClr val="FFFFFF"/>
                    </a:solidFill>
                  </a:tcPr>
                </a:tc>
                <a:tc>
                  <a:txBody>
                    <a:bodyPr/>
                    <a:lstStyle/>
                    <a:p>
                      <a:r>
                        <a:rPr sz="1150">
                          <a:solidFill>
                            <a:srgbClr val="1A1A2E"/>
                          </a:solidFill>
                          <a:latin typeface="Calibri"/>
                        </a:rPr>
                        <a:t>execute</a:t>
                      </a:r>
                    </a:p>
                  </a:txBody>
                  <a:tcPr>
                    <a:solidFill>
                      <a:srgbClr val="FFFFFF"/>
                    </a:solidFill>
                  </a:tcPr>
                </a:tc>
                <a:tc>
                  <a:txBody>
                    <a:bodyPr/>
                    <a:lstStyle/>
                    <a:p>
                      <a:r>
                        <a:rPr sz="1150">
                          <a:solidFill>
                            <a:srgbClr val="1A1A2E"/>
                          </a:solidFill>
                          <a:latin typeface="Calibri"/>
                        </a:rPr>
                        <a:t>no</a:t>
                      </a:r>
                    </a:p>
                  </a:txBody>
                  <a:tcPr>
                    <a:solidFill>
                      <a:srgbClr val="FFFFFF"/>
                    </a:solidFill>
                  </a:tcPr>
                </a:tc>
                <a:tc>
                  <a:txBody>
                    <a:bodyPr/>
                    <a:lstStyle/>
                    <a:p>
                      <a:r>
                        <a:rPr sz="1150">
                          <a:solidFill>
                            <a:srgbClr val="1A1A2E"/>
                          </a:solidFill>
                          <a:latin typeface="Calibri"/>
                        </a:rPr>
                        <a:t>Real-time ETA from status plus disruptions</a:t>
                      </a:r>
                    </a:p>
                  </a:txBody>
                  <a:tcPr>
                    <a:solidFill>
                      <a:srgbClr val="FFFFFF"/>
                    </a:solidFill>
                  </a:tcPr>
                </a:tc>
              </a:tr>
              <a:tr h="384048">
                <a:tc>
                  <a:txBody>
                    <a:bodyPr/>
                    <a:lstStyle/>
                    <a:p>
                      <a:r>
                        <a:rPr sz="1150">
                          <a:solidFill>
                            <a:srgbClr val="1A1A2E"/>
                          </a:solidFill>
                          <a:latin typeface="Calibri"/>
                        </a:rPr>
                        <a:t>risk_scorer</a:t>
                      </a:r>
                    </a:p>
                  </a:txBody>
                  <a:tcPr>
                    <a:solidFill>
                      <a:srgbClr val="F2F4F8"/>
                    </a:solidFill>
                  </a:tcPr>
                </a:tc>
                <a:tc>
                  <a:txBody>
                    <a:bodyPr/>
                    <a:lstStyle/>
                    <a:p>
                      <a:r>
                        <a:rPr sz="1150">
                          <a:solidFill>
                            <a:srgbClr val="1A1A2E"/>
                          </a:solidFill>
                          <a:latin typeface="Calibri"/>
                        </a:rPr>
                        <a:t>execute</a:t>
                      </a:r>
                    </a:p>
                  </a:txBody>
                  <a:tcPr>
                    <a:solidFill>
                      <a:srgbClr val="F2F4F8"/>
                    </a:solidFill>
                  </a:tcPr>
                </a:tc>
                <a:tc>
                  <a:txBody>
                    <a:bodyPr/>
                    <a:lstStyle/>
                    <a:p>
                      <a:r>
                        <a:rPr sz="1150">
                          <a:solidFill>
                            <a:srgbClr val="1A1A2E"/>
                          </a:solidFill>
                          <a:latin typeface="Calibri"/>
                        </a:rPr>
                        <a:t>no</a:t>
                      </a:r>
                    </a:p>
                  </a:txBody>
                  <a:tcPr>
                    <a:solidFill>
                      <a:srgbClr val="F2F4F8"/>
                    </a:solidFill>
                  </a:tcPr>
                </a:tc>
                <a:tc>
                  <a:txBody>
                    <a:bodyPr/>
                    <a:lstStyle/>
                    <a:p>
                      <a:r>
                        <a:rPr sz="1150">
                          <a:solidFill>
                            <a:srgbClr val="1A1A2E"/>
                          </a:solidFill>
                          <a:latin typeface="Calibri"/>
                        </a:rPr>
                        <a:t>0-100 prioritised risk score and exposure dollars</a:t>
                      </a:r>
                    </a:p>
                  </a:txBody>
                  <a:tcPr>
                    <a:solidFill>
                      <a:srgbClr val="F2F4F8"/>
                    </a:solidFill>
                  </a:tcPr>
                </a:tc>
              </a:tr>
              <a:tr h="384048">
                <a:tc>
                  <a:txBody>
                    <a:bodyPr/>
                    <a:lstStyle/>
                    <a:p>
                      <a:r>
                        <a:rPr sz="1150">
                          <a:solidFill>
                            <a:srgbClr val="1A1A2E"/>
                          </a:solidFill>
                          <a:latin typeface="Calibri"/>
                        </a:rPr>
                        <a:t>erp_create_po</a:t>
                      </a:r>
                    </a:p>
                  </a:txBody>
                  <a:tcPr>
                    <a:solidFill>
                      <a:srgbClr val="FFFFFF"/>
                    </a:solidFill>
                  </a:tcPr>
                </a:tc>
                <a:tc>
                  <a:txBody>
                    <a:bodyPr/>
                    <a:lstStyle/>
                    <a:p>
                      <a:r>
                        <a:rPr sz="1150">
                          <a:solidFill>
                            <a:srgbClr val="1A1A2E"/>
                          </a:solidFill>
                          <a:latin typeface="Calibri"/>
                        </a:rPr>
                        <a:t>write</a:t>
                      </a:r>
                    </a:p>
                  </a:txBody>
                  <a:tcPr>
                    <a:solidFill>
                      <a:srgbClr val="FFFFFF"/>
                    </a:solidFill>
                  </a:tcPr>
                </a:tc>
                <a:tc>
                  <a:txBody>
                    <a:bodyPr/>
                    <a:lstStyle/>
                    <a:p>
                      <a:r>
                        <a:rPr sz="1150">
                          <a:solidFill>
                            <a:srgbClr val="1A1A2E"/>
                          </a:solidFill>
                          <a:latin typeface="Calibri"/>
                        </a:rPr>
                        <a:t>commit / over-limit</a:t>
                      </a:r>
                    </a:p>
                  </a:txBody>
                  <a:tcPr>
                    <a:solidFill>
                      <a:srgbClr val="FFFFFF"/>
                    </a:solidFill>
                  </a:tcPr>
                </a:tc>
                <a:tc>
                  <a:txBody>
                    <a:bodyPr/>
                    <a:lstStyle/>
                    <a:p>
                      <a:r>
                        <a:rPr sz="1150">
                          <a:solidFill>
                            <a:srgbClr val="1A1A2E"/>
                          </a:solidFill>
                          <a:latin typeface="Calibri"/>
                        </a:rPr>
                        <a:t>Draft (auto) or commit (HITL) a PO</a:t>
                      </a:r>
                    </a:p>
                  </a:txBody>
                  <a:tcPr>
                    <a:solidFill>
                      <a:srgbClr val="FFFFFF"/>
                    </a:solidFill>
                  </a:tcPr>
                </a:tc>
              </a:tr>
              <a:tr h="384048">
                <a:tc>
                  <a:txBody>
                    <a:bodyPr/>
                    <a:lstStyle/>
                    <a:p>
                      <a:r>
                        <a:rPr sz="1150">
                          <a:solidFill>
                            <a:srgbClr val="1A1A2E"/>
                          </a:solidFill>
                          <a:latin typeface="Calibri"/>
                        </a:rPr>
                        <a:t>expedite_logistics</a:t>
                      </a:r>
                    </a:p>
                  </a:txBody>
                  <a:tcPr>
                    <a:solidFill>
                      <a:srgbClr val="F2F4F8"/>
                    </a:solidFill>
                  </a:tcPr>
                </a:tc>
                <a:tc>
                  <a:txBody>
                    <a:bodyPr/>
                    <a:lstStyle/>
                    <a:p>
                      <a:r>
                        <a:rPr sz="1150">
                          <a:solidFill>
                            <a:srgbClr val="1A1A2E"/>
                          </a:solidFill>
                          <a:latin typeface="Calibri"/>
                        </a:rPr>
                        <a:t>write</a:t>
                      </a:r>
                    </a:p>
                  </a:txBody>
                  <a:tcPr>
                    <a:solidFill>
                      <a:srgbClr val="F2F4F8"/>
                    </a:solidFill>
                  </a:tcPr>
                </a:tc>
                <a:tc>
                  <a:txBody>
                    <a:bodyPr/>
                    <a:lstStyle/>
                    <a:p>
                      <a:r>
                        <a:rPr sz="1150">
                          <a:solidFill>
                            <a:srgbClr val="1A1A2E"/>
                          </a:solidFill>
                          <a:latin typeface="Calibri"/>
                        </a:rPr>
                        <a:t>always</a:t>
                      </a:r>
                    </a:p>
                  </a:txBody>
                  <a:tcPr>
                    <a:solidFill>
                      <a:srgbClr val="F2F4F8"/>
                    </a:solidFill>
                  </a:tcPr>
                </a:tc>
                <a:tc>
                  <a:txBody>
                    <a:bodyPr/>
                    <a:lstStyle/>
                    <a:p>
                      <a:r>
                        <a:rPr sz="1150">
                          <a:solidFill>
                            <a:srgbClr val="1A1A2E"/>
                          </a:solidFill>
                          <a:latin typeface="Calibri"/>
                        </a:rPr>
                        <a:t>Book premium freight (controlled cost)</a:t>
                      </a:r>
                    </a:p>
                  </a:txBody>
                  <a:tcPr>
                    <a:solidFill>
                      <a:srgbClr val="F2F4F8"/>
                    </a:solidFill>
                  </a:tcPr>
                </a:tc>
              </a:tr>
              <a:tr h="384048">
                <a:tc>
                  <a:txBody>
                    <a:bodyPr/>
                    <a:lstStyle/>
                    <a:p>
                      <a:r>
                        <a:rPr sz="1150">
                          <a:solidFill>
                            <a:srgbClr val="1A1A2E"/>
                          </a:solidFill>
                          <a:latin typeface="Calibri"/>
                        </a:rPr>
                        <a:t>production_scheduler</a:t>
                      </a:r>
                    </a:p>
                  </a:txBody>
                  <a:tcPr>
                    <a:solidFill>
                      <a:srgbClr val="FFFFFF"/>
                    </a:solidFill>
                  </a:tcPr>
                </a:tc>
                <a:tc>
                  <a:txBody>
                    <a:bodyPr/>
                    <a:lstStyle/>
                    <a:p>
                      <a:r>
                        <a:rPr sz="1150">
                          <a:solidFill>
                            <a:srgbClr val="1A1A2E"/>
                          </a:solidFill>
                          <a:latin typeface="Calibri"/>
                        </a:rPr>
                        <a:t>write</a:t>
                      </a:r>
                    </a:p>
                  </a:txBody>
                  <a:tcPr>
                    <a:solidFill>
                      <a:srgbClr val="FFFFFF"/>
                    </a:solidFill>
                  </a:tcPr>
                </a:tc>
                <a:tc>
                  <a:txBody>
                    <a:bodyPr/>
                    <a:lstStyle/>
                    <a:p>
                      <a:r>
                        <a:rPr sz="1150">
                          <a:solidFill>
                            <a:srgbClr val="1A1A2E"/>
                          </a:solidFill>
                          <a:latin typeface="Calibri"/>
                        </a:rPr>
                        <a:t>always</a:t>
                      </a:r>
                    </a:p>
                  </a:txBody>
                  <a:tcPr>
                    <a:solidFill>
                      <a:srgbClr val="FFFFFF"/>
                    </a:solidFill>
                  </a:tcPr>
                </a:tc>
                <a:tc>
                  <a:txBody>
                    <a:bodyPr/>
                    <a:lstStyle/>
                    <a:p>
                      <a:r>
                        <a:rPr sz="1150">
                          <a:solidFill>
                            <a:srgbClr val="1A1A2E"/>
                          </a:solidFill>
                          <a:latin typeface="Calibri"/>
                        </a:rPr>
                        <a:t>Resequence a live line (OT / safety)</a:t>
                      </a:r>
                    </a:p>
                  </a:txBody>
                  <a:tcPr>
                    <a:solidFill>
                      <a:srgbClr val="FFFFFF"/>
                    </a:solidFill>
                  </a:tcPr>
                </a:tc>
              </a:tr>
              <a:tr h="384048">
                <a:tc>
                  <a:txBody>
                    <a:bodyPr/>
                    <a:lstStyle/>
                    <a:p>
                      <a:r>
                        <a:rPr sz="1150">
                          <a:solidFill>
                            <a:srgbClr val="1A1A2E"/>
                          </a:solidFill>
                          <a:latin typeface="Calibri"/>
                        </a:rPr>
                        <a:t>notify_stakeholders</a:t>
                      </a:r>
                    </a:p>
                  </a:txBody>
                  <a:tcPr>
                    <a:solidFill>
                      <a:srgbClr val="F2F4F8"/>
                    </a:solidFill>
                  </a:tcPr>
                </a:tc>
                <a:tc>
                  <a:txBody>
                    <a:bodyPr/>
                    <a:lstStyle/>
                    <a:p>
                      <a:r>
                        <a:rPr sz="1150">
                          <a:solidFill>
                            <a:srgbClr val="1A1A2E"/>
                          </a:solidFill>
                          <a:latin typeface="Calibri"/>
                        </a:rPr>
                        <a:t>write</a:t>
                      </a:r>
                    </a:p>
                  </a:txBody>
                  <a:tcPr>
                    <a:solidFill>
                      <a:srgbClr val="F2F4F8"/>
                    </a:solidFill>
                  </a:tcPr>
                </a:tc>
                <a:tc>
                  <a:txBody>
                    <a:bodyPr/>
                    <a:lstStyle/>
                    <a:p>
                      <a:r>
                        <a:rPr sz="1150">
                          <a:solidFill>
                            <a:srgbClr val="1A1A2E"/>
                          </a:solidFill>
                          <a:latin typeface="Calibri"/>
                        </a:rPr>
                        <a:t>no</a:t>
                      </a:r>
                    </a:p>
                  </a:txBody>
                  <a:tcPr>
                    <a:solidFill>
                      <a:srgbClr val="F2F4F8"/>
                    </a:solidFill>
                  </a:tcPr>
                </a:tc>
                <a:tc>
                  <a:txBody>
                    <a:bodyPr/>
                    <a:lstStyle/>
                    <a:p>
                      <a:r>
                        <a:rPr sz="1150">
                          <a:solidFill>
                            <a:srgbClr val="1A1A2E"/>
                          </a:solidFill>
                          <a:latin typeface="Calibri"/>
                        </a:rPr>
                        <a:t>Send alert or briefing (reversible)</a:t>
                      </a:r>
                    </a:p>
                  </a:txBody>
                  <a:tcPr>
                    <a:solidFill>
                      <a:srgbClr val="F2F4F8"/>
                    </a:solidFill>
                  </a:tcPr>
                </a:tc>
              </a:tr>
            </a:tbl>
          </a:graphicData>
        </a:graphic>
      </p:graphicFrame>
      <p:sp>
        <p:nvSpPr>
          <p:cNvPr id="7" name="Rectangle 6"/>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Tools, Actions &amp; Feasibility (15 pts)</a:t>
            </a:r>
            <a:r>
              <a:rPr sz="1100" b="1">
                <a:solidFill>
                  <a:srgbClr val="0A1F6B"/>
                </a:solidFill>
                <a:latin typeface="Calibri"/>
              </a:rPr>
              <a:t>     |     Handout / docs: </a:t>
            </a:r>
            <a:r>
              <a:rPr sz="1100" b="0">
                <a:solidFill>
                  <a:srgbClr val="555555"/>
                </a:solidFill>
                <a:latin typeface="Calibri"/>
              </a:rPr>
              <a:t>Handout 3 | docs/02-04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AGENT WORKFLOW</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6. Perception, reasoning, action, learning</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2148840" cy="96012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54480"/>
            <a:ext cx="2148840" cy="960120"/>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PERCEPTION</a:t>
            </a:r>
          </a:p>
        </p:txBody>
      </p:sp>
      <p:sp>
        <p:nvSpPr>
          <p:cNvPr id="8" name="TextBox 7"/>
          <p:cNvSpPr txBox="1"/>
          <p:nvPr/>
        </p:nvSpPr>
        <p:spPr>
          <a:xfrm>
            <a:off x="2880360" y="1554480"/>
            <a:ext cx="8732520" cy="960120"/>
          </a:xfrm>
          <a:prstGeom prst="rect">
            <a:avLst/>
          </a:prstGeom>
          <a:noFill/>
        </p:spPr>
        <p:txBody>
          <a:bodyPr wrap="square" anchor="ctr">
            <a:spAutoFit/>
          </a:bodyPr>
          <a:lstStyle/>
          <a:p>
            <a:pPr algn="l">
              <a:lnSpc>
                <a:spcPct val="105000"/>
              </a:lnSpc>
              <a:spcAft>
                <a:spcPts val="600"/>
              </a:spcAft>
            </a:pPr>
            <a:r>
              <a:rPr sz="1400" b="0">
                <a:solidFill>
                  <a:srgbClr val="1A1A2E"/>
                </a:solidFill>
                <a:latin typeface="Calibri"/>
              </a:rPr>
              <a:t>RiskIntel filters HIGH-severity signals out of the noise (the case cites 22k unprioritised alerts a day)</a:t>
            </a:r>
          </a:p>
        </p:txBody>
      </p:sp>
      <p:sp>
        <p:nvSpPr>
          <p:cNvPr id="9" name="Rectangle 8"/>
          <p:cNvSpPr/>
          <p:nvPr/>
        </p:nvSpPr>
        <p:spPr>
          <a:xfrm>
            <a:off x="548640" y="2633472"/>
            <a:ext cx="2148840" cy="96012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633472"/>
            <a:ext cx="2148840" cy="960120"/>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REASONING</a:t>
            </a:r>
          </a:p>
        </p:txBody>
      </p:sp>
      <p:sp>
        <p:nvSpPr>
          <p:cNvPr id="11" name="TextBox 10"/>
          <p:cNvSpPr txBox="1"/>
          <p:nvPr/>
        </p:nvSpPr>
        <p:spPr>
          <a:xfrm>
            <a:off x="2880360" y="2633472"/>
            <a:ext cx="8732520" cy="960120"/>
          </a:xfrm>
          <a:prstGeom prst="rect">
            <a:avLst/>
          </a:prstGeom>
          <a:noFill/>
        </p:spPr>
        <p:txBody>
          <a:bodyPr wrap="square" anchor="ctr">
            <a:spAutoFit/>
          </a:bodyPr>
          <a:lstStyle/>
          <a:p>
            <a:pPr algn="l">
              <a:lnSpc>
                <a:spcPct val="105000"/>
              </a:lnSpc>
              <a:spcAft>
                <a:spcPts val="600"/>
              </a:spcAft>
            </a:pPr>
            <a:r>
              <a:rPr sz="1400" b="0">
                <a:solidFill>
                  <a:srgbClr val="1A1A2E"/>
                </a:solidFill>
                <a:latin typeface="Calibri"/>
              </a:rPr>
              <a:t>SupplierGraph walks the chain to the critical parts a disrupted Tier-2 entity feeds; ETALogistics treats a stuck upstream input as the binding constraint</a:t>
            </a:r>
          </a:p>
        </p:txBody>
      </p:sp>
      <p:sp>
        <p:nvSpPr>
          <p:cNvPr id="12" name="Rectangle 11"/>
          <p:cNvSpPr/>
          <p:nvPr/>
        </p:nvSpPr>
        <p:spPr>
          <a:xfrm>
            <a:off x="548640" y="3712463"/>
            <a:ext cx="2148840" cy="96012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712463"/>
            <a:ext cx="2148840" cy="960120"/>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ACTION</a:t>
            </a:r>
          </a:p>
        </p:txBody>
      </p:sp>
      <p:sp>
        <p:nvSpPr>
          <p:cNvPr id="14" name="TextBox 13"/>
          <p:cNvSpPr txBox="1"/>
          <p:nvPr/>
        </p:nvSpPr>
        <p:spPr>
          <a:xfrm>
            <a:off x="2880360" y="3712463"/>
            <a:ext cx="8732520" cy="960120"/>
          </a:xfrm>
          <a:prstGeom prst="rect">
            <a:avLst/>
          </a:prstGeom>
          <a:noFill/>
        </p:spPr>
        <p:txBody>
          <a:bodyPr wrap="square" anchor="ctr">
            <a:spAutoFit/>
          </a:bodyPr>
          <a:lstStyle/>
          <a:p>
            <a:pPr algn="l">
              <a:lnSpc>
                <a:spcPct val="105000"/>
              </a:lnSpc>
              <a:spcAft>
                <a:spcPts val="600"/>
              </a:spcAft>
            </a:pPr>
            <a:r>
              <a:rPr sz="1400" b="0">
                <a:solidFill>
                  <a:srgbClr val="1A1A2E"/>
                </a:solidFill>
                <a:latin typeface="Calibri"/>
              </a:rPr>
              <a:t>Drafts a buffer PO autonomously; after sign-off commits the PO and resequences the line; notifies stakeholders; writes the audit log</a:t>
            </a:r>
          </a:p>
        </p:txBody>
      </p:sp>
      <p:sp>
        <p:nvSpPr>
          <p:cNvPr id="15" name="Rectangle 14"/>
          <p:cNvSpPr/>
          <p:nvPr/>
        </p:nvSpPr>
        <p:spPr>
          <a:xfrm>
            <a:off x="548640" y="4791455"/>
            <a:ext cx="2148840" cy="960120"/>
          </a:xfrm>
          <a:prstGeom prst="rect">
            <a:avLst/>
          </a:prstGeom>
          <a:solidFill>
            <a:srgbClr val="1E4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791455"/>
            <a:ext cx="2148840" cy="960120"/>
          </a:xfrm>
          <a:prstGeom prst="rect">
            <a:avLst/>
          </a:prstGeom>
          <a:noFill/>
        </p:spPr>
        <p:txBody>
          <a:bodyPr wrap="square" anchor="ctr">
            <a:spAutoFit/>
          </a:bodyPr>
          <a:lstStyle/>
          <a:p>
            <a:pPr algn="ctr">
              <a:lnSpc>
                <a:spcPct val="105000"/>
              </a:lnSpc>
              <a:spcAft>
                <a:spcPts val="600"/>
              </a:spcAft>
            </a:pPr>
            <a:r>
              <a:rPr sz="1400" b="1">
                <a:solidFill>
                  <a:srgbClr val="FFFFFF"/>
                </a:solidFill>
                <a:latin typeface="Calibri"/>
              </a:rPr>
              <a:t>LEARNING</a:t>
            </a:r>
          </a:p>
        </p:txBody>
      </p:sp>
      <p:sp>
        <p:nvSpPr>
          <p:cNvPr id="17" name="TextBox 16"/>
          <p:cNvSpPr txBox="1"/>
          <p:nvPr/>
        </p:nvSpPr>
        <p:spPr>
          <a:xfrm>
            <a:off x="2880360" y="4791455"/>
            <a:ext cx="8732520" cy="960120"/>
          </a:xfrm>
          <a:prstGeom prst="rect">
            <a:avLst/>
          </a:prstGeom>
          <a:noFill/>
        </p:spPr>
        <p:txBody>
          <a:bodyPr wrap="square" anchor="ctr">
            <a:spAutoFit/>
          </a:bodyPr>
          <a:lstStyle/>
          <a:p>
            <a:pPr algn="l">
              <a:lnSpc>
                <a:spcPct val="105000"/>
              </a:lnSpc>
              <a:spcAft>
                <a:spcPts val="600"/>
              </a:spcAft>
            </a:pPr>
            <a:r>
              <a:rPr sz="1400" b="0">
                <a:solidFill>
                  <a:srgbClr val="1A1A2E"/>
                </a:solidFill>
                <a:latin typeface="Calibri"/>
              </a:rPr>
              <a:t>Each run is stored in episodic memory; planner approvals and edits become feedback that tunes risk thresholds and supplier rankings</a:t>
            </a:r>
          </a:p>
        </p:txBody>
      </p:sp>
      <p:sp>
        <p:nvSpPr>
          <p:cNvPr id="18" name="Rectangle 17"/>
          <p:cNvSpPr/>
          <p:nvPr/>
        </p:nvSpPr>
        <p:spPr>
          <a:xfrm>
            <a:off x="548640" y="5943600"/>
            <a:ext cx="11064240" cy="4572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943600"/>
            <a:ext cx="10698480" cy="457200"/>
          </a:xfrm>
          <a:prstGeom prst="rect">
            <a:avLst/>
          </a:prstGeom>
          <a:noFill/>
        </p:spPr>
        <p:txBody>
          <a:bodyPr wrap="square" anchor="ctr">
            <a:spAutoFit/>
          </a:bodyPr>
          <a:lstStyle/>
          <a:p>
            <a:pPr algn="l">
              <a:lnSpc>
                <a:spcPct val="105000"/>
              </a:lnSpc>
              <a:spcAft>
                <a:spcPts val="600"/>
              </a:spcAft>
            </a:pPr>
            <a:r>
              <a:rPr sz="1350" b="1">
                <a:solidFill>
                  <a:srgbClr val="FFFFFF"/>
                </a:solidFill>
                <a:latin typeface="Calibri"/>
              </a:rPr>
              <a:t>Course caveat: agents do not self-learn for free; improvement comes from curated feedback.</a:t>
            </a:r>
          </a:p>
        </p:txBody>
      </p:sp>
      <p:sp>
        <p:nvSpPr>
          <p:cNvPr id="20" name="Rectangle 19"/>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Agentic Thinking and Autonomy (25 pts)</a:t>
            </a:r>
            <a:r>
              <a:rPr sz="1100" b="1">
                <a:solidFill>
                  <a:srgbClr val="0A1F6B"/>
                </a:solidFill>
                <a:latin typeface="Calibri"/>
              </a:rPr>
              <a:t>     |     Handout / docs: </a:t>
            </a:r>
            <a:r>
              <a:rPr sz="1100" b="0">
                <a:solidFill>
                  <a:srgbClr val="555555"/>
                </a:solidFill>
                <a:latin typeface="Calibri"/>
              </a:rPr>
              <a:t>Handout 4 | docs/02 sec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INTEROP &amp; OBSERVABILITY</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7. Standard connectors and full tracing</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5394960" cy="21945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72768"/>
            <a:ext cx="5029200" cy="365760"/>
          </a:xfrm>
          <a:prstGeom prst="rect">
            <a:avLst/>
          </a:prstGeom>
          <a:noFill/>
        </p:spPr>
        <p:txBody>
          <a:bodyPr wrap="square" anchor="t">
            <a:spAutoFit/>
          </a:bodyPr>
          <a:lstStyle/>
          <a:p>
            <a:pPr algn="l">
              <a:lnSpc>
                <a:spcPct val="105000"/>
              </a:lnSpc>
              <a:spcAft>
                <a:spcPts val="600"/>
              </a:spcAft>
            </a:pPr>
            <a:r>
              <a:rPr sz="1500" b="1">
                <a:solidFill>
                  <a:srgbClr val="0E7C86"/>
                </a:solidFill>
                <a:latin typeface="Calibri"/>
              </a:rPr>
              <a:t>Interoperability (Session 4)</a:t>
            </a:r>
          </a:p>
        </p:txBody>
      </p:sp>
      <p:sp>
        <p:nvSpPr>
          <p:cNvPr id="8" name="TextBox 7"/>
          <p:cNvSpPr txBox="1"/>
          <p:nvPr/>
        </p:nvSpPr>
        <p:spPr>
          <a:xfrm>
            <a:off x="731520" y="2057400"/>
            <a:ext cx="5029200" cy="1554480"/>
          </a:xfrm>
          <a:prstGeom prst="rect">
            <a:avLst/>
          </a:prstGeom>
          <a:noFill/>
        </p:spPr>
        <p:txBody>
          <a:bodyPr wrap="square" anchor="t">
            <a:spAutoFit/>
          </a:bodyPr>
          <a:lstStyle/>
          <a:p>
            <a:pPr algn="l">
              <a:lnSpc>
                <a:spcPct val="108000"/>
              </a:lnSpc>
              <a:spcAft>
                <a:spcPts val="800"/>
              </a:spcAft>
            </a:pPr>
            <a:r>
              <a:rPr sz="1300" b="1">
                <a:solidFill>
                  <a:srgbClr val="0E7C86"/>
                </a:solidFill>
                <a:latin typeface="Calibri"/>
              </a:rPr>
              <a:t>•  </a:t>
            </a:r>
            <a:r>
              <a:rPr sz="1300" b="1">
                <a:solidFill>
                  <a:srgbClr val="1A1A2E"/>
                </a:solidFill>
                <a:latin typeface="Calibri"/>
              </a:rPr>
              <a:t>MCP </a:t>
            </a:r>
            <a:r>
              <a:rPr sz="1300" b="0">
                <a:solidFill>
                  <a:srgbClr val="1A1A2E"/>
                </a:solidFill>
                <a:latin typeface="Calibri"/>
              </a:rPr>
              <a:t>(USB-C for tools) standardises connectors to ERP, TMS, SCADA and news, so complexity stays linear, not N times M custom integrations.</a:t>
            </a:r>
          </a:p>
          <a:p>
            <a:pPr algn="l">
              <a:lnSpc>
                <a:spcPct val="108000"/>
              </a:lnSpc>
              <a:spcAft>
                <a:spcPts val="800"/>
              </a:spcAft>
            </a:pPr>
            <a:r>
              <a:rPr sz="1300" b="1">
                <a:solidFill>
                  <a:srgbClr val="0E7C86"/>
                </a:solidFill>
                <a:latin typeface="Calibri"/>
              </a:rPr>
              <a:t>•  </a:t>
            </a:r>
            <a:r>
              <a:rPr sz="1300" b="1">
                <a:solidFill>
                  <a:srgbClr val="1A1A2E"/>
                </a:solidFill>
                <a:latin typeface="Calibri"/>
              </a:rPr>
              <a:t>A2A </a:t>
            </a:r>
            <a:r>
              <a:rPr sz="1300" b="0">
                <a:solidFill>
                  <a:srgbClr val="1A1A2E"/>
                </a:solidFill>
                <a:latin typeface="Calibri"/>
              </a:rPr>
              <a:t>lets sub-agents share context and advertise their skills to the supervisor.</a:t>
            </a:r>
          </a:p>
        </p:txBody>
      </p:sp>
      <p:sp>
        <p:nvSpPr>
          <p:cNvPr id="9" name="Rectangle 8"/>
          <p:cNvSpPr/>
          <p:nvPr/>
        </p:nvSpPr>
        <p:spPr>
          <a:xfrm>
            <a:off x="6217920" y="1463040"/>
            <a:ext cx="5394960" cy="219456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72768"/>
            <a:ext cx="5029200" cy="365760"/>
          </a:xfrm>
          <a:prstGeom prst="rect">
            <a:avLst/>
          </a:prstGeom>
          <a:noFill/>
        </p:spPr>
        <p:txBody>
          <a:bodyPr wrap="square" anchor="t">
            <a:spAutoFit/>
          </a:bodyPr>
          <a:lstStyle/>
          <a:p>
            <a:pPr algn="l">
              <a:lnSpc>
                <a:spcPct val="105000"/>
              </a:lnSpc>
              <a:spcAft>
                <a:spcPts val="600"/>
              </a:spcAft>
            </a:pPr>
            <a:r>
              <a:rPr sz="1500" b="1">
                <a:solidFill>
                  <a:srgbClr val="0E7C86"/>
                </a:solidFill>
                <a:latin typeface="Calibri"/>
              </a:rPr>
              <a:t>Observability (Sessions 3-4)</a:t>
            </a:r>
          </a:p>
        </p:txBody>
      </p:sp>
      <p:sp>
        <p:nvSpPr>
          <p:cNvPr id="11" name="TextBox 10"/>
          <p:cNvSpPr txBox="1"/>
          <p:nvPr/>
        </p:nvSpPr>
        <p:spPr>
          <a:xfrm>
            <a:off x="6400800" y="2057400"/>
            <a:ext cx="5029200" cy="1554480"/>
          </a:xfrm>
          <a:prstGeom prst="rect">
            <a:avLst/>
          </a:prstGeom>
          <a:noFill/>
        </p:spPr>
        <p:txBody>
          <a:bodyPr wrap="square" anchor="t">
            <a:spAutoFit/>
          </a:bodyPr>
          <a:lstStyle/>
          <a:p>
            <a:pPr algn="l">
              <a:lnSpc>
                <a:spcPct val="108000"/>
              </a:lnSpc>
              <a:spcAft>
                <a:spcPts val="800"/>
              </a:spcAft>
            </a:pPr>
            <a:r>
              <a:rPr sz="1300" b="1">
                <a:solidFill>
                  <a:srgbClr val="0E7C86"/>
                </a:solidFill>
                <a:latin typeface="Calibri"/>
              </a:rPr>
              <a:t>•  </a:t>
            </a:r>
            <a:r>
              <a:rPr sz="1300" b="0">
                <a:solidFill>
                  <a:srgbClr val="1A1A2E"/>
                </a:solidFill>
                <a:latin typeface="Calibri"/>
              </a:rPr>
              <a:t>Every step is traced: reasoning tag, tool call, tool output, retries, adaptation and any human pause.</a:t>
            </a:r>
          </a:p>
          <a:p>
            <a:pPr algn="l">
              <a:lnSpc>
                <a:spcPct val="108000"/>
              </a:lnSpc>
              <a:spcAft>
                <a:spcPts val="800"/>
              </a:spcAft>
            </a:pPr>
            <a:r>
              <a:rPr sz="1300" b="1">
                <a:solidFill>
                  <a:srgbClr val="0E7C86"/>
                </a:solidFill>
                <a:latin typeface="Calibri"/>
              </a:rPr>
              <a:t>•  </a:t>
            </a:r>
            <a:r>
              <a:rPr sz="1300" b="0">
                <a:solidFill>
                  <a:srgbClr val="1A1A2E"/>
                </a:solidFill>
                <a:latin typeface="Calibri"/>
              </a:rPr>
              <a:t>The MVP prints this to the console; production streams it to Langfuse or LangSmith for audit and quality scoring.</a:t>
            </a:r>
          </a:p>
        </p:txBody>
      </p:sp>
      <p:sp>
        <p:nvSpPr>
          <p:cNvPr id="12" name="TextBox 11"/>
          <p:cNvSpPr txBox="1"/>
          <p:nvPr/>
        </p:nvSpPr>
        <p:spPr>
          <a:xfrm>
            <a:off x="548640" y="3840480"/>
            <a:ext cx="11064240" cy="411480"/>
          </a:xfrm>
          <a:prstGeom prst="rect">
            <a:avLst/>
          </a:prstGeom>
          <a:noFill/>
        </p:spPr>
        <p:txBody>
          <a:bodyPr wrap="square" anchor="t">
            <a:spAutoFit/>
          </a:bodyPr>
          <a:lstStyle/>
          <a:p>
            <a:pPr algn="l">
              <a:lnSpc>
                <a:spcPct val="105000"/>
              </a:lnSpc>
              <a:spcAft>
                <a:spcPts val="600"/>
              </a:spcAft>
            </a:pPr>
            <a:r>
              <a:rPr sz="1500" b="1">
                <a:solidFill>
                  <a:srgbClr val="0A1F6B"/>
                </a:solidFill>
                <a:latin typeface="Calibri"/>
              </a:rPr>
              <a:t>Build vs MVP mapping (docs/03):</a:t>
            </a:r>
          </a:p>
        </p:txBody>
      </p:sp>
      <p:graphicFrame>
        <p:nvGraphicFramePr>
          <p:cNvPr id="13" name="Table 12"/>
          <p:cNvGraphicFramePr>
            <a:graphicFrameLocks noGrp="1"/>
          </p:cNvGraphicFramePr>
          <p:nvPr/>
        </p:nvGraphicFramePr>
        <p:xfrm>
          <a:off x="548640" y="4251960"/>
          <a:ext cx="11064240" cy="2057400"/>
        </p:xfrm>
        <a:graphic>
          <a:graphicData uri="http://schemas.openxmlformats.org/drawingml/2006/table">
            <a:tbl>
              <a:tblPr firstRow="1" bandRow="1">
                <a:tableStyleId>{5C22544A-7EE6-4342-B048-85BDC9FD1C3A}</a:tableStyleId>
              </a:tblPr>
              <a:tblGrid>
                <a:gridCol w="5394960"/>
                <a:gridCol w="5669280"/>
              </a:tblGrid>
              <a:tr h="411480">
                <a:tc>
                  <a:txBody>
                    <a:bodyPr/>
                    <a:lstStyle/>
                    <a:p>
                      <a:r>
                        <a:rPr sz="1250" b="1">
                          <a:solidFill>
                            <a:srgbClr val="FFFFFF"/>
                          </a:solidFill>
                          <a:latin typeface="Calibri"/>
                        </a:rPr>
                        <a:t>Production component</a:t>
                      </a:r>
                    </a:p>
                  </a:txBody>
                  <a:tcPr>
                    <a:solidFill>
                      <a:srgbClr val="0A1F6B"/>
                    </a:solidFill>
                  </a:tcPr>
                </a:tc>
                <a:tc>
                  <a:txBody>
                    <a:bodyPr/>
                    <a:lstStyle/>
                    <a:p>
                      <a:r>
                        <a:rPr sz="1250" b="1">
                          <a:solidFill>
                            <a:srgbClr val="FFFFFF"/>
                          </a:solidFill>
                          <a:latin typeface="Calibri"/>
                        </a:rPr>
                        <a:t>MVP stand-in (this repo)</a:t>
                      </a:r>
                    </a:p>
                  </a:txBody>
                  <a:tcPr>
                    <a:solidFill>
                      <a:srgbClr val="0A1F6B"/>
                    </a:solidFill>
                  </a:tcPr>
                </a:tc>
              </a:tr>
              <a:tr h="411480">
                <a:tc>
                  <a:txBody>
                    <a:bodyPr/>
                    <a:lstStyle/>
                    <a:p>
                      <a:r>
                        <a:rPr sz="1250">
                          <a:solidFill>
                            <a:srgbClr val="1A1A2E"/>
                          </a:solidFill>
                          <a:latin typeface="Calibri"/>
                        </a:rPr>
                        <a:t>Claude on Bedrock / Vertex</a:t>
                      </a:r>
                    </a:p>
                  </a:txBody>
                  <a:tcPr>
                    <a:solidFill>
                      <a:srgbClr val="FFFFFF"/>
                    </a:solidFill>
                  </a:tcPr>
                </a:tc>
                <a:tc>
                  <a:txBody>
                    <a:bodyPr/>
                    <a:lstStyle/>
                    <a:p>
                      <a:r>
                        <a:rPr sz="1250">
                          <a:solidFill>
                            <a:srgbClr val="1A1A2E"/>
                          </a:solidFill>
                          <a:latin typeface="Calibri"/>
                        </a:rPr>
                        <a:t>llm.py (sim default, claude optional)</a:t>
                      </a:r>
                    </a:p>
                  </a:txBody>
                  <a:tcPr>
                    <a:solidFill>
                      <a:srgbClr val="FFFFFF"/>
                    </a:solidFill>
                  </a:tcPr>
                </a:tc>
              </a:tr>
              <a:tr h="411480">
                <a:tc>
                  <a:txBody>
                    <a:bodyPr/>
                    <a:lstStyle/>
                    <a:p>
                      <a:r>
                        <a:rPr sz="1250">
                          <a:solidFill>
                            <a:srgbClr val="1A1A2E"/>
                          </a:solidFill>
                          <a:latin typeface="Calibri"/>
                        </a:rPr>
                        <a:t>MCP tool servers</a:t>
                      </a:r>
                    </a:p>
                  </a:txBody>
                  <a:tcPr>
                    <a:solidFill>
                      <a:srgbClr val="F2F4F8"/>
                    </a:solidFill>
                  </a:tcPr>
                </a:tc>
                <a:tc>
                  <a:txBody>
                    <a:bodyPr/>
                    <a:lstStyle/>
                    <a:p>
                      <a:r>
                        <a:rPr sz="1250">
                          <a:solidFill>
                            <a:srgbClr val="1A1A2E"/>
                          </a:solidFill>
                          <a:latin typeface="Calibri"/>
                        </a:rPr>
                        <a:t>tools/ registry with typed descriptions</a:t>
                      </a:r>
                    </a:p>
                  </a:txBody>
                  <a:tcPr>
                    <a:solidFill>
                      <a:srgbClr val="F2F4F8"/>
                    </a:solidFill>
                  </a:tcPr>
                </a:tc>
              </a:tr>
              <a:tr h="411480">
                <a:tc>
                  <a:txBody>
                    <a:bodyPr/>
                    <a:lstStyle/>
                    <a:p>
                      <a:r>
                        <a:rPr sz="1250">
                          <a:solidFill>
                            <a:srgbClr val="1A1A2E"/>
                          </a:solidFill>
                          <a:latin typeface="Calibri"/>
                        </a:rPr>
                        <a:t>Langfuse tracing</a:t>
                      </a:r>
                    </a:p>
                  </a:txBody>
                  <a:tcPr>
                    <a:solidFill>
                      <a:srgbClr val="FFFFFF"/>
                    </a:solidFill>
                  </a:tcPr>
                </a:tc>
                <a:tc>
                  <a:txBody>
                    <a:bodyPr/>
                    <a:lstStyle/>
                    <a:p>
                      <a:r>
                        <a:rPr sz="1250">
                          <a:solidFill>
                            <a:srgbClr val="1A1A2E"/>
                          </a:solidFill>
                          <a:latin typeface="Calibri"/>
                        </a:rPr>
                        <a:t>tracer.py console tracer</a:t>
                      </a:r>
                    </a:p>
                  </a:txBody>
                  <a:tcPr>
                    <a:solidFill>
                      <a:srgbClr val="FFFFFF"/>
                    </a:solidFill>
                  </a:tcPr>
                </a:tc>
              </a:tr>
              <a:tr h="411480">
                <a:tc>
                  <a:txBody>
                    <a:bodyPr/>
                    <a:lstStyle/>
                    <a:p>
                      <a:r>
                        <a:rPr sz="1250">
                          <a:solidFill>
                            <a:srgbClr val="1A1A2E"/>
                          </a:solidFill>
                          <a:latin typeface="Calibri"/>
                        </a:rPr>
                        <a:t>LangGraph supervisor</a:t>
                      </a:r>
                    </a:p>
                  </a:txBody>
                  <a:tcPr>
                    <a:solidFill>
                      <a:srgbClr val="F2F4F8"/>
                    </a:solidFill>
                  </a:tcPr>
                </a:tc>
                <a:tc>
                  <a:txBody>
                    <a:bodyPr/>
                    <a:lstStyle/>
                    <a:p>
                      <a:r>
                        <a:rPr sz="1250">
                          <a:solidFill>
                            <a:srgbClr val="1A1A2E"/>
                          </a:solidFill>
                          <a:latin typeface="Calibri"/>
                        </a:rPr>
                        <a:t>orchestrator.py plus agents/</a:t>
                      </a:r>
                    </a:p>
                  </a:txBody>
                  <a:tcPr>
                    <a:solidFill>
                      <a:srgbClr val="F2F4F8"/>
                    </a:solidFill>
                  </a:tcPr>
                </a:tc>
              </a:tr>
            </a:tbl>
          </a:graphicData>
        </a:graphic>
      </p:graphicFrame>
      <p:sp>
        <p:nvSpPr>
          <p:cNvPr id="14" name="Rectangle 13"/>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Architecture (10 pts) + Feasibility (15 pts)</a:t>
            </a:r>
            <a:r>
              <a:rPr sz="1100" b="1">
                <a:solidFill>
                  <a:srgbClr val="0A1F6B"/>
                </a:solidFill>
                <a:latin typeface="Calibri"/>
              </a:rPr>
              <a:t>     |     Handout / docs: </a:t>
            </a:r>
            <a:r>
              <a:rPr sz="1100" b="0">
                <a:solidFill>
                  <a:srgbClr val="555555"/>
                </a:solidFill>
                <a:latin typeface="Calibri"/>
              </a:rPr>
              <a:t>docs/03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EXAMPLE RUN</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8. Walkthrough: a CRITICAL risk caught early</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11064240" cy="4023360"/>
          </a:xfrm>
          <a:prstGeom prst="rect">
            <a:avLst/>
          </a:prstGeom>
          <a:noFill/>
        </p:spPr>
        <p:txBody>
          <a:bodyPr wrap="square" anchor="t">
            <a:spAutoFit/>
          </a:bodyPr>
          <a:lstStyle/>
          <a:p>
            <a:pPr algn="l">
              <a:lnSpc>
                <a:spcPct val="108000"/>
              </a:lnSpc>
              <a:spcAft>
                <a:spcPts val="700"/>
              </a:spcAft>
            </a:pPr>
            <a:r>
              <a:rPr sz="1400" b="1">
                <a:solidFill>
                  <a:srgbClr val="0E7C86"/>
                </a:solidFill>
                <a:latin typeface="Calibri"/>
              </a:rPr>
              <a:t>•  </a:t>
            </a:r>
            <a:r>
              <a:rPr sz="1400" b="1">
                <a:solidFill>
                  <a:srgbClr val="1A1A2E"/>
                </a:solidFill>
                <a:latin typeface="Calibri"/>
              </a:rPr>
              <a:t>Trigger: </a:t>
            </a:r>
            <a:r>
              <a:rPr sz="1400" b="0">
                <a:solidFill>
                  <a:srgbClr val="1A1A2E"/>
                </a:solidFill>
                <a:latin typeface="Calibri"/>
              </a:rPr>
              <a:t>the feed pushes EVT-7001 (typhoon suspends Kaohsiung port) and EVT-7002 (SiliconPath fab halt in Taiwan).</a:t>
            </a:r>
          </a:p>
          <a:p>
            <a:pPr algn="l">
              <a:lnSpc>
                <a:spcPct val="108000"/>
              </a:lnSpc>
              <a:spcAft>
                <a:spcPts val="700"/>
              </a:spcAft>
            </a:pPr>
            <a:r>
              <a:rPr sz="1400" b="1">
                <a:solidFill>
                  <a:srgbClr val="0E7C86"/>
                </a:solidFill>
                <a:latin typeface="Calibri"/>
              </a:rPr>
              <a:t>•  </a:t>
            </a:r>
            <a:r>
              <a:rPr sz="1400" b="1">
                <a:solidFill>
                  <a:srgbClr val="1A1A2E"/>
                </a:solidFill>
                <a:latin typeface="Calibri"/>
              </a:rPr>
              <a:t>Reason: </a:t>
            </a:r>
            <a:r>
              <a:rPr sz="1400" b="0">
                <a:solidFill>
                  <a:srgbClr val="1A1A2E"/>
                </a:solidFill>
                <a:latin typeface="Calibri"/>
              </a:rPr>
              <a:t>RiskIntel flags 2 HIGH signals; SupplierGraph finds the critical Servo Motor Controller (SVC-2200) depends on SiliconPath, a single-source Tier-2, via Tier-1 Nexa.</a:t>
            </a:r>
          </a:p>
          <a:p>
            <a:pPr algn="l">
              <a:lnSpc>
                <a:spcPct val="108000"/>
              </a:lnSpc>
              <a:spcAft>
                <a:spcPts val="700"/>
              </a:spcAft>
            </a:pPr>
            <a:r>
              <a:rPr sz="1400" b="1">
                <a:solidFill>
                  <a:srgbClr val="0E7C86"/>
                </a:solidFill>
                <a:latin typeface="Calibri"/>
              </a:rPr>
              <a:t>•  </a:t>
            </a:r>
            <a:r>
              <a:rPr sz="1400" b="1">
                <a:solidFill>
                  <a:srgbClr val="1A1A2E"/>
                </a:solidFill>
                <a:latin typeface="Calibri"/>
              </a:rPr>
              <a:t>Predict: </a:t>
            </a:r>
            <a:r>
              <a:rPr sz="1400" b="0">
                <a:solidFill>
                  <a:srgbClr val="1A1A2E"/>
                </a:solidFill>
                <a:latin typeface="Calibri"/>
              </a:rPr>
              <a:t>ETALogistics sees Nexa's PO is AWAITING_COMPONENTS and the binding chip ETA slips +19 days; inventory runway is only 2 days.</a:t>
            </a:r>
          </a:p>
          <a:p>
            <a:pPr algn="l">
              <a:lnSpc>
                <a:spcPct val="108000"/>
              </a:lnSpc>
              <a:spcAft>
                <a:spcPts val="700"/>
              </a:spcAft>
            </a:pPr>
            <a:r>
              <a:rPr sz="1400" b="1">
                <a:solidFill>
                  <a:srgbClr val="0E7C86"/>
                </a:solidFill>
                <a:latin typeface="Calibri"/>
              </a:rPr>
              <a:t>•  </a:t>
            </a:r>
            <a:r>
              <a:rPr sz="1400" b="1">
                <a:solidFill>
                  <a:srgbClr val="1A1A2E"/>
                </a:solidFill>
                <a:latin typeface="Calibri"/>
              </a:rPr>
              <a:t>Score: </a:t>
            </a:r>
            <a:r>
              <a:rPr sz="1400" b="0">
                <a:solidFill>
                  <a:srgbClr val="1A1A2E"/>
                </a:solidFill>
                <a:latin typeface="Calibri"/>
              </a:rPr>
              <a:t>risk_scorer returns CRITICAL, 97 out of 100, about 3.06 million dollars of exposure.</a:t>
            </a:r>
          </a:p>
          <a:p>
            <a:pPr algn="l">
              <a:lnSpc>
                <a:spcPct val="108000"/>
              </a:lnSpc>
              <a:spcAft>
                <a:spcPts val="700"/>
              </a:spcAft>
            </a:pPr>
            <a:r>
              <a:rPr sz="1400" b="1">
                <a:solidFill>
                  <a:srgbClr val="0E7C86"/>
                </a:solidFill>
                <a:latin typeface="Calibri"/>
              </a:rPr>
              <a:t>•  </a:t>
            </a:r>
            <a:r>
              <a:rPr sz="1400" b="1">
                <a:solidFill>
                  <a:srgbClr val="1A1A2E"/>
                </a:solidFill>
                <a:latin typeface="Calibri"/>
              </a:rPr>
              <a:t>Adapt: </a:t>
            </a:r>
            <a:r>
              <a:rPr sz="1400" b="0">
                <a:solidFill>
                  <a:srgbClr val="1A1A2E"/>
                </a:solidFill>
                <a:latin typeface="Calibri"/>
              </a:rPr>
              <a:t>the agent first considers expediting Nexa, then rejects it (Nexa cannot ship without the chip) and switches to a qualified EU alternate, AltaControl, that avoids the Taiwan route.</a:t>
            </a:r>
          </a:p>
          <a:p>
            <a:pPr algn="l">
              <a:lnSpc>
                <a:spcPct val="108000"/>
              </a:lnSpc>
              <a:spcAft>
                <a:spcPts val="700"/>
              </a:spcAft>
            </a:pPr>
            <a:r>
              <a:rPr sz="1400" b="1">
                <a:solidFill>
                  <a:srgbClr val="0E7C86"/>
                </a:solidFill>
                <a:latin typeface="Calibri"/>
              </a:rPr>
              <a:t>•  </a:t>
            </a:r>
            <a:r>
              <a:rPr sz="1400" b="1">
                <a:solidFill>
                  <a:srgbClr val="1A1A2E"/>
                </a:solidFill>
                <a:latin typeface="Calibri"/>
              </a:rPr>
              <a:t>Act + HITL: </a:t>
            </a:r>
            <a:r>
              <a:rPr sz="1400" b="0">
                <a:solidFill>
                  <a:srgbClr val="1A1A2E"/>
                </a:solidFill>
                <a:latin typeface="Calibri"/>
              </a:rPr>
              <a:t>drafts the buffer PO autonomously; escalates the 294,300 dollar commit and the line reschedule to a human; notifies stakeholders.</a:t>
            </a:r>
          </a:p>
        </p:txBody>
      </p:sp>
      <p:sp>
        <p:nvSpPr>
          <p:cNvPr id="7" name="Rectangle 6"/>
          <p:cNvSpPr/>
          <p:nvPr/>
        </p:nvSpPr>
        <p:spPr>
          <a:xfrm>
            <a:off x="548640" y="5486400"/>
            <a:ext cx="11064240" cy="777240"/>
          </a:xfrm>
          <a:prstGeom prst="rect">
            <a:avLst/>
          </a:prstGeom>
          <a:solidFill>
            <a:srgbClr val="0A1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32120"/>
            <a:ext cx="10698480" cy="685800"/>
          </a:xfrm>
          <a:prstGeom prst="rect">
            <a:avLst/>
          </a:prstGeom>
          <a:noFill/>
        </p:spPr>
        <p:txBody>
          <a:bodyPr wrap="square" anchor="ctr">
            <a:spAutoFit/>
          </a:bodyPr>
          <a:lstStyle/>
          <a:p>
            <a:pPr algn="l">
              <a:lnSpc>
                <a:spcPct val="105000"/>
              </a:lnSpc>
              <a:spcAft>
                <a:spcPts val="600"/>
              </a:spcAft>
            </a:pPr>
            <a:r>
              <a:rPr sz="1400" b="1">
                <a:solidFill>
                  <a:srgbClr val="6CB400"/>
                </a:solidFill>
                <a:latin typeface="Calibri"/>
              </a:rPr>
              <a:t>Outcome: </a:t>
            </a:r>
            <a:r>
              <a:rPr sz="1400" b="0">
                <a:solidFill>
                  <a:srgbClr val="FFFFFF"/>
                </a:solidFill>
                <a:latin typeface="Calibri"/>
              </a:rPr>
              <a:t>a CRITICAL risk caught about three weeks before the line would stop, with a committed plan and a full audit trail. Runs live: python run_demo.py --slow.</a:t>
            </a:r>
          </a:p>
        </p:txBody>
      </p:sp>
      <p:sp>
        <p:nvSpPr>
          <p:cNvPr id="9" name="Rectangle 8"/>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Agentic Thinking and Autonomy (25 pts)</a:t>
            </a:r>
            <a:r>
              <a:rPr sz="1100" b="1">
                <a:solidFill>
                  <a:srgbClr val="0A1F6B"/>
                </a:solidFill>
                <a:latin typeface="Calibri"/>
              </a:rPr>
              <a:t>     |     Handout / docs: </a:t>
            </a:r>
            <a:r>
              <a:rPr sz="1100" b="0">
                <a:solidFill>
                  <a:srgbClr val="555555"/>
                </a:solidFill>
                <a:latin typeface="Calibri"/>
              </a:rPr>
              <a:t>Handout 7 | docs/02 sec 7, docs/05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RISK &amp; GUARDRAILS</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9. Risks, guardrails and human-in-the-loop</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417320"/>
          <a:ext cx="11064240" cy="3291840"/>
        </p:xfrm>
        <a:graphic>
          <a:graphicData uri="http://schemas.openxmlformats.org/drawingml/2006/table">
            <a:tbl>
              <a:tblPr firstRow="1" bandRow="1">
                <a:tableStyleId>{5C22544A-7EE6-4342-B048-85BDC9FD1C3A}</a:tableStyleId>
              </a:tblPr>
              <a:tblGrid>
                <a:gridCol w="3931920"/>
                <a:gridCol w="7132320"/>
              </a:tblGrid>
              <a:tr h="548640">
                <a:tc>
                  <a:txBody>
                    <a:bodyPr/>
                    <a:lstStyle/>
                    <a:p>
                      <a:r>
                        <a:rPr sz="1300" b="1">
                          <a:solidFill>
                            <a:srgbClr val="FFFFFF"/>
                          </a:solidFill>
                          <a:latin typeface="Calibri"/>
                        </a:rPr>
                        <a:t>Risk</a:t>
                      </a:r>
                    </a:p>
                  </a:txBody>
                  <a:tcPr>
                    <a:solidFill>
                      <a:srgbClr val="0A1F6B"/>
                    </a:solidFill>
                  </a:tcPr>
                </a:tc>
                <a:tc>
                  <a:txBody>
                    <a:bodyPr/>
                    <a:lstStyle/>
                    <a:p>
                      <a:r>
                        <a:rPr sz="1300" b="1">
                          <a:solidFill>
                            <a:srgbClr val="FFFFFF"/>
                          </a:solidFill>
                          <a:latin typeface="Calibri"/>
                        </a:rPr>
                        <a:t>Guardrail</a:t>
                      </a:r>
                    </a:p>
                  </a:txBody>
                  <a:tcPr>
                    <a:solidFill>
                      <a:srgbClr val="0A1F6B"/>
                    </a:solidFill>
                  </a:tcPr>
                </a:tc>
              </a:tr>
              <a:tr h="548640">
                <a:tc>
                  <a:txBody>
                    <a:bodyPr/>
                    <a:lstStyle/>
                    <a:p>
                      <a:r>
                        <a:rPr sz="1300">
                          <a:solidFill>
                            <a:srgbClr val="1A1A2E"/>
                          </a:solidFill>
                          <a:latin typeface="Calibri"/>
                        </a:rPr>
                        <a:t>Wrong or irreversible action</a:t>
                      </a:r>
                    </a:p>
                  </a:txBody>
                  <a:tcPr>
                    <a:solidFill>
                      <a:srgbClr val="FFFFFF"/>
                    </a:solidFill>
                  </a:tcPr>
                </a:tc>
                <a:tc>
                  <a:txBody>
                    <a:bodyPr/>
                    <a:lstStyle/>
                    <a:p>
                      <a:r>
                        <a:rPr sz="1300">
                          <a:solidFill>
                            <a:srgbClr val="1A1A2E"/>
                          </a:solidFill>
                          <a:latin typeface="Calibri"/>
                        </a:rPr>
                        <a:t>Writes are draft-by-default; costly or live writes require sign-off</a:t>
                      </a:r>
                    </a:p>
                  </a:txBody>
                  <a:tcPr>
                    <a:solidFill>
                      <a:srgbClr val="FFFFFF"/>
                    </a:solidFill>
                  </a:tcPr>
                </a:tc>
              </a:tr>
              <a:tr h="548640">
                <a:tc>
                  <a:txBody>
                    <a:bodyPr/>
                    <a:lstStyle/>
                    <a:p>
                      <a:r>
                        <a:rPr sz="1300">
                          <a:solidFill>
                            <a:srgbClr val="1A1A2E"/>
                          </a:solidFill>
                          <a:latin typeface="Calibri"/>
                        </a:rPr>
                        <a:t>Hallucinated event</a:t>
                      </a:r>
                    </a:p>
                  </a:txBody>
                  <a:tcPr>
                    <a:solidFill>
                      <a:srgbClr val="F2F4F8"/>
                    </a:solidFill>
                  </a:tcPr>
                </a:tc>
                <a:tc>
                  <a:txBody>
                    <a:bodyPr/>
                    <a:lstStyle/>
                    <a:p>
                      <a:r>
                        <a:rPr sz="1300">
                          <a:solidFill>
                            <a:srgbClr val="1A1A2E"/>
                          </a:solidFill>
                          <a:latin typeface="Calibri"/>
                        </a:rPr>
                        <a:t>The Risk agent must cite a real feed event; no invention</a:t>
                      </a:r>
                    </a:p>
                  </a:txBody>
                  <a:tcPr>
                    <a:solidFill>
                      <a:srgbClr val="F2F4F8"/>
                    </a:solidFill>
                  </a:tcPr>
                </a:tc>
              </a:tr>
              <a:tr h="548640">
                <a:tc>
                  <a:txBody>
                    <a:bodyPr/>
                    <a:lstStyle/>
                    <a:p>
                      <a:r>
                        <a:rPr sz="1300">
                          <a:solidFill>
                            <a:srgbClr val="1A1A2E"/>
                          </a:solidFill>
                          <a:latin typeface="Calibri"/>
                        </a:rPr>
                        <a:t>Over-spend</a:t>
                      </a:r>
                    </a:p>
                  </a:txBody>
                  <a:tcPr>
                    <a:solidFill>
                      <a:srgbClr val="FFFFFF"/>
                    </a:solidFill>
                  </a:tcPr>
                </a:tc>
                <a:tc>
                  <a:txBody>
                    <a:bodyPr/>
                    <a:lstStyle/>
                    <a:p>
                      <a:r>
                        <a:rPr sz="1300">
                          <a:solidFill>
                            <a:srgbClr val="1A1A2E"/>
                          </a:solidFill>
                          <a:latin typeface="Calibri"/>
                        </a:rPr>
                        <a:t>Hard spend limit auto-escalates commits; scoped to qualified suppliers</a:t>
                      </a:r>
                    </a:p>
                  </a:txBody>
                  <a:tcPr>
                    <a:solidFill>
                      <a:srgbClr val="FFFFFF"/>
                    </a:solidFill>
                  </a:tcPr>
                </a:tc>
              </a:tr>
              <a:tr h="548640">
                <a:tc>
                  <a:txBody>
                    <a:bodyPr/>
                    <a:lstStyle/>
                    <a:p>
                      <a:r>
                        <a:rPr sz="1300">
                          <a:solidFill>
                            <a:srgbClr val="1A1A2E"/>
                          </a:solidFill>
                          <a:latin typeface="Calibri"/>
                        </a:rPr>
                        <a:t>Cascading multi-agent error</a:t>
                      </a:r>
                    </a:p>
                  </a:txBody>
                  <a:tcPr>
                    <a:solidFill>
                      <a:srgbClr val="F2F4F8"/>
                    </a:solidFill>
                  </a:tcPr>
                </a:tc>
                <a:tc>
                  <a:txBody>
                    <a:bodyPr/>
                    <a:lstStyle/>
                    <a:p>
                      <a:r>
                        <a:rPr sz="1300">
                          <a:solidFill>
                            <a:srgbClr val="1A1A2E"/>
                          </a:solidFill>
                          <a:latin typeface="Calibri"/>
                        </a:rPr>
                        <a:t>Thin supervisor, tight tool scopes, full tracing for audit</a:t>
                      </a:r>
                    </a:p>
                  </a:txBody>
                  <a:tcPr>
                    <a:solidFill>
                      <a:srgbClr val="F2F4F8"/>
                    </a:solidFill>
                  </a:tcPr>
                </a:tc>
              </a:tr>
              <a:tr h="548640">
                <a:tc>
                  <a:txBody>
                    <a:bodyPr/>
                    <a:lstStyle/>
                    <a:p>
                      <a:r>
                        <a:rPr sz="1300">
                          <a:solidFill>
                            <a:srgbClr val="1A1A2E"/>
                          </a:solidFill>
                          <a:latin typeface="Calibri"/>
                        </a:rPr>
                        <a:t>Prompt injection via supplier text</a:t>
                      </a:r>
                    </a:p>
                  </a:txBody>
                  <a:tcPr>
                    <a:solidFill>
                      <a:srgbClr val="FFFFFF"/>
                    </a:solidFill>
                  </a:tcPr>
                </a:tc>
                <a:tc>
                  <a:txBody>
                    <a:bodyPr/>
                    <a:lstStyle/>
                    <a:p>
                      <a:r>
                        <a:rPr sz="1300">
                          <a:solidFill>
                            <a:srgbClr val="1A1A2E"/>
                          </a:solidFill>
                          <a:latin typeface="Calibri"/>
                        </a:rPr>
                        <a:t>External text treated as data, never as commands</a:t>
                      </a:r>
                    </a:p>
                  </a:txBody>
                  <a:tcPr>
                    <a:solidFill>
                      <a:srgbClr val="FFFFFF"/>
                    </a:solidFill>
                  </a:tcPr>
                </a:tc>
              </a:tr>
            </a:tbl>
          </a:graphicData>
        </a:graphic>
      </p:graphicFrame>
      <p:sp>
        <p:nvSpPr>
          <p:cNvPr id="7" name="Rectangle 6"/>
          <p:cNvSpPr/>
          <p:nvPr/>
        </p:nvSpPr>
        <p:spPr>
          <a:xfrm>
            <a:off x="548640" y="5166360"/>
            <a:ext cx="11064240" cy="960120"/>
          </a:xfrm>
          <a:prstGeom prst="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257800"/>
            <a:ext cx="10698480" cy="777240"/>
          </a:xfrm>
          <a:prstGeom prst="rect">
            <a:avLst/>
          </a:prstGeom>
          <a:noFill/>
        </p:spPr>
        <p:txBody>
          <a:bodyPr wrap="square" anchor="ctr">
            <a:spAutoFit/>
          </a:bodyPr>
          <a:lstStyle/>
          <a:p>
            <a:pPr algn="l">
              <a:lnSpc>
                <a:spcPct val="105000"/>
              </a:lnSpc>
              <a:spcAft>
                <a:spcPts val="600"/>
              </a:spcAft>
            </a:pPr>
            <a:r>
              <a:rPr sz="1400" b="1">
                <a:solidFill>
                  <a:srgbClr val="C02A2A"/>
                </a:solidFill>
                <a:latin typeface="Calibri"/>
              </a:rPr>
              <a:t>Human-in-the-loop: </a:t>
            </a:r>
            <a:r>
              <a:rPr sz="1400" b="0">
                <a:solidFill>
                  <a:srgbClr val="1A1A2E"/>
                </a:solidFill>
                <a:latin typeface="Calibri"/>
              </a:rPr>
              <a:t>commit a PO over the limit, book expedited freight, change a live production schedule. All pause for sign-off (shown in the demo). Everything reversible runs autonomously.</a:t>
            </a:r>
          </a:p>
        </p:txBody>
      </p:sp>
      <p:sp>
        <p:nvSpPr>
          <p:cNvPr id="9" name="Rectangle 8"/>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Risk Awareness and Mitigation (15 pts)</a:t>
            </a:r>
            <a:r>
              <a:rPr sz="1100" b="1">
                <a:solidFill>
                  <a:srgbClr val="0A1F6B"/>
                </a:solidFill>
                <a:latin typeface="Calibri"/>
              </a:rPr>
              <a:t>     |     Handout / docs: </a:t>
            </a:r>
            <a:r>
              <a:rPr sz="1100" b="0">
                <a:solidFill>
                  <a:srgbClr val="555555"/>
                </a:solidFill>
                <a:latin typeface="Calibri"/>
              </a:rPr>
              <a:t>Handout 6 | docs/02 sec 6, docs/06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TECHNOLOGY STACK</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10. Resources and technology stack</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463040"/>
          <a:ext cx="11064240" cy="3621024"/>
        </p:xfrm>
        <a:graphic>
          <a:graphicData uri="http://schemas.openxmlformats.org/drawingml/2006/table">
            <a:tbl>
              <a:tblPr firstRow="1" bandRow="1">
                <a:tableStyleId>{5C22544A-7EE6-4342-B048-85BDC9FD1C3A}</a:tableStyleId>
              </a:tblPr>
              <a:tblGrid>
                <a:gridCol w="1920240"/>
                <a:gridCol w="4297680"/>
                <a:gridCol w="4846320"/>
              </a:tblGrid>
              <a:tr h="603504">
                <a:tc>
                  <a:txBody>
                    <a:bodyPr/>
                    <a:lstStyle/>
                    <a:p>
                      <a:r>
                        <a:rPr sz="1200" b="1">
                          <a:solidFill>
                            <a:srgbClr val="FFFFFF"/>
                          </a:solidFill>
                          <a:latin typeface="Calibri"/>
                        </a:rPr>
                        <a:t>Choice</a:t>
                      </a:r>
                    </a:p>
                  </a:txBody>
                  <a:tcPr>
                    <a:solidFill>
                      <a:srgbClr val="0A1F6B"/>
                    </a:solidFill>
                  </a:tcPr>
                </a:tc>
                <a:tc>
                  <a:txBody>
                    <a:bodyPr/>
                    <a:lstStyle/>
                    <a:p>
                      <a:r>
                        <a:rPr sz="1200" b="1">
                          <a:solidFill>
                            <a:srgbClr val="FFFFFF"/>
                          </a:solidFill>
                          <a:latin typeface="Calibri"/>
                        </a:rPr>
                        <a:t>What</a:t>
                      </a:r>
                    </a:p>
                  </a:txBody>
                  <a:tcPr>
                    <a:solidFill>
                      <a:srgbClr val="0A1F6B"/>
                    </a:solidFill>
                  </a:tcPr>
                </a:tc>
                <a:tc>
                  <a:txBody>
                    <a:bodyPr/>
                    <a:lstStyle/>
                    <a:p>
                      <a:r>
                        <a:rPr sz="1200" b="1">
                          <a:solidFill>
                            <a:srgbClr val="FFFFFF"/>
                          </a:solidFill>
                          <a:latin typeface="Calibri"/>
                        </a:rPr>
                        <a:t>Why</a:t>
                      </a:r>
                    </a:p>
                  </a:txBody>
                  <a:tcPr>
                    <a:solidFill>
                      <a:srgbClr val="0A1F6B"/>
                    </a:solidFill>
                  </a:tcPr>
                </a:tc>
              </a:tr>
              <a:tr h="603504">
                <a:tc>
                  <a:txBody>
                    <a:bodyPr/>
                    <a:lstStyle/>
                    <a:p>
                      <a:r>
                        <a:rPr sz="1200">
                          <a:solidFill>
                            <a:srgbClr val="1A1A2E"/>
                          </a:solidFill>
                          <a:latin typeface="Calibri"/>
                        </a:rPr>
                        <a:t>LLM</a:t>
                      </a:r>
                    </a:p>
                  </a:txBody>
                  <a:tcPr>
                    <a:solidFill>
                      <a:srgbClr val="FFFFFF"/>
                    </a:solidFill>
                  </a:tcPr>
                </a:tc>
                <a:tc>
                  <a:txBody>
                    <a:bodyPr/>
                    <a:lstStyle/>
                    <a:p>
                      <a:r>
                        <a:rPr sz="1200">
                          <a:solidFill>
                            <a:srgbClr val="1A1A2E"/>
                          </a:solidFill>
                          <a:latin typeface="Calibri"/>
                        </a:rPr>
                        <a:t>Claude (Opus 4.x / Sonnet) reasoning engine</a:t>
                      </a:r>
                    </a:p>
                  </a:txBody>
                  <a:tcPr>
                    <a:solidFill>
                      <a:srgbClr val="FFFFFF"/>
                    </a:solidFill>
                  </a:tcPr>
                </a:tc>
                <a:tc>
                  <a:txBody>
                    <a:bodyPr/>
                    <a:lstStyle/>
                    <a:p>
                      <a:r>
                        <a:rPr sz="1200">
                          <a:solidFill>
                            <a:srgbClr val="1A1A2E"/>
                          </a:solidFill>
                          <a:latin typeface="Calibri"/>
                        </a:rPr>
                        <a:t>Strongest tool-use and multi-step reasoning; large context; available on Bedrock and Vertex</a:t>
                      </a:r>
                    </a:p>
                  </a:txBody>
                  <a:tcPr>
                    <a:solidFill>
                      <a:srgbClr val="FFFFFF"/>
                    </a:solidFill>
                  </a:tcPr>
                </a:tc>
              </a:tr>
              <a:tr h="603504">
                <a:tc>
                  <a:txBody>
                    <a:bodyPr/>
                    <a:lstStyle/>
                    <a:p>
                      <a:r>
                        <a:rPr sz="1200">
                          <a:solidFill>
                            <a:srgbClr val="1A1A2E"/>
                          </a:solidFill>
                          <a:latin typeface="Calibri"/>
                        </a:rPr>
                        <a:t>Specialised</a:t>
                      </a:r>
                    </a:p>
                  </a:txBody>
                  <a:tcPr>
                    <a:solidFill>
                      <a:srgbClr val="F2F4F8"/>
                    </a:solidFill>
                  </a:tcPr>
                </a:tc>
                <a:tc>
                  <a:txBody>
                    <a:bodyPr/>
                    <a:lstStyle/>
                    <a:p>
                      <a:r>
                        <a:rPr sz="1200">
                          <a:solidFill>
                            <a:srgbClr val="1A1A2E"/>
                          </a:solidFill>
                          <a:latin typeface="Calibri"/>
                        </a:rPr>
                        <a:t>Option to swap a fine-tuned model for ETA / RUL</a:t>
                      </a:r>
                    </a:p>
                  </a:txBody>
                  <a:tcPr>
                    <a:solidFill>
                      <a:srgbClr val="F2F4F8"/>
                    </a:solidFill>
                  </a:tcPr>
                </a:tc>
                <a:tc>
                  <a:txBody>
                    <a:bodyPr/>
                    <a:lstStyle/>
                    <a:p>
                      <a:r>
                        <a:rPr sz="1200">
                          <a:solidFill>
                            <a:srgbClr val="1A1A2E"/>
                          </a:solidFill>
                          <a:latin typeface="Calibri"/>
                        </a:rPr>
                        <a:t>Fine-tuned models win on domain time-series; llm.py is model-agnostic</a:t>
                      </a:r>
                    </a:p>
                  </a:txBody>
                  <a:tcPr>
                    <a:solidFill>
                      <a:srgbClr val="F2F4F8"/>
                    </a:solidFill>
                  </a:tcPr>
                </a:tc>
              </a:tr>
              <a:tr h="603504">
                <a:tc>
                  <a:txBody>
                    <a:bodyPr/>
                    <a:lstStyle/>
                    <a:p>
                      <a:r>
                        <a:rPr sz="1200">
                          <a:solidFill>
                            <a:srgbClr val="1A1A2E"/>
                          </a:solidFill>
                          <a:latin typeface="Calibri"/>
                        </a:rPr>
                        <a:t>Cloud</a:t>
                      </a:r>
                    </a:p>
                  </a:txBody>
                  <a:tcPr>
                    <a:solidFill>
                      <a:srgbClr val="FFFFFF"/>
                    </a:solidFill>
                  </a:tcPr>
                </a:tc>
                <a:tc>
                  <a:txBody>
                    <a:bodyPr/>
                    <a:lstStyle/>
                    <a:p>
                      <a:r>
                        <a:rPr sz="1200">
                          <a:solidFill>
                            <a:srgbClr val="1A1A2E"/>
                          </a:solidFill>
                          <a:latin typeface="Calibri"/>
                        </a:rPr>
                        <a:t>Bedrock / Vertex managed inference</a:t>
                      </a:r>
                    </a:p>
                  </a:txBody>
                  <a:tcPr>
                    <a:solidFill>
                      <a:srgbClr val="FFFFFF"/>
                    </a:solidFill>
                  </a:tcPr>
                </a:tc>
                <a:tc>
                  <a:txBody>
                    <a:bodyPr/>
                    <a:lstStyle/>
                    <a:p>
                      <a:r>
                        <a:rPr sz="1200">
                          <a:solidFill>
                            <a:srgbClr val="1A1A2E"/>
                          </a:solidFill>
                          <a:latin typeface="Calibri"/>
                        </a:rPr>
                        <a:t>Data residency and security; no self-run GPUs; OT data stays on-prem</a:t>
                      </a:r>
                    </a:p>
                  </a:txBody>
                  <a:tcPr>
                    <a:solidFill>
                      <a:srgbClr val="FFFFFF"/>
                    </a:solidFill>
                  </a:tcPr>
                </a:tc>
              </a:tr>
              <a:tr h="603504">
                <a:tc>
                  <a:txBody>
                    <a:bodyPr/>
                    <a:lstStyle/>
                    <a:p>
                      <a:r>
                        <a:rPr sz="1200">
                          <a:solidFill>
                            <a:srgbClr val="1A1A2E"/>
                          </a:solidFill>
                          <a:latin typeface="Calibri"/>
                        </a:rPr>
                        <a:t>Platform</a:t>
                      </a:r>
                    </a:p>
                  </a:txBody>
                  <a:tcPr>
                    <a:solidFill>
                      <a:srgbClr val="F2F4F8"/>
                    </a:solidFill>
                  </a:tcPr>
                </a:tc>
                <a:tc>
                  <a:txBody>
                    <a:bodyPr/>
                    <a:lstStyle/>
                    <a:p>
                      <a:r>
                        <a:rPr sz="1200">
                          <a:solidFill>
                            <a:srgbClr val="1A1A2E"/>
                          </a:solidFill>
                          <a:latin typeface="Calibri"/>
                        </a:rPr>
                        <a:t>Python with LangGraph / LangChain (or Helix no-code)</a:t>
                      </a:r>
                    </a:p>
                  </a:txBody>
                  <a:tcPr>
                    <a:solidFill>
                      <a:srgbClr val="F2F4F8"/>
                    </a:solidFill>
                  </a:tcPr>
                </a:tc>
                <a:tc>
                  <a:txBody>
                    <a:bodyPr/>
                    <a:lstStyle/>
                    <a:p>
                      <a:r>
                        <a:rPr sz="1200">
                          <a:solidFill>
                            <a:srgbClr val="1A1A2E"/>
                          </a:solidFill>
                          <a:latin typeface="Calibri"/>
                        </a:rPr>
                        <a:t>Richest agent ecosystem; MVP is pure Python and runs offline</a:t>
                      </a:r>
                    </a:p>
                  </a:txBody>
                  <a:tcPr>
                    <a:solidFill>
                      <a:srgbClr val="F2F4F8"/>
                    </a:solidFill>
                  </a:tcPr>
                </a:tc>
              </a:tr>
              <a:tr h="603504">
                <a:tc>
                  <a:txBody>
                    <a:bodyPr/>
                    <a:lstStyle/>
                    <a:p>
                      <a:r>
                        <a:rPr sz="1200">
                          <a:solidFill>
                            <a:srgbClr val="1A1A2E"/>
                          </a:solidFill>
                          <a:latin typeface="Calibri"/>
                        </a:rPr>
                        <a:t>Standards</a:t>
                      </a:r>
                    </a:p>
                  </a:txBody>
                  <a:tcPr>
                    <a:solidFill>
                      <a:srgbClr val="FFFFFF"/>
                    </a:solidFill>
                  </a:tcPr>
                </a:tc>
                <a:tc>
                  <a:txBody>
                    <a:bodyPr/>
                    <a:lstStyle/>
                    <a:p>
                      <a:r>
                        <a:rPr sz="1200">
                          <a:solidFill>
                            <a:srgbClr val="1A1A2E"/>
                          </a:solidFill>
                          <a:latin typeface="Calibri"/>
                        </a:rPr>
                        <a:t>MCP for tools, A2A for agents, Langfuse for tracing</a:t>
                      </a:r>
                    </a:p>
                  </a:txBody>
                  <a:tcPr>
                    <a:solidFill>
                      <a:srgbClr val="FFFFFF"/>
                    </a:solidFill>
                  </a:tcPr>
                </a:tc>
                <a:tc>
                  <a:txBody>
                    <a:bodyPr/>
                    <a:lstStyle/>
                    <a:p>
                      <a:r>
                        <a:rPr sz="1200">
                          <a:solidFill>
                            <a:srgbClr val="1A1A2E"/>
                          </a:solidFill>
                          <a:latin typeface="Calibri"/>
                        </a:rPr>
                        <a:t>Keeps integrations linear and every decision auditable</a:t>
                      </a:r>
                    </a:p>
                  </a:txBody>
                  <a:tcPr>
                    <a:solidFill>
                      <a:srgbClr val="FFFFFF"/>
                    </a:solidFill>
                  </a:tcPr>
                </a:tc>
              </a:tr>
            </a:tbl>
          </a:graphicData>
        </a:graphic>
      </p:graphicFrame>
      <p:sp>
        <p:nvSpPr>
          <p:cNvPr id="7" name="Rectangle 6"/>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Architecture (10 pts) + Feasibility (15 pts)</a:t>
            </a:r>
            <a:r>
              <a:rPr sz="1100" b="1">
                <a:solidFill>
                  <a:srgbClr val="0A1F6B"/>
                </a:solidFill>
                <a:latin typeface="Calibri"/>
              </a:rPr>
              <a:t>     |     Handout / docs: </a:t>
            </a:r>
            <a:r>
              <a:rPr sz="1100" b="0">
                <a:solidFill>
                  <a:srgbClr val="555555"/>
                </a:solidFill>
                <a:latin typeface="Calibri"/>
              </a:rPr>
              <a:t>Handout 8 | docs/02 sec 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92608"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37744"/>
            <a:ext cx="10972800" cy="365760"/>
          </a:xfrm>
          <a:prstGeom prst="rect">
            <a:avLst/>
          </a:prstGeom>
          <a:noFill/>
        </p:spPr>
        <p:txBody>
          <a:bodyPr wrap="square" anchor="t">
            <a:spAutoFit/>
          </a:bodyPr>
          <a:lstStyle/>
          <a:p>
            <a:pPr algn="l">
              <a:lnSpc>
                <a:spcPct val="105000"/>
              </a:lnSpc>
              <a:spcAft>
                <a:spcPts val="600"/>
              </a:spcAft>
            </a:pPr>
            <a:r>
              <a:rPr sz="1300" b="1">
                <a:solidFill>
                  <a:srgbClr val="555555"/>
                </a:solidFill>
                <a:latin typeface="Calibri"/>
              </a:rPr>
              <a:t>BENEFITS &amp; NEXT STEPS</a:t>
            </a:r>
          </a:p>
        </p:txBody>
      </p:sp>
      <p:sp>
        <p:nvSpPr>
          <p:cNvPr id="4" name="TextBox 3"/>
          <p:cNvSpPr txBox="1"/>
          <p:nvPr/>
        </p:nvSpPr>
        <p:spPr>
          <a:xfrm>
            <a:off x="502920" y="530352"/>
            <a:ext cx="11247120" cy="822960"/>
          </a:xfrm>
          <a:prstGeom prst="rect">
            <a:avLst/>
          </a:prstGeom>
          <a:noFill/>
        </p:spPr>
        <p:txBody>
          <a:bodyPr wrap="square" anchor="t">
            <a:spAutoFit/>
          </a:bodyPr>
          <a:lstStyle/>
          <a:p>
            <a:pPr algn="l">
              <a:lnSpc>
                <a:spcPct val="105000"/>
              </a:lnSpc>
              <a:spcAft>
                <a:spcPts val="600"/>
              </a:spcAft>
            </a:pPr>
            <a:r>
              <a:rPr sz="2700" b="1">
                <a:solidFill>
                  <a:srgbClr val="0A1F6B"/>
                </a:solidFill>
                <a:latin typeface="Calibri"/>
              </a:rPr>
              <a:t>11. Benefits, desired outcomes and next steps</a:t>
            </a:r>
          </a:p>
        </p:txBody>
      </p:sp>
      <p:sp>
        <p:nvSpPr>
          <p:cNvPr id="5" name="Rectangle 4"/>
          <p:cNvSpPr/>
          <p:nvPr/>
        </p:nvSpPr>
        <p:spPr>
          <a:xfrm>
            <a:off x="548640" y="1243584"/>
            <a:ext cx="201168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11064240" cy="411480"/>
          </a:xfrm>
          <a:prstGeom prst="rect">
            <a:avLst/>
          </a:prstGeom>
          <a:noFill/>
        </p:spPr>
        <p:txBody>
          <a:bodyPr wrap="square" anchor="t">
            <a:spAutoFit/>
          </a:bodyPr>
          <a:lstStyle/>
          <a:p>
            <a:pPr algn="l">
              <a:lnSpc>
                <a:spcPct val="105000"/>
              </a:lnSpc>
              <a:spcAft>
                <a:spcPts val="600"/>
              </a:spcAft>
            </a:pPr>
            <a:r>
              <a:rPr sz="1500" b="1">
                <a:solidFill>
                  <a:srgbClr val="0A1F6B"/>
                </a:solidFill>
                <a:latin typeface="Calibri"/>
              </a:rPr>
              <a:t>Desired outcomes:</a:t>
            </a:r>
          </a:p>
        </p:txBody>
      </p:sp>
      <p:sp>
        <p:nvSpPr>
          <p:cNvPr id="7" name="TextBox 6"/>
          <p:cNvSpPr txBox="1"/>
          <p:nvPr/>
        </p:nvSpPr>
        <p:spPr>
          <a:xfrm>
            <a:off x="548640" y="1828800"/>
            <a:ext cx="11064240" cy="1463040"/>
          </a:xfrm>
          <a:prstGeom prst="rect">
            <a:avLst/>
          </a:prstGeom>
          <a:noFill/>
        </p:spPr>
        <p:txBody>
          <a:bodyPr wrap="square" anchor="t">
            <a:spAutoFit/>
          </a:bodyPr>
          <a:lstStyle/>
          <a:p>
            <a:pPr algn="l">
              <a:lnSpc>
                <a:spcPct val="108000"/>
              </a:lnSpc>
              <a:spcAft>
                <a:spcPts val="700"/>
              </a:spcAft>
            </a:pPr>
            <a:r>
              <a:rPr sz="1500" b="1">
                <a:solidFill>
                  <a:srgbClr val="0E7C86"/>
                </a:solidFill>
                <a:latin typeface="Calibri"/>
              </a:rPr>
              <a:t>•  </a:t>
            </a:r>
            <a:r>
              <a:rPr sz="1500" b="0">
                <a:solidFill>
                  <a:srgbClr val="1A1A2E"/>
                </a:solidFill>
                <a:latin typeface="Calibri"/>
              </a:rPr>
              <a:t>Protect the 14 million dollar quarterly loss and cut expedited freight by about a third.</a:t>
            </a:r>
          </a:p>
          <a:p>
            <a:pPr algn="l">
              <a:lnSpc>
                <a:spcPct val="108000"/>
              </a:lnSpc>
              <a:spcAft>
                <a:spcPts val="700"/>
              </a:spcAft>
            </a:pPr>
            <a:r>
              <a:rPr sz="1500" b="1">
                <a:solidFill>
                  <a:srgbClr val="0E7C86"/>
                </a:solidFill>
                <a:latin typeface="Calibri"/>
              </a:rPr>
              <a:t>•  </a:t>
            </a:r>
            <a:r>
              <a:rPr sz="1500" b="0">
                <a:solidFill>
                  <a:srgbClr val="1A1A2E"/>
                </a:solidFill>
                <a:latin typeface="Calibri"/>
              </a:rPr>
              <a:t>Turn days of analysis into minutes, with full Tier-2/3 visibility on critical parts.</a:t>
            </a:r>
          </a:p>
        </p:txBody>
      </p:sp>
      <p:sp>
        <p:nvSpPr>
          <p:cNvPr id="8" name="TextBox 7"/>
          <p:cNvSpPr txBox="1"/>
          <p:nvPr/>
        </p:nvSpPr>
        <p:spPr>
          <a:xfrm>
            <a:off x="548640" y="3200400"/>
            <a:ext cx="11064240" cy="411480"/>
          </a:xfrm>
          <a:prstGeom prst="rect">
            <a:avLst/>
          </a:prstGeom>
          <a:noFill/>
        </p:spPr>
        <p:txBody>
          <a:bodyPr wrap="square" anchor="t">
            <a:spAutoFit/>
          </a:bodyPr>
          <a:lstStyle/>
          <a:p>
            <a:pPr algn="l">
              <a:lnSpc>
                <a:spcPct val="105000"/>
              </a:lnSpc>
              <a:spcAft>
                <a:spcPts val="600"/>
              </a:spcAft>
            </a:pPr>
            <a:r>
              <a:rPr sz="1500" b="1">
                <a:solidFill>
                  <a:srgbClr val="0A1F6B"/>
                </a:solidFill>
                <a:latin typeface="Calibri"/>
              </a:rPr>
              <a:t>Next steps:</a:t>
            </a:r>
          </a:p>
        </p:txBody>
      </p:sp>
      <p:sp>
        <p:nvSpPr>
          <p:cNvPr id="9" name="TextBox 8"/>
          <p:cNvSpPr txBox="1"/>
          <p:nvPr/>
        </p:nvSpPr>
        <p:spPr>
          <a:xfrm>
            <a:off x="548640" y="3611880"/>
            <a:ext cx="11064240" cy="2011680"/>
          </a:xfrm>
          <a:prstGeom prst="rect">
            <a:avLst/>
          </a:prstGeom>
          <a:noFill/>
        </p:spPr>
        <p:txBody>
          <a:bodyPr wrap="square" anchor="t">
            <a:spAutoFit/>
          </a:bodyPr>
          <a:lstStyle/>
          <a:p>
            <a:pPr algn="l">
              <a:lnSpc>
                <a:spcPct val="108000"/>
              </a:lnSpc>
              <a:spcAft>
                <a:spcPts val="800"/>
              </a:spcAft>
            </a:pPr>
            <a:r>
              <a:rPr sz="1450" b="1">
                <a:solidFill>
                  <a:srgbClr val="0E7C86"/>
                </a:solidFill>
                <a:latin typeface="Calibri"/>
              </a:rPr>
              <a:t>•  </a:t>
            </a:r>
            <a:r>
              <a:rPr sz="1450" b="1">
                <a:solidFill>
                  <a:srgbClr val="1A1A2E"/>
                </a:solidFill>
                <a:latin typeface="Calibri"/>
              </a:rPr>
              <a:t>Pilot: </a:t>
            </a:r>
            <a:r>
              <a:rPr sz="1450" b="0">
                <a:solidFill>
                  <a:srgbClr val="1A1A2E"/>
                </a:solidFill>
                <a:latin typeface="Calibri"/>
              </a:rPr>
              <a:t>a 3-month run on the Stuttgart line; measure stoppage hours and freight cost.</a:t>
            </a:r>
          </a:p>
          <a:p>
            <a:pPr algn="l">
              <a:lnSpc>
                <a:spcPct val="108000"/>
              </a:lnSpc>
              <a:spcAft>
                <a:spcPts val="800"/>
              </a:spcAft>
            </a:pPr>
            <a:r>
              <a:rPr sz="1450" b="1">
                <a:solidFill>
                  <a:srgbClr val="0E7C86"/>
                </a:solidFill>
                <a:latin typeface="Calibri"/>
              </a:rPr>
              <a:t>•  </a:t>
            </a:r>
            <a:r>
              <a:rPr sz="1450" b="1">
                <a:solidFill>
                  <a:srgbClr val="1A1A2E"/>
                </a:solidFill>
                <a:latin typeface="Calibri"/>
              </a:rPr>
              <a:t>Learn: </a:t>
            </a:r>
            <a:r>
              <a:rPr sz="1450" b="0">
                <a:solidFill>
                  <a:srgbClr val="1A1A2E"/>
                </a:solidFill>
                <a:latin typeface="Calibri"/>
              </a:rPr>
              <a:t>feed planner approvals and edits back to tune thresholds and supplier rankings.</a:t>
            </a:r>
          </a:p>
          <a:p>
            <a:pPr algn="l">
              <a:lnSpc>
                <a:spcPct val="108000"/>
              </a:lnSpc>
              <a:spcAft>
                <a:spcPts val="800"/>
              </a:spcAft>
            </a:pPr>
            <a:r>
              <a:rPr sz="1450" b="1">
                <a:solidFill>
                  <a:srgbClr val="0E7C86"/>
                </a:solidFill>
                <a:latin typeface="Calibri"/>
              </a:rPr>
              <a:t>•  </a:t>
            </a:r>
            <a:r>
              <a:rPr sz="1450" b="1">
                <a:solidFill>
                  <a:srgbClr val="1A1A2E"/>
                </a:solidFill>
                <a:latin typeface="Calibri"/>
              </a:rPr>
              <a:t>Scale: </a:t>
            </a:r>
            <a:r>
              <a:rPr sz="1450" b="0">
                <a:solidFill>
                  <a:srgbClr val="1A1A2E"/>
                </a:solidFill>
                <a:latin typeface="Calibri"/>
              </a:rPr>
              <a:t>extend to all 28 plants, then to the other case challenges (maintenance, quality) via the hierarchical growth path.</a:t>
            </a:r>
          </a:p>
          <a:p>
            <a:pPr algn="l">
              <a:lnSpc>
                <a:spcPct val="108000"/>
              </a:lnSpc>
              <a:spcAft>
                <a:spcPts val="800"/>
              </a:spcAft>
            </a:pPr>
            <a:r>
              <a:rPr sz="1450" b="1">
                <a:solidFill>
                  <a:srgbClr val="0E7C86"/>
                </a:solidFill>
                <a:latin typeface="Calibri"/>
              </a:rPr>
              <a:t>•  </a:t>
            </a:r>
            <a:r>
              <a:rPr sz="1450" b="1">
                <a:solidFill>
                  <a:srgbClr val="1A1A2E"/>
                </a:solidFill>
                <a:latin typeface="Calibri"/>
              </a:rPr>
              <a:t>Harden: </a:t>
            </a:r>
            <a:r>
              <a:rPr sz="1450" b="0">
                <a:solidFill>
                  <a:srgbClr val="1A1A2E"/>
                </a:solidFill>
                <a:latin typeface="Calibri"/>
              </a:rPr>
              <a:t>live ERP/TMS/news connectors and full MCP tool servers, with Langfuse tracing in production.</a:t>
            </a:r>
          </a:p>
        </p:txBody>
      </p:sp>
      <p:sp>
        <p:nvSpPr>
          <p:cNvPr id="10" name="Rectangle 9"/>
          <p:cNvSpPr/>
          <p:nvPr/>
        </p:nvSpPr>
        <p:spPr>
          <a:xfrm>
            <a:off x="548640" y="5760720"/>
            <a:ext cx="11064240" cy="594360"/>
          </a:xfrm>
          <a:prstGeom prst="rect">
            <a:avLst/>
          </a:prstGeom>
          <a:solidFill>
            <a:srgbClr val="0A1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760720"/>
            <a:ext cx="10698480" cy="594360"/>
          </a:xfrm>
          <a:prstGeom prst="rect">
            <a:avLst/>
          </a:prstGeom>
          <a:noFill/>
        </p:spPr>
        <p:txBody>
          <a:bodyPr wrap="square" anchor="ctr">
            <a:spAutoFit/>
          </a:bodyPr>
          <a:lstStyle/>
          <a:p>
            <a:pPr algn="l">
              <a:lnSpc>
                <a:spcPct val="105000"/>
              </a:lnSpc>
              <a:spcAft>
                <a:spcPts val="600"/>
              </a:spcAft>
            </a:pPr>
            <a:r>
              <a:rPr sz="1500" b="1">
                <a:solidFill>
                  <a:srgbClr val="6CB400"/>
                </a:solidFill>
                <a:latin typeface="Calibri"/>
              </a:rPr>
              <a:t>The ask: </a:t>
            </a:r>
            <a:r>
              <a:rPr sz="1500" b="0">
                <a:solidFill>
                  <a:srgbClr val="FFFFFF"/>
                </a:solidFill>
                <a:latin typeface="Calibri"/>
              </a:rPr>
              <a:t>approve a one-line, one-quarter pilot. Low cost, low risk, clearly measurable. Thank you.</a:t>
            </a:r>
          </a:p>
        </p:txBody>
      </p:sp>
      <p:sp>
        <p:nvSpPr>
          <p:cNvPr id="12" name="Rectangle 11"/>
          <p:cNvSpPr/>
          <p:nvPr/>
        </p:nvSpPr>
        <p:spPr>
          <a:xfrm>
            <a:off x="0" y="6510528"/>
            <a:ext cx="12191695" cy="347472"/>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6519672"/>
            <a:ext cx="11155680" cy="310896"/>
          </a:xfrm>
          <a:prstGeom prst="rect">
            <a:avLst/>
          </a:prstGeom>
          <a:noFill/>
        </p:spPr>
        <p:txBody>
          <a:bodyPr wrap="square" anchor="ctr">
            <a:spAutoFit/>
          </a:bodyPr>
          <a:lstStyle/>
          <a:p>
            <a:pPr algn="l">
              <a:lnSpc>
                <a:spcPct val="105000"/>
              </a:lnSpc>
              <a:spcAft>
                <a:spcPts val="600"/>
              </a:spcAft>
            </a:pPr>
            <a:r>
              <a:rPr sz="1100" b="1">
                <a:solidFill>
                  <a:srgbClr val="0A1F6B"/>
                </a:solidFill>
                <a:latin typeface="Calibri"/>
              </a:rPr>
              <a:t>Rubric: </a:t>
            </a:r>
            <a:r>
              <a:rPr sz="1100" b="0">
                <a:solidFill>
                  <a:srgbClr val="555555"/>
                </a:solidFill>
                <a:latin typeface="Calibri"/>
              </a:rPr>
              <a:t>Clarity, Presentation Quality &amp; Creativity (20 pts)</a:t>
            </a:r>
            <a:r>
              <a:rPr sz="1100" b="1">
                <a:solidFill>
                  <a:srgbClr val="0A1F6B"/>
                </a:solidFill>
                <a:latin typeface="Calibri"/>
              </a:rPr>
              <a:t>     |     Handout / docs: </a:t>
            </a:r>
            <a:r>
              <a:rPr sz="1100" b="0">
                <a:solidFill>
                  <a:srgbClr val="555555"/>
                </a:solidFill>
                <a:latin typeface="Calibri"/>
              </a:rPr>
              <a:t>Assignment: benefits + next steps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