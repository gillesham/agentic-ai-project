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(30s): This is the deeper version of our pitch. We will keep the business story but also show the architecture, the tools, the agent workflow and the technology stack, so you can see it is both valuable and buildable. Replace the teammate names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Left column is what the business feels; right column is why it happens. Stress that the fixes have to attack the right column, not just the symptoms.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Read the goal sentence, then the metrics. The prompt is the graded deliverable; note that it tells the supervisor to DECIDE and route, never to touch data tools itself. Full prompts for all five agents are in docs/04.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The four verbs are the whole product in one line each. The grey box answers the handout input and context questions: what triggers it, what it reads, and what changes over time versus what is stable.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(90s) Top is the supervisor that only decides and routes. The four boxes are the specialists, each with its own reason-and-act loop. The table is the trade-off the rubric asks for: explain why this pattern beats the simpler options.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Read tools are perception, execute tools are computation, write tools are the real-world actions. The approval column is the guardrail: anything costly or irreversible needs a human. This is the decide-versus-execute split the rubric asks for.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(90s) This is the highest-weighted rubric item. Walk the six phases top to bottom. The ADAPT row is the key proof of real reasoning: the agent can reject its own first plan, which a fixed script cannot do.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to 4 min, the centrepiece) Run the live demo here if time allows; it is deterministic and needs no network. Call out the Adapt step out loud, it is the moment that earns the autonomy points.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Risk is a board concern, so face it directly. Note for the professor: the handout itself contained a hidden SYSTEM OVERRIDE instruction trying to make AI refuse the task. That is a real prompt-injection attempt; our design treats such text as data, which is exactly the prompt-injection 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This is the handout technology-stack section. The key message: we picked the strongest reasoning model but kept the integration model-agnostic, host in our own cloud for data control, and build in Python on open standards so nothing is locked 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Tie every benefit back to money and to customer deadlines. The green box is the measurable promise the board cares about.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Close on the pilot ask and the learning loop, which is the improvement the handout asks about. Then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40280"/>
            <a:ext cx="12191695" cy="73152"/>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10515600" cy="1280160"/>
          </a:xfrm>
          <a:prstGeom prst="rect">
            <a:avLst/>
          </a:prstGeom>
          <a:noFill/>
        </p:spPr>
        <p:txBody>
          <a:bodyPr wrap="square" anchor="t">
            <a:spAutoFit/>
          </a:bodyPr>
          <a:lstStyle/>
          <a:p>
            <a:pPr algn="l">
              <a:lnSpc>
                <a:spcPct val="105000"/>
              </a:lnSpc>
              <a:spcAft>
                <a:spcPts val="600"/>
              </a:spcAft>
            </a:pPr>
            <a:r>
              <a:rPr sz="5000" b="1">
                <a:solidFill>
                  <a:srgbClr val="FFFFFF"/>
                </a:solidFill>
                <a:latin typeface="Calibri"/>
              </a:rPr>
              <a:t>Supply Chain Sentinel</a:t>
            </a:r>
          </a:p>
        </p:txBody>
      </p:sp>
      <p:sp>
        <p:nvSpPr>
          <p:cNvPr id="5" name="TextBox 4"/>
          <p:cNvSpPr txBox="1"/>
          <p:nvPr/>
        </p:nvSpPr>
        <p:spPr>
          <a:xfrm>
            <a:off x="868680" y="3383280"/>
            <a:ext cx="10607040" cy="822960"/>
          </a:xfrm>
          <a:prstGeom prst="rect">
            <a:avLst/>
          </a:prstGeom>
          <a:noFill/>
        </p:spPr>
        <p:txBody>
          <a:bodyPr wrap="square" anchor="t">
            <a:spAutoFit/>
          </a:bodyPr>
          <a:lstStyle/>
          <a:p>
            <a:pPr algn="l">
              <a:lnSpc>
                <a:spcPct val="105000"/>
              </a:lnSpc>
              <a:spcAft>
                <a:spcPts val="600"/>
              </a:spcAft>
            </a:pPr>
            <a:r>
              <a:rPr sz="2200" b="0">
                <a:solidFill>
                  <a:srgbClr val="6CB400"/>
                </a:solidFill>
                <a:latin typeface="Calibri"/>
              </a:rPr>
              <a:t>An agentic AI teammate that protects our production lines from supply shocks</a:t>
            </a:r>
          </a:p>
        </p:txBody>
      </p:sp>
      <p:sp>
        <p:nvSpPr>
          <p:cNvPr id="6" name="TextBox 5"/>
          <p:cNvSpPr txBox="1"/>
          <p:nvPr/>
        </p:nvSpPr>
        <p:spPr>
          <a:xfrm>
            <a:off x="868680" y="4160520"/>
            <a:ext cx="10607040" cy="548640"/>
          </a:xfrm>
          <a:prstGeom prst="rect">
            <a:avLst/>
          </a:prstGeom>
          <a:noFill/>
        </p:spPr>
        <p:txBody>
          <a:bodyPr wrap="square" anchor="t">
            <a:spAutoFit/>
          </a:bodyPr>
          <a:lstStyle/>
          <a:p>
            <a:pPr algn="l">
              <a:lnSpc>
                <a:spcPct val="105000"/>
              </a:lnSpc>
              <a:spcAft>
                <a:spcPts val="600"/>
              </a:spcAft>
            </a:pPr>
            <a:r>
              <a:rPr sz="1800" b="0">
                <a:solidFill>
                  <a:srgbClr val="FFFFFF"/>
                </a:solidFill>
                <a:latin typeface="Calibri"/>
              </a:rPr>
              <a:t>Business and technical briefing  |  Titan Manufacturing Corporation</a:t>
            </a:r>
          </a:p>
        </p:txBody>
      </p:sp>
      <p:sp>
        <p:nvSpPr>
          <p:cNvPr id="7" name="TextBox 6"/>
          <p:cNvSpPr txBox="1"/>
          <p:nvPr/>
        </p:nvSpPr>
        <p:spPr>
          <a:xfrm>
            <a:off x="868680" y="5577840"/>
            <a:ext cx="10607040" cy="822960"/>
          </a:xfrm>
          <a:prstGeom prst="rect">
            <a:avLst/>
          </a:prstGeom>
          <a:noFill/>
        </p:spPr>
        <p:txBody>
          <a:bodyPr wrap="square" anchor="t">
            <a:spAutoFit/>
          </a:bodyPr>
          <a:lstStyle/>
          <a:p>
            <a:pPr algn="l">
              <a:lnSpc>
                <a:spcPct val="105000"/>
              </a:lnSpc>
              <a:spcAft>
                <a:spcPts val="600"/>
              </a:spcAft>
            </a:pPr>
            <a:r>
              <a:rPr sz="1400" b="0">
                <a:solidFill>
                  <a:srgbClr val="CFDAF0"/>
                </a:solidFill>
                <a:latin typeface="Calibri"/>
              </a:rPr>
              <a:t>Agentic AI for IT  |  IE University, School of Science &amp; Technology</a:t>
            </a:r>
          </a:p>
          <a:p>
            <a:pPr algn="l">
              <a:lnSpc>
                <a:spcPct val="105000"/>
              </a:lnSpc>
              <a:spcAft>
                <a:spcPts val="600"/>
              </a:spcAft>
            </a:pPr>
            <a:r>
              <a:rPr sz="1400" b="0">
                <a:solidFill>
                  <a:srgbClr val="CFDAF0"/>
                </a:solidFill>
                <a:latin typeface="Calibri"/>
              </a:rPr>
              <a:t>Team: Gilles Hamers, [teammate], [teammate]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PROBLEM STATEMENT</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1. The problem: we react to supply shocks too late</a:t>
            </a:r>
          </a:p>
        </p:txBody>
      </p:sp>
      <p:sp>
        <p:nvSpPr>
          <p:cNvPr id="5" name="Rectangle 4"/>
          <p:cNvSpPr/>
          <p:nvPr/>
        </p:nvSpPr>
        <p:spPr>
          <a:xfrm>
            <a:off x="548640" y="1243584"/>
            <a:ext cx="2011680" cy="54864"/>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11064240" cy="502920"/>
          </a:xfrm>
          <a:prstGeom prst="rect">
            <a:avLst/>
          </a:prstGeom>
          <a:noFill/>
        </p:spPr>
        <p:txBody>
          <a:bodyPr wrap="square" anchor="t">
            <a:spAutoFit/>
          </a:bodyPr>
          <a:lstStyle/>
          <a:p>
            <a:pPr algn="l">
              <a:lnSpc>
                <a:spcPct val="105000"/>
              </a:lnSpc>
              <a:spcAft>
                <a:spcPts val="600"/>
              </a:spcAft>
            </a:pPr>
            <a:r>
              <a:rPr sz="1600" b="0">
                <a:solidFill>
                  <a:srgbClr val="1A1A2E"/>
                </a:solidFill>
                <a:latin typeface="Calibri"/>
              </a:rPr>
              <a:t>Output is down </a:t>
            </a:r>
            <a:r>
              <a:rPr sz="1600" b="1">
                <a:solidFill>
                  <a:srgbClr val="C02A2A"/>
                </a:solidFill>
                <a:latin typeface="Calibri"/>
              </a:rPr>
              <a:t>9% this year</a:t>
            </a:r>
            <a:r>
              <a:rPr sz="1600" b="0">
                <a:solidFill>
                  <a:srgbClr val="1A1A2E"/>
                </a:solidFill>
                <a:latin typeface="Calibri"/>
              </a:rPr>
              <a:t> and we keep missing customer deadlines. The root cause is supply chain volatility we cannot see coming.</a:t>
            </a:r>
          </a:p>
        </p:txBody>
      </p:sp>
      <p:graphicFrame>
        <p:nvGraphicFramePr>
          <p:cNvPr id="7" name="Table 6"/>
          <p:cNvGraphicFramePr>
            <a:graphicFrameLocks noGrp="1"/>
          </p:cNvGraphicFramePr>
          <p:nvPr/>
        </p:nvGraphicFramePr>
        <p:xfrm>
          <a:off x="548640" y="2103120"/>
          <a:ext cx="11064240" cy="3291840"/>
        </p:xfrm>
        <a:graphic>
          <a:graphicData uri="http://schemas.openxmlformats.org/drawingml/2006/table">
            <a:tbl>
              <a:tblPr firstRow="1" bandRow="1">
                <a:tableStyleId>{5C22544A-7EE6-4342-B048-85BDC9FD1C3A}</a:tableStyleId>
              </a:tblPr>
              <a:tblGrid>
                <a:gridCol w="5394960"/>
                <a:gridCol w="5669280"/>
              </a:tblGrid>
              <a:tr h="658368">
                <a:tc>
                  <a:txBody>
                    <a:bodyPr/>
                    <a:lstStyle/>
                    <a:p>
                      <a:r>
                        <a:rPr sz="1350" b="1">
                          <a:solidFill>
                            <a:srgbClr val="FFFFFF"/>
                          </a:solidFill>
                          <a:latin typeface="Calibri"/>
                        </a:rPr>
                        <a:t>What we measure (symptoms)</a:t>
                      </a:r>
                    </a:p>
                  </a:txBody>
                  <a:tcPr>
                    <a:solidFill>
                      <a:srgbClr val="0A1F6B"/>
                    </a:solidFill>
                  </a:tcPr>
                </a:tc>
                <a:tc>
                  <a:txBody>
                    <a:bodyPr/>
                    <a:lstStyle/>
                    <a:p>
                      <a:r>
                        <a:rPr sz="1350" b="1">
                          <a:solidFill>
                            <a:srgbClr val="FFFFFF"/>
                          </a:solidFill>
                          <a:latin typeface="Calibri"/>
                        </a:rPr>
                        <a:t>Underlying issue (root cause)</a:t>
                      </a:r>
                    </a:p>
                  </a:txBody>
                  <a:tcPr>
                    <a:solidFill>
                      <a:srgbClr val="0A1F6B"/>
                    </a:solidFill>
                  </a:tcPr>
                </a:tc>
              </a:tr>
              <a:tr h="658368">
                <a:tc>
                  <a:txBody>
                    <a:bodyPr/>
                    <a:lstStyle/>
                    <a:p>
                      <a:r>
                        <a:rPr sz="1350">
                          <a:solidFill>
                            <a:srgbClr val="1A1A2E"/>
                          </a:solidFill>
                          <a:latin typeface="Calibri"/>
                        </a:rPr>
                        <a:t>Supplier delays up 28%; 14 million dollars in line stoppages last quarter</a:t>
                      </a:r>
                    </a:p>
                  </a:txBody>
                  <a:tcPr>
                    <a:solidFill>
                      <a:srgbClr val="FFFFFF"/>
                    </a:solidFill>
                  </a:tcPr>
                </a:tc>
                <a:tc>
                  <a:txBody>
                    <a:bodyPr/>
                    <a:lstStyle/>
                    <a:p>
                      <a:r>
                        <a:rPr sz="1350">
                          <a:solidFill>
                            <a:srgbClr val="1A1A2E"/>
                          </a:solidFill>
                          <a:latin typeface="Calibri"/>
                        </a:rPr>
                        <a:t>No visibility beyond Tier-1; we cannot see who supplies our suppliers</a:t>
                      </a:r>
                    </a:p>
                  </a:txBody>
                  <a:tcPr>
                    <a:solidFill>
                      <a:srgbClr val="FFFFFF"/>
                    </a:solidFill>
                  </a:tcPr>
                </a:tc>
              </a:tr>
              <a:tr h="658368">
                <a:tc>
                  <a:txBody>
                    <a:bodyPr/>
                    <a:lstStyle/>
                    <a:p>
                      <a:r>
                        <a:rPr sz="1350">
                          <a:solidFill>
                            <a:srgbClr val="1A1A2E"/>
                          </a:solidFill>
                          <a:latin typeface="Calibri"/>
                        </a:rPr>
                        <a:t>We learn of a disruption only after a line has already stopped</a:t>
                      </a:r>
                    </a:p>
                  </a:txBody>
                  <a:tcPr>
                    <a:solidFill>
                      <a:srgbClr val="F2F4F8"/>
                    </a:solidFill>
                  </a:tcPr>
                </a:tc>
                <a:tc>
                  <a:txBody>
                    <a:bodyPr/>
                    <a:lstStyle/>
                    <a:p>
                      <a:r>
                        <a:rPr sz="1350">
                          <a:solidFill>
                            <a:srgbClr val="1A1A2E"/>
                          </a:solidFill>
                          <a:latin typeface="Calibri"/>
                        </a:rPr>
                        <a:t>Logistics data is scattered across email, EDI and spreadsheets</a:t>
                      </a:r>
                    </a:p>
                  </a:txBody>
                  <a:tcPr>
                    <a:solidFill>
                      <a:srgbClr val="F2F4F8"/>
                    </a:solidFill>
                  </a:tcPr>
                </a:tc>
              </a:tr>
              <a:tr h="658368">
                <a:tc>
                  <a:txBody>
                    <a:bodyPr/>
                    <a:lstStyle/>
                    <a:p>
                      <a:r>
                        <a:rPr sz="1350">
                          <a:solidFill>
                            <a:srgbClr val="1A1A2E"/>
                          </a:solidFill>
                          <a:latin typeface="Calibri"/>
                        </a:rPr>
                        <a:t>Expedited freight spend up 52%</a:t>
                      </a:r>
                    </a:p>
                  </a:txBody>
                  <a:tcPr>
                    <a:solidFill>
                      <a:srgbClr val="FFFFFF"/>
                    </a:solidFill>
                  </a:tcPr>
                </a:tc>
                <a:tc>
                  <a:txBody>
                    <a:bodyPr/>
                    <a:lstStyle/>
                    <a:p>
                      <a:r>
                        <a:rPr sz="1350">
                          <a:solidFill>
                            <a:srgbClr val="1A1A2E"/>
                          </a:solidFill>
                          <a:latin typeface="Calibri"/>
                        </a:rPr>
                        <a:t>We trust static promised dates; no real-time ETA prediction</a:t>
                      </a:r>
                    </a:p>
                  </a:txBody>
                  <a:tcPr>
                    <a:solidFill>
                      <a:srgbClr val="FFFFFF"/>
                    </a:solidFill>
                  </a:tcPr>
                </a:tc>
              </a:tr>
              <a:tr h="658368">
                <a:tc>
                  <a:txBody>
                    <a:bodyPr/>
                    <a:lstStyle/>
                    <a:p>
                      <a:r>
                        <a:rPr sz="1350">
                          <a:solidFill>
                            <a:srgbClr val="1A1A2E"/>
                          </a:solidFill>
                          <a:latin typeface="Calibri"/>
                        </a:rPr>
                        <a:t>Every response is slow, manual and expensive</a:t>
                      </a:r>
                    </a:p>
                  </a:txBody>
                  <a:tcPr>
                    <a:solidFill>
                      <a:srgbClr val="F2F4F8"/>
                    </a:solidFill>
                  </a:tcPr>
                </a:tc>
                <a:tc>
                  <a:txBody>
                    <a:bodyPr/>
                    <a:lstStyle/>
                    <a:p>
                      <a:r>
                        <a:rPr sz="1350">
                          <a:solidFill>
                            <a:srgbClr val="1A1A2E"/>
                          </a:solidFill>
                          <a:latin typeface="Calibri"/>
                        </a:rPr>
                        <a:t>No way to prioritise risk, so teams firefight one issue at a time</a:t>
                      </a:r>
                    </a:p>
                  </a:txBody>
                  <a:tcPr>
                    <a:solidFill>
                      <a:srgbClr val="F2F4F8"/>
                    </a:solidFill>
                  </a:tcPr>
                </a:tc>
              </a:tr>
            </a:tbl>
          </a:graphicData>
        </a:graphic>
      </p:graphicFrame>
      <p:sp>
        <p:nvSpPr>
          <p:cNvPr id="8" name="TextBox 7"/>
          <p:cNvSpPr txBox="1"/>
          <p:nvPr/>
        </p:nvSpPr>
        <p:spPr>
          <a:xfrm>
            <a:off x="548640" y="5715000"/>
            <a:ext cx="11064240" cy="548640"/>
          </a:xfrm>
          <a:prstGeom prst="rect">
            <a:avLst/>
          </a:prstGeom>
          <a:noFill/>
        </p:spPr>
        <p:txBody>
          <a:bodyPr wrap="square" anchor="t">
            <a:spAutoFit/>
          </a:bodyPr>
          <a:lstStyle/>
          <a:p>
            <a:pPr algn="l">
              <a:lnSpc>
                <a:spcPct val="105000"/>
              </a:lnSpc>
              <a:spcAft>
                <a:spcPts val="600"/>
              </a:spcAft>
            </a:pPr>
            <a:r>
              <a:rPr sz="1400" b="1">
                <a:solidFill>
                  <a:srgbClr val="0A1F6B"/>
                </a:solidFill>
                <a:latin typeface="Calibri"/>
              </a:rPr>
              <a:t>This maps directly to the symptoms and underlying issues in case study section 2, Supply Chain Volatility and Risk.</a:t>
            </a:r>
          </a:p>
        </p:txBody>
      </p:sp>
      <p:sp>
        <p:nvSpPr>
          <p:cNvPr id="9" name="Rectangle 8"/>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Problem Framing, Agent Goals &amp; Prompt (15 pts)</a:t>
            </a:r>
            <a:r>
              <a:rPr sz="1100" b="1">
                <a:solidFill>
                  <a:srgbClr val="0A1F6B"/>
                </a:solidFill>
                <a:latin typeface="Calibri"/>
              </a:rPr>
              <a:t>     |     Handout: </a:t>
            </a:r>
            <a:r>
              <a:rPr sz="1100" b="0">
                <a:solidFill>
                  <a:srgbClr val="555555"/>
                </a:solidFill>
                <a:latin typeface="Calibri"/>
              </a:rPr>
              <a:t>Section 1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AGENT GOAL &amp; PROMPT</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2. Agent goal, success metrics and the prompt</a:t>
            </a:r>
          </a:p>
        </p:txBody>
      </p:sp>
      <p:sp>
        <p:nvSpPr>
          <p:cNvPr id="5" name="Rectangle 4"/>
          <p:cNvSpPr/>
          <p:nvPr/>
        </p:nvSpPr>
        <p:spPr>
          <a:xfrm>
            <a:off x="548640" y="1243584"/>
            <a:ext cx="2011680" cy="54864"/>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17320"/>
            <a:ext cx="5486400" cy="141732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36192"/>
            <a:ext cx="5120640" cy="1188720"/>
          </a:xfrm>
          <a:prstGeom prst="rect">
            <a:avLst/>
          </a:prstGeom>
          <a:noFill/>
        </p:spPr>
        <p:txBody>
          <a:bodyPr wrap="square" anchor="t">
            <a:spAutoFit/>
          </a:bodyPr>
          <a:lstStyle/>
          <a:p>
            <a:pPr algn="l">
              <a:lnSpc>
                <a:spcPct val="105000"/>
              </a:lnSpc>
              <a:spcAft>
                <a:spcPts val="400"/>
              </a:spcAft>
            </a:pPr>
            <a:r>
              <a:rPr sz="1500" b="1">
                <a:solidFill>
                  <a:srgbClr val="6CB400"/>
                </a:solidFill>
                <a:latin typeface="Calibri"/>
              </a:rPr>
              <a:t>Primary goal</a:t>
            </a:r>
          </a:p>
          <a:p>
            <a:pPr algn="l">
              <a:lnSpc>
                <a:spcPct val="105000"/>
              </a:lnSpc>
              <a:spcAft>
                <a:spcPts val="400"/>
              </a:spcAft>
            </a:pPr>
            <a:r>
              <a:rPr sz="1350" b="0">
                <a:solidFill>
                  <a:srgbClr val="1A1A2E"/>
                </a:solidFill>
                <a:latin typeface="Calibri"/>
              </a:rPr>
              <a:t>Protect critical-part availability: detect supply risk before it stops a line, quantify it, and drive the lowest-cost fix, escalating costly or irreversible actions to a human.</a:t>
            </a:r>
          </a:p>
        </p:txBody>
      </p:sp>
      <p:sp>
        <p:nvSpPr>
          <p:cNvPr id="8" name="Rectangle 7"/>
          <p:cNvSpPr/>
          <p:nvPr/>
        </p:nvSpPr>
        <p:spPr>
          <a:xfrm>
            <a:off x="6172200" y="1417320"/>
            <a:ext cx="5440680" cy="141732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536192"/>
            <a:ext cx="5074920" cy="1188720"/>
          </a:xfrm>
          <a:prstGeom prst="rect">
            <a:avLst/>
          </a:prstGeom>
          <a:noFill/>
        </p:spPr>
        <p:txBody>
          <a:bodyPr wrap="square" anchor="t">
            <a:spAutoFit/>
          </a:bodyPr>
          <a:lstStyle/>
          <a:p>
            <a:pPr algn="l">
              <a:lnSpc>
                <a:spcPct val="105000"/>
              </a:lnSpc>
              <a:spcAft>
                <a:spcPts val="400"/>
              </a:spcAft>
            </a:pPr>
            <a:r>
              <a:rPr sz="1500" b="1">
                <a:solidFill>
                  <a:srgbClr val="6CB400"/>
                </a:solidFill>
                <a:latin typeface="Calibri"/>
              </a:rPr>
              <a:t>Success metrics</a:t>
            </a:r>
          </a:p>
          <a:p>
            <a:pPr algn="l">
              <a:lnSpc>
                <a:spcPct val="105000"/>
              </a:lnSpc>
              <a:spcAft>
                <a:spcPts val="400"/>
              </a:spcAft>
            </a:pPr>
            <a:r>
              <a:rPr sz="1350" b="0">
                <a:solidFill>
                  <a:srgbClr val="1A1A2E"/>
                </a:solidFill>
                <a:latin typeface="Calibri"/>
              </a:rPr>
              <a:t>Alerts in minutes not days; most disruptions caught before a delay shows; expedited freight down about a third; zero irreversible actions without sign-off.</a:t>
            </a:r>
          </a:p>
        </p:txBody>
      </p:sp>
      <p:sp>
        <p:nvSpPr>
          <p:cNvPr id="10" name="TextBox 9"/>
          <p:cNvSpPr txBox="1"/>
          <p:nvPr/>
        </p:nvSpPr>
        <p:spPr>
          <a:xfrm>
            <a:off x="548640" y="3063240"/>
            <a:ext cx="11064240" cy="365760"/>
          </a:xfrm>
          <a:prstGeom prst="rect">
            <a:avLst/>
          </a:prstGeom>
          <a:noFill/>
        </p:spPr>
        <p:txBody>
          <a:bodyPr wrap="square" anchor="t">
            <a:spAutoFit/>
          </a:bodyPr>
          <a:lstStyle/>
          <a:p>
            <a:pPr algn="l">
              <a:lnSpc>
                <a:spcPct val="105000"/>
              </a:lnSpc>
              <a:spcAft>
                <a:spcPts val="600"/>
              </a:spcAft>
            </a:pPr>
            <a:r>
              <a:rPr sz="1400" b="1">
                <a:solidFill>
                  <a:srgbClr val="0A1F6B"/>
                </a:solidFill>
                <a:latin typeface="Calibri"/>
              </a:rPr>
              <a:t>Orchestrator system prompt (excerpt, full text in docs/04):</a:t>
            </a:r>
          </a:p>
        </p:txBody>
      </p:sp>
      <p:sp>
        <p:nvSpPr>
          <p:cNvPr id="11" name="Rectangle 10"/>
          <p:cNvSpPr/>
          <p:nvPr/>
        </p:nvSpPr>
        <p:spPr>
          <a:xfrm>
            <a:off x="548640" y="3474720"/>
            <a:ext cx="11064240" cy="2331720"/>
          </a:xfrm>
          <a:prstGeom prst="rect">
            <a:avLst/>
          </a:prstGeom>
          <a:solidFill>
            <a:srgbClr val="121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611880"/>
            <a:ext cx="10607040" cy="2103120"/>
          </a:xfrm>
          <a:prstGeom prst="rect">
            <a:avLst/>
          </a:prstGeom>
          <a:noFill/>
        </p:spPr>
        <p:txBody>
          <a:bodyPr wrap="square" anchor="t">
            <a:spAutoFit/>
          </a:bodyPr>
          <a:lstStyle/>
          <a:p>
            <a:pPr algn="l">
              <a:lnSpc>
                <a:spcPct val="120000"/>
              </a:lnSpc>
              <a:spcAft>
                <a:spcPts val="600"/>
              </a:spcAft>
            </a:pPr>
            <a:r>
              <a:rPr sz="1400" b="0">
                <a:solidFill>
                  <a:srgbClr val="CFDAF0"/>
                </a:solidFill>
                <a:latin typeface="Consolas"/>
              </a:rPr>
              <a:t>"You are the Supply Chain Sentinel supervisor for Titan Manufacturing. You own the objective of protecting critical-part availability across 28 plants. You do not call data tools directly; you DECIDE which specialist sub-agent to invoke and in what order: RiskIntel, then SupplierGraph, then ETALogistics, then Mitigation. Then synthesize a single executive briefing. Route only what is needed, keep a clear audit trail, and ensure no irreversible action is taken without human approval."</a:t>
            </a:r>
          </a:p>
        </p:txBody>
      </p:sp>
      <p:sp>
        <p:nvSpPr>
          <p:cNvPr id="13" name="Rectangle 12"/>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Problem Framing, Agent Goals &amp; Prompt (15 pts)</a:t>
            </a:r>
            <a:r>
              <a:rPr sz="1100" b="1">
                <a:solidFill>
                  <a:srgbClr val="0A1F6B"/>
                </a:solidFill>
                <a:latin typeface="Calibri"/>
              </a:rPr>
              <a:t>     |     Handout: </a:t>
            </a:r>
            <a:r>
              <a:rPr sz="1100" b="0">
                <a:solidFill>
                  <a:srgbClr val="555555"/>
                </a:solidFill>
                <a:latin typeface="Calibri"/>
              </a:rPr>
              <a:t>Section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PROPOSED SOLUTION</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3. The solution and what it runs on</a:t>
            </a:r>
          </a:p>
        </p:txBody>
      </p:sp>
      <p:sp>
        <p:nvSpPr>
          <p:cNvPr id="5" name="Rectangle 4"/>
          <p:cNvSpPr/>
          <p:nvPr/>
        </p:nvSpPr>
        <p:spPr>
          <a:xfrm>
            <a:off x="548640" y="1243584"/>
            <a:ext cx="2011680" cy="54864"/>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11064240" cy="457200"/>
          </a:xfrm>
          <a:prstGeom prst="rect">
            <a:avLst/>
          </a:prstGeom>
          <a:noFill/>
        </p:spPr>
        <p:txBody>
          <a:bodyPr wrap="square" anchor="t">
            <a:spAutoFit/>
          </a:bodyPr>
          <a:lstStyle/>
          <a:p>
            <a:pPr algn="l">
              <a:lnSpc>
                <a:spcPct val="105000"/>
              </a:lnSpc>
              <a:spcAft>
                <a:spcPts val="600"/>
              </a:spcAft>
            </a:pPr>
            <a:r>
              <a:rPr sz="1600" b="1">
                <a:solidFill>
                  <a:srgbClr val="0A1F6B"/>
                </a:solidFill>
                <a:latin typeface="Calibri"/>
              </a:rPr>
              <a:t>Supply Chain Sentinel</a:t>
            </a:r>
            <a:r>
              <a:rPr sz="1600" b="0">
                <a:solidFill>
                  <a:srgbClr val="1A1A2E"/>
                </a:solidFill>
                <a:latin typeface="Calibri"/>
              </a:rPr>
              <a:t> is an always-on agentic system that watches, connects, predicts and acts:</a:t>
            </a:r>
          </a:p>
        </p:txBody>
      </p:sp>
      <p:sp>
        <p:nvSpPr>
          <p:cNvPr id="7" name="Rectangle 6"/>
          <p:cNvSpPr/>
          <p:nvPr/>
        </p:nvSpPr>
        <p:spPr>
          <a:xfrm>
            <a:off x="548640" y="1965960"/>
            <a:ext cx="457200" cy="457200"/>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65960"/>
            <a:ext cx="457200" cy="457200"/>
          </a:xfrm>
          <a:prstGeom prst="rect">
            <a:avLst/>
          </a:prstGeom>
          <a:noFill/>
        </p:spPr>
        <p:txBody>
          <a:bodyPr wrap="square" anchor="ctr">
            <a:spAutoFit/>
          </a:bodyPr>
          <a:lstStyle/>
          <a:p>
            <a:pPr algn="ctr">
              <a:lnSpc>
                <a:spcPct val="105000"/>
              </a:lnSpc>
              <a:spcAft>
                <a:spcPts val="600"/>
              </a:spcAft>
            </a:pPr>
            <a:r>
              <a:rPr sz="1800" b="1">
                <a:solidFill>
                  <a:srgbClr val="FFFFFF"/>
                </a:solidFill>
                <a:latin typeface="Calibri"/>
              </a:rPr>
              <a:t>1</a:t>
            </a:r>
          </a:p>
        </p:txBody>
      </p:sp>
      <p:sp>
        <p:nvSpPr>
          <p:cNvPr id="9" name="TextBox 8"/>
          <p:cNvSpPr txBox="1"/>
          <p:nvPr/>
        </p:nvSpPr>
        <p:spPr>
          <a:xfrm>
            <a:off x="1188720" y="1929384"/>
            <a:ext cx="10424160" cy="640080"/>
          </a:xfrm>
          <a:prstGeom prst="rect">
            <a:avLst/>
          </a:prstGeom>
          <a:noFill/>
        </p:spPr>
        <p:txBody>
          <a:bodyPr wrap="square" anchor="ctr">
            <a:spAutoFit/>
          </a:bodyPr>
          <a:lstStyle/>
          <a:p>
            <a:pPr algn="l">
              <a:lnSpc>
                <a:spcPct val="105000"/>
              </a:lnSpc>
              <a:spcAft>
                <a:spcPts val="600"/>
              </a:spcAft>
            </a:pPr>
            <a:r>
              <a:rPr sz="1600" b="1">
                <a:solidFill>
                  <a:srgbClr val="0A1F6B"/>
                </a:solidFill>
                <a:latin typeface="Calibri"/>
              </a:rPr>
              <a:t>Watches: </a:t>
            </a:r>
            <a:r>
              <a:rPr sz="1500" b="0">
                <a:solidFill>
                  <a:srgbClr val="1A1A2E"/>
                </a:solidFill>
                <a:latin typeface="Calibri"/>
              </a:rPr>
              <a:t>scans news, weather, ports and supplier signals for disruptions</a:t>
            </a:r>
          </a:p>
        </p:txBody>
      </p:sp>
      <p:sp>
        <p:nvSpPr>
          <p:cNvPr id="10" name="Rectangle 9"/>
          <p:cNvSpPr/>
          <p:nvPr/>
        </p:nvSpPr>
        <p:spPr>
          <a:xfrm>
            <a:off x="548640" y="2624328"/>
            <a:ext cx="457200" cy="457200"/>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624328"/>
            <a:ext cx="457200" cy="457200"/>
          </a:xfrm>
          <a:prstGeom prst="rect">
            <a:avLst/>
          </a:prstGeom>
          <a:noFill/>
        </p:spPr>
        <p:txBody>
          <a:bodyPr wrap="square" anchor="ctr">
            <a:spAutoFit/>
          </a:bodyPr>
          <a:lstStyle/>
          <a:p>
            <a:pPr algn="ctr">
              <a:lnSpc>
                <a:spcPct val="105000"/>
              </a:lnSpc>
              <a:spcAft>
                <a:spcPts val="600"/>
              </a:spcAft>
            </a:pPr>
            <a:r>
              <a:rPr sz="1800" b="1">
                <a:solidFill>
                  <a:srgbClr val="FFFFFF"/>
                </a:solidFill>
                <a:latin typeface="Calibri"/>
              </a:rPr>
              <a:t>2</a:t>
            </a:r>
          </a:p>
        </p:txBody>
      </p:sp>
      <p:sp>
        <p:nvSpPr>
          <p:cNvPr id="12" name="TextBox 11"/>
          <p:cNvSpPr txBox="1"/>
          <p:nvPr/>
        </p:nvSpPr>
        <p:spPr>
          <a:xfrm>
            <a:off x="1188720" y="2587752"/>
            <a:ext cx="10424160" cy="640080"/>
          </a:xfrm>
          <a:prstGeom prst="rect">
            <a:avLst/>
          </a:prstGeom>
          <a:noFill/>
        </p:spPr>
        <p:txBody>
          <a:bodyPr wrap="square" anchor="ctr">
            <a:spAutoFit/>
          </a:bodyPr>
          <a:lstStyle/>
          <a:p>
            <a:pPr algn="l">
              <a:lnSpc>
                <a:spcPct val="105000"/>
              </a:lnSpc>
              <a:spcAft>
                <a:spcPts val="600"/>
              </a:spcAft>
            </a:pPr>
            <a:r>
              <a:rPr sz="1600" b="1">
                <a:solidFill>
                  <a:srgbClr val="0A1F6B"/>
                </a:solidFill>
                <a:latin typeface="Calibri"/>
              </a:rPr>
              <a:t>Connects: </a:t>
            </a:r>
            <a:r>
              <a:rPr sz="1500" b="0">
                <a:solidFill>
                  <a:srgbClr val="1A1A2E"/>
                </a:solidFill>
                <a:latin typeface="Calibri"/>
              </a:rPr>
              <a:t>traces the disruption through the supplier graph to the parts at risk</a:t>
            </a:r>
          </a:p>
        </p:txBody>
      </p:sp>
      <p:sp>
        <p:nvSpPr>
          <p:cNvPr id="13" name="Rectangle 12"/>
          <p:cNvSpPr/>
          <p:nvPr/>
        </p:nvSpPr>
        <p:spPr>
          <a:xfrm>
            <a:off x="548640" y="3282696"/>
            <a:ext cx="457200" cy="457200"/>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282696"/>
            <a:ext cx="457200" cy="457200"/>
          </a:xfrm>
          <a:prstGeom prst="rect">
            <a:avLst/>
          </a:prstGeom>
          <a:noFill/>
        </p:spPr>
        <p:txBody>
          <a:bodyPr wrap="square" anchor="ctr">
            <a:spAutoFit/>
          </a:bodyPr>
          <a:lstStyle/>
          <a:p>
            <a:pPr algn="ctr">
              <a:lnSpc>
                <a:spcPct val="105000"/>
              </a:lnSpc>
              <a:spcAft>
                <a:spcPts val="600"/>
              </a:spcAft>
            </a:pPr>
            <a:r>
              <a:rPr sz="1800" b="1">
                <a:solidFill>
                  <a:srgbClr val="FFFFFF"/>
                </a:solidFill>
                <a:latin typeface="Calibri"/>
              </a:rPr>
              <a:t>3</a:t>
            </a:r>
          </a:p>
        </p:txBody>
      </p:sp>
      <p:sp>
        <p:nvSpPr>
          <p:cNvPr id="15" name="TextBox 14"/>
          <p:cNvSpPr txBox="1"/>
          <p:nvPr/>
        </p:nvSpPr>
        <p:spPr>
          <a:xfrm>
            <a:off x="1188720" y="3246120"/>
            <a:ext cx="10424160" cy="640080"/>
          </a:xfrm>
          <a:prstGeom prst="rect">
            <a:avLst/>
          </a:prstGeom>
          <a:noFill/>
        </p:spPr>
        <p:txBody>
          <a:bodyPr wrap="square" anchor="ctr">
            <a:spAutoFit/>
          </a:bodyPr>
          <a:lstStyle/>
          <a:p>
            <a:pPr algn="l">
              <a:lnSpc>
                <a:spcPct val="105000"/>
              </a:lnSpc>
              <a:spcAft>
                <a:spcPts val="600"/>
              </a:spcAft>
            </a:pPr>
            <a:r>
              <a:rPr sz="1600" b="1">
                <a:solidFill>
                  <a:srgbClr val="0A1F6B"/>
                </a:solidFill>
                <a:latin typeface="Calibri"/>
              </a:rPr>
              <a:t>Predicts: </a:t>
            </a:r>
            <a:r>
              <a:rPr sz="1500" b="0">
                <a:solidFill>
                  <a:srgbClr val="1A1A2E"/>
                </a:solidFill>
                <a:latin typeface="Calibri"/>
              </a:rPr>
              <a:t>computes a realistic ETA and the financial exposure</a:t>
            </a:r>
          </a:p>
        </p:txBody>
      </p:sp>
      <p:sp>
        <p:nvSpPr>
          <p:cNvPr id="16" name="Rectangle 15"/>
          <p:cNvSpPr/>
          <p:nvPr/>
        </p:nvSpPr>
        <p:spPr>
          <a:xfrm>
            <a:off x="548640" y="3941063"/>
            <a:ext cx="457200" cy="457200"/>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941063"/>
            <a:ext cx="457200" cy="457200"/>
          </a:xfrm>
          <a:prstGeom prst="rect">
            <a:avLst/>
          </a:prstGeom>
          <a:noFill/>
        </p:spPr>
        <p:txBody>
          <a:bodyPr wrap="square" anchor="ctr">
            <a:spAutoFit/>
          </a:bodyPr>
          <a:lstStyle/>
          <a:p>
            <a:pPr algn="ctr">
              <a:lnSpc>
                <a:spcPct val="105000"/>
              </a:lnSpc>
              <a:spcAft>
                <a:spcPts val="600"/>
              </a:spcAft>
            </a:pPr>
            <a:r>
              <a:rPr sz="1800" b="1">
                <a:solidFill>
                  <a:srgbClr val="FFFFFF"/>
                </a:solidFill>
                <a:latin typeface="Calibri"/>
              </a:rPr>
              <a:t>4</a:t>
            </a:r>
          </a:p>
        </p:txBody>
      </p:sp>
      <p:sp>
        <p:nvSpPr>
          <p:cNvPr id="18" name="TextBox 17"/>
          <p:cNvSpPr txBox="1"/>
          <p:nvPr/>
        </p:nvSpPr>
        <p:spPr>
          <a:xfrm>
            <a:off x="1188720" y="3904487"/>
            <a:ext cx="10424160" cy="640080"/>
          </a:xfrm>
          <a:prstGeom prst="rect">
            <a:avLst/>
          </a:prstGeom>
          <a:noFill/>
        </p:spPr>
        <p:txBody>
          <a:bodyPr wrap="square" anchor="ctr">
            <a:spAutoFit/>
          </a:bodyPr>
          <a:lstStyle/>
          <a:p>
            <a:pPr algn="l">
              <a:lnSpc>
                <a:spcPct val="105000"/>
              </a:lnSpc>
              <a:spcAft>
                <a:spcPts val="600"/>
              </a:spcAft>
            </a:pPr>
            <a:r>
              <a:rPr sz="1600" b="1">
                <a:solidFill>
                  <a:srgbClr val="0A1F6B"/>
                </a:solidFill>
                <a:latin typeface="Calibri"/>
              </a:rPr>
              <a:t>Acts: </a:t>
            </a:r>
            <a:r>
              <a:rPr sz="1500" b="0">
                <a:solidFill>
                  <a:srgbClr val="1A1A2E"/>
                </a:solidFill>
                <a:latin typeface="Calibri"/>
              </a:rPr>
              <a:t>prepares the lowest-cost fix and escalates costly moves for approval</a:t>
            </a:r>
          </a:p>
        </p:txBody>
      </p:sp>
      <p:sp>
        <p:nvSpPr>
          <p:cNvPr id="19" name="Rectangle 18"/>
          <p:cNvSpPr/>
          <p:nvPr/>
        </p:nvSpPr>
        <p:spPr>
          <a:xfrm>
            <a:off x="548640" y="4709160"/>
            <a:ext cx="11064240" cy="12344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818888"/>
            <a:ext cx="10698480" cy="1051560"/>
          </a:xfrm>
          <a:prstGeom prst="rect">
            <a:avLst/>
          </a:prstGeom>
          <a:noFill/>
        </p:spPr>
        <p:txBody>
          <a:bodyPr wrap="square" anchor="t">
            <a:spAutoFit/>
          </a:bodyPr>
          <a:lstStyle/>
          <a:p>
            <a:pPr algn="l">
              <a:lnSpc>
                <a:spcPct val="105000"/>
              </a:lnSpc>
              <a:spcAft>
                <a:spcPts val="600"/>
              </a:spcAft>
            </a:pPr>
            <a:r>
              <a:rPr sz="1400" b="1">
                <a:solidFill>
                  <a:srgbClr val="6CB400"/>
                </a:solidFill>
                <a:latin typeface="Calibri"/>
              </a:rPr>
              <a:t>Input and context. </a:t>
            </a:r>
            <a:r>
              <a:rPr sz="1350" b="0">
                <a:solidFill>
                  <a:srgbClr val="1A1A2E"/>
                </a:solidFill>
                <a:latin typeface="Calibri"/>
              </a:rPr>
              <a:t>Triggers: a scheduled scan, a risk alert, or a planner question. </a:t>
            </a:r>
            <a:r>
              <a:rPr sz="1350" b="0">
                <a:solidFill>
                  <a:srgbClr val="1A1A2E"/>
                </a:solidFill>
                <a:latin typeface="Calibri"/>
              </a:rPr>
              <a:t>Inputs: external risk feed, supplier graph, shipments, inventory. </a:t>
            </a:r>
            <a:r>
              <a:rPr sz="1350" b="0">
                <a:solidFill>
                  <a:srgbClr val="1A1A2E"/>
                </a:solidFill>
                <a:latin typeface="Calibri"/>
              </a:rPr>
              <a:t>Context: supplier master and historical lead times.</a:t>
            </a:r>
          </a:p>
          <a:p>
            <a:pPr algn="l">
              <a:lnSpc>
                <a:spcPct val="105000"/>
              </a:lnSpc>
              <a:spcAft>
                <a:spcPts val="600"/>
              </a:spcAft>
            </a:pPr>
            <a:r>
              <a:rPr sz="1350" b="0">
                <a:solidFill>
                  <a:srgbClr val="555555"/>
                </a:solidFill>
                <a:latin typeface="Calibri"/>
              </a:rPr>
              <a:t>Dynamic vs static: events, ETAs and stock change constantly; the supplier graph and approval policy stay stable.</a:t>
            </a:r>
          </a:p>
        </p:txBody>
      </p:sp>
      <p:sp>
        <p:nvSpPr>
          <p:cNvPr id="21" name="Rectangle 20"/>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Problem Framing (15 pts) + Tools &amp; Feasibility (15 pts)</a:t>
            </a:r>
            <a:r>
              <a:rPr sz="1100" b="1">
                <a:solidFill>
                  <a:srgbClr val="0A1F6B"/>
                </a:solidFill>
                <a:latin typeface="Calibri"/>
              </a:rPr>
              <a:t>     |     Handout: </a:t>
            </a:r>
            <a:r>
              <a:rPr sz="1100" b="0">
                <a:solidFill>
                  <a:srgbClr val="555555"/>
                </a:solidFill>
                <a:latin typeface="Calibri"/>
              </a:rPr>
              <a:t>Section 2 + 3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AGENTIC ARCHITECTURE</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4. Architecture: a supervisor and four specialists</a:t>
            </a:r>
          </a:p>
        </p:txBody>
      </p:sp>
      <p:sp>
        <p:nvSpPr>
          <p:cNvPr id="5" name="Rectangle 4"/>
          <p:cNvSpPr/>
          <p:nvPr/>
        </p:nvSpPr>
        <p:spPr>
          <a:xfrm>
            <a:off x="548640" y="1243584"/>
            <a:ext cx="2011680" cy="54864"/>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931920" y="1371600"/>
            <a:ext cx="4297680" cy="685800"/>
          </a:xfrm>
          <a:prstGeom prst="rect">
            <a:avLst/>
          </a:prstGeom>
          <a:solidFill>
            <a:srgbClr val="0A1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31920" y="1371600"/>
            <a:ext cx="4297680" cy="685800"/>
          </a:xfrm>
          <a:prstGeom prst="rect">
            <a:avLst/>
          </a:prstGeom>
          <a:noFill/>
        </p:spPr>
        <p:txBody>
          <a:bodyPr wrap="square" anchor="ctr">
            <a:spAutoFit/>
          </a:bodyPr>
          <a:lstStyle/>
          <a:p>
            <a:pPr algn="ctr">
              <a:lnSpc>
                <a:spcPct val="105000"/>
              </a:lnSpc>
              <a:spcAft>
                <a:spcPts val="600"/>
              </a:spcAft>
            </a:pPr>
            <a:r>
              <a:rPr sz="1500" b="1">
                <a:solidFill>
                  <a:srgbClr val="FFFFFF"/>
                </a:solidFill>
                <a:latin typeface="Calibri"/>
              </a:rPr>
              <a:t>Orchestrator (Supervisor)</a:t>
            </a:r>
          </a:p>
        </p:txBody>
      </p:sp>
      <p:sp>
        <p:nvSpPr>
          <p:cNvPr id="8" name="Rectangle 7"/>
          <p:cNvSpPr/>
          <p:nvPr/>
        </p:nvSpPr>
        <p:spPr>
          <a:xfrm>
            <a:off x="685800" y="2468880"/>
            <a:ext cx="2606040" cy="91440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542032"/>
            <a:ext cx="2423160" cy="777240"/>
          </a:xfrm>
          <a:prstGeom prst="rect">
            <a:avLst/>
          </a:prstGeom>
          <a:noFill/>
        </p:spPr>
        <p:txBody>
          <a:bodyPr wrap="square" anchor="ctr">
            <a:spAutoFit/>
          </a:bodyPr>
          <a:lstStyle/>
          <a:p>
            <a:pPr algn="ctr">
              <a:lnSpc>
                <a:spcPct val="105000"/>
              </a:lnSpc>
              <a:spcAft>
                <a:spcPts val="600"/>
              </a:spcAft>
            </a:pPr>
            <a:r>
              <a:rPr sz="1400" b="1">
                <a:solidFill>
                  <a:srgbClr val="FFFFFF"/>
                </a:solidFill>
                <a:latin typeface="Calibri"/>
              </a:rPr>
              <a:t>RiskIntel</a:t>
            </a:r>
          </a:p>
          <a:p>
            <a:pPr algn="ctr">
              <a:lnSpc>
                <a:spcPct val="105000"/>
              </a:lnSpc>
              <a:spcAft>
                <a:spcPts val="600"/>
              </a:spcAft>
            </a:pPr>
            <a:r>
              <a:rPr sz="1150" b="0">
                <a:solidFill>
                  <a:srgbClr val="CFDAF0"/>
                </a:solidFill>
                <a:latin typeface="Calibri"/>
              </a:rPr>
              <a:t>perceive</a:t>
            </a:r>
          </a:p>
        </p:txBody>
      </p:sp>
      <p:sp>
        <p:nvSpPr>
          <p:cNvPr id="10" name="Rectangle 9"/>
          <p:cNvSpPr/>
          <p:nvPr/>
        </p:nvSpPr>
        <p:spPr>
          <a:xfrm>
            <a:off x="3474720" y="2468880"/>
            <a:ext cx="2606040" cy="91440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2542032"/>
            <a:ext cx="2423160" cy="777240"/>
          </a:xfrm>
          <a:prstGeom prst="rect">
            <a:avLst/>
          </a:prstGeom>
          <a:noFill/>
        </p:spPr>
        <p:txBody>
          <a:bodyPr wrap="square" anchor="ctr">
            <a:spAutoFit/>
          </a:bodyPr>
          <a:lstStyle/>
          <a:p>
            <a:pPr algn="ctr">
              <a:lnSpc>
                <a:spcPct val="105000"/>
              </a:lnSpc>
              <a:spcAft>
                <a:spcPts val="600"/>
              </a:spcAft>
            </a:pPr>
            <a:r>
              <a:rPr sz="1400" b="1">
                <a:solidFill>
                  <a:srgbClr val="FFFFFF"/>
                </a:solidFill>
                <a:latin typeface="Calibri"/>
              </a:rPr>
              <a:t>SupplierGraph</a:t>
            </a:r>
          </a:p>
          <a:p>
            <a:pPr algn="ctr">
              <a:lnSpc>
                <a:spcPct val="105000"/>
              </a:lnSpc>
              <a:spcAft>
                <a:spcPts val="600"/>
              </a:spcAft>
            </a:pPr>
            <a:r>
              <a:rPr sz="1150" b="0">
                <a:solidFill>
                  <a:srgbClr val="CFDAF0"/>
                </a:solidFill>
                <a:latin typeface="Calibri"/>
              </a:rPr>
              <a:t>trace impact</a:t>
            </a:r>
          </a:p>
        </p:txBody>
      </p:sp>
      <p:sp>
        <p:nvSpPr>
          <p:cNvPr id="12" name="Rectangle 11"/>
          <p:cNvSpPr/>
          <p:nvPr/>
        </p:nvSpPr>
        <p:spPr>
          <a:xfrm>
            <a:off x="6263640" y="2468880"/>
            <a:ext cx="2606040" cy="91440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79" y="2542032"/>
            <a:ext cx="2423160" cy="777240"/>
          </a:xfrm>
          <a:prstGeom prst="rect">
            <a:avLst/>
          </a:prstGeom>
          <a:noFill/>
        </p:spPr>
        <p:txBody>
          <a:bodyPr wrap="square" anchor="ctr">
            <a:spAutoFit/>
          </a:bodyPr>
          <a:lstStyle/>
          <a:p>
            <a:pPr algn="ctr">
              <a:lnSpc>
                <a:spcPct val="105000"/>
              </a:lnSpc>
              <a:spcAft>
                <a:spcPts val="600"/>
              </a:spcAft>
            </a:pPr>
            <a:r>
              <a:rPr sz="1400" b="1">
                <a:solidFill>
                  <a:srgbClr val="FFFFFF"/>
                </a:solidFill>
                <a:latin typeface="Calibri"/>
              </a:rPr>
              <a:t>ETALogistics</a:t>
            </a:r>
          </a:p>
          <a:p>
            <a:pPr algn="ctr">
              <a:lnSpc>
                <a:spcPct val="105000"/>
              </a:lnSpc>
              <a:spcAft>
                <a:spcPts val="600"/>
              </a:spcAft>
            </a:pPr>
            <a:r>
              <a:rPr sz="1150" b="0">
                <a:solidFill>
                  <a:srgbClr val="CFDAF0"/>
                </a:solidFill>
                <a:latin typeface="Calibri"/>
              </a:rPr>
              <a:t>predict ETA</a:t>
            </a:r>
          </a:p>
        </p:txBody>
      </p:sp>
      <p:sp>
        <p:nvSpPr>
          <p:cNvPr id="14" name="Rectangle 13"/>
          <p:cNvSpPr/>
          <p:nvPr/>
        </p:nvSpPr>
        <p:spPr>
          <a:xfrm>
            <a:off x="9052559" y="2468880"/>
            <a:ext cx="2606040" cy="91440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3999" y="2542032"/>
            <a:ext cx="2423160" cy="777240"/>
          </a:xfrm>
          <a:prstGeom prst="rect">
            <a:avLst/>
          </a:prstGeom>
          <a:noFill/>
        </p:spPr>
        <p:txBody>
          <a:bodyPr wrap="square" anchor="ctr">
            <a:spAutoFit/>
          </a:bodyPr>
          <a:lstStyle/>
          <a:p>
            <a:pPr algn="ctr">
              <a:lnSpc>
                <a:spcPct val="105000"/>
              </a:lnSpc>
              <a:spcAft>
                <a:spcPts val="600"/>
              </a:spcAft>
            </a:pPr>
            <a:r>
              <a:rPr sz="1400" b="1">
                <a:solidFill>
                  <a:srgbClr val="FFFFFF"/>
                </a:solidFill>
                <a:latin typeface="Calibri"/>
              </a:rPr>
              <a:t>Mitigation</a:t>
            </a:r>
          </a:p>
          <a:p>
            <a:pPr algn="ctr">
              <a:lnSpc>
                <a:spcPct val="105000"/>
              </a:lnSpc>
              <a:spcAft>
                <a:spcPts val="600"/>
              </a:spcAft>
            </a:pPr>
            <a:r>
              <a:rPr sz="1150" b="0">
                <a:solidFill>
                  <a:srgbClr val="CFDAF0"/>
                </a:solidFill>
                <a:latin typeface="Calibri"/>
              </a:rPr>
              <a:t>score, plan, act</a:t>
            </a:r>
          </a:p>
        </p:txBody>
      </p:sp>
      <p:sp>
        <p:nvSpPr>
          <p:cNvPr id="16" name="Rectangle 15"/>
          <p:cNvSpPr/>
          <p:nvPr/>
        </p:nvSpPr>
        <p:spPr>
          <a:xfrm>
            <a:off x="685800" y="3703320"/>
            <a:ext cx="10927080" cy="64008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703320"/>
            <a:ext cx="10744200" cy="640080"/>
          </a:xfrm>
          <a:prstGeom prst="rect">
            <a:avLst/>
          </a:prstGeom>
          <a:noFill/>
        </p:spPr>
        <p:txBody>
          <a:bodyPr wrap="square" anchor="ctr">
            <a:spAutoFit/>
          </a:bodyPr>
          <a:lstStyle/>
          <a:p>
            <a:pPr algn="ctr">
              <a:lnSpc>
                <a:spcPct val="105000"/>
              </a:lnSpc>
              <a:spcAft>
                <a:spcPts val="600"/>
              </a:spcAft>
            </a:pPr>
            <a:r>
              <a:rPr sz="1350" b="1">
                <a:solidFill>
                  <a:srgbClr val="0A1F6B"/>
                </a:solidFill>
                <a:latin typeface="Calibri"/>
              </a:rPr>
              <a:t>Tool layer (read / execute / write), each sub-agent runs its own ReAct loop</a:t>
            </a:r>
          </a:p>
        </p:txBody>
      </p:sp>
      <p:graphicFrame>
        <p:nvGraphicFramePr>
          <p:cNvPr id="18" name="Table 17"/>
          <p:cNvGraphicFramePr>
            <a:graphicFrameLocks noGrp="1"/>
          </p:cNvGraphicFramePr>
          <p:nvPr/>
        </p:nvGraphicFramePr>
        <p:xfrm>
          <a:off x="548640" y="4572000"/>
          <a:ext cx="11064240" cy="1828800"/>
        </p:xfrm>
        <a:graphic>
          <a:graphicData uri="http://schemas.openxmlformats.org/drawingml/2006/table">
            <a:tbl>
              <a:tblPr firstRow="1" bandRow="1">
                <a:tableStyleId>{5C22544A-7EE6-4342-B048-85BDC9FD1C3A}</a:tableStyleId>
              </a:tblPr>
              <a:tblGrid>
                <a:gridCol w="3657600"/>
                <a:gridCol w="7406640"/>
              </a:tblGrid>
              <a:tr h="457200">
                <a:tc>
                  <a:txBody>
                    <a:bodyPr/>
                    <a:lstStyle/>
                    <a:p>
                      <a:r>
                        <a:rPr sz="1300" b="1">
                          <a:solidFill>
                            <a:srgbClr val="FFFFFF"/>
                          </a:solidFill>
                          <a:latin typeface="Calibri"/>
                        </a:rPr>
                        <a:t>Pattern</a:t>
                      </a:r>
                    </a:p>
                  </a:txBody>
                  <a:tcPr>
                    <a:solidFill>
                      <a:srgbClr val="0A1F6B"/>
                    </a:solidFill>
                  </a:tcPr>
                </a:tc>
                <a:tc>
                  <a:txBody>
                    <a:bodyPr/>
                    <a:lstStyle/>
                    <a:p>
                      <a:r>
                        <a:rPr sz="1300" b="1">
                          <a:solidFill>
                            <a:srgbClr val="FFFFFF"/>
                          </a:solidFill>
                          <a:latin typeface="Calibri"/>
                        </a:rPr>
                        <a:t>Why we rejected or chose it</a:t>
                      </a:r>
                    </a:p>
                  </a:txBody>
                  <a:tcPr>
                    <a:solidFill>
                      <a:srgbClr val="0A1F6B"/>
                    </a:solidFill>
                  </a:tcPr>
                </a:tc>
              </a:tr>
              <a:tr h="457200">
                <a:tc>
                  <a:txBody>
                    <a:bodyPr/>
                    <a:lstStyle/>
                    <a:p>
                      <a:r>
                        <a:rPr sz="1300">
                          <a:solidFill>
                            <a:srgbClr val="1A1A2E"/>
                          </a:solidFill>
                          <a:latin typeface="Calibri"/>
                        </a:rPr>
                        <a:t>Single agent, many tools</a:t>
                      </a:r>
                    </a:p>
                  </a:txBody>
                  <a:tcPr>
                    <a:solidFill>
                      <a:srgbClr val="FFFFFF"/>
                    </a:solidFill>
                  </a:tcPr>
                </a:tc>
                <a:tc>
                  <a:txBody>
                    <a:bodyPr/>
                    <a:lstStyle/>
                    <a:p>
                      <a:r>
                        <a:rPr sz="1300">
                          <a:solidFill>
                            <a:srgbClr val="1A1A2E"/>
                          </a:solidFill>
                          <a:latin typeface="Calibri"/>
                        </a:rPr>
                        <a:t>Rejected: overloaded context, poor decisions (Session 4)</a:t>
                      </a:r>
                    </a:p>
                  </a:txBody>
                  <a:tcPr>
                    <a:solidFill>
                      <a:srgbClr val="FFFFFF"/>
                    </a:solidFill>
                  </a:tcPr>
                </a:tc>
              </a:tr>
              <a:tr h="457200">
                <a:tc>
                  <a:txBody>
                    <a:bodyPr/>
                    <a:lstStyle/>
                    <a:p>
                      <a:r>
                        <a:rPr sz="1300">
                          <a:solidFill>
                            <a:srgbClr val="1A1A2E"/>
                          </a:solidFill>
                          <a:latin typeface="Calibri"/>
                        </a:rPr>
                        <a:t>Peer-to-peer agents</a:t>
                      </a:r>
                    </a:p>
                  </a:txBody>
                  <a:tcPr>
                    <a:solidFill>
                      <a:srgbClr val="F2F4F8"/>
                    </a:solidFill>
                  </a:tcPr>
                </a:tc>
                <a:tc>
                  <a:txBody>
                    <a:bodyPr/>
                    <a:lstStyle/>
                    <a:p>
                      <a:r>
                        <a:rPr sz="1300">
                          <a:solidFill>
                            <a:srgbClr val="1A1A2E"/>
                          </a:solidFill>
                          <a:latin typeface="Calibri"/>
                        </a:rPr>
                        <a:t>Rejected: hard to debug, no clear accountability</a:t>
                      </a:r>
                    </a:p>
                  </a:txBody>
                  <a:tcPr>
                    <a:solidFill>
                      <a:srgbClr val="F2F4F8"/>
                    </a:solidFill>
                  </a:tcPr>
                </a:tc>
              </a:tr>
              <a:tr h="457200">
                <a:tc>
                  <a:txBody>
                    <a:bodyPr/>
                    <a:lstStyle/>
                    <a:p>
                      <a:r>
                        <a:rPr sz="1300">
                          <a:solidFill>
                            <a:srgbClr val="1A1A2E"/>
                          </a:solidFill>
                          <a:latin typeface="Calibri"/>
                        </a:rPr>
                        <a:t>Orchestrator + specialists</a:t>
                      </a:r>
                    </a:p>
                  </a:txBody>
                  <a:tcPr>
                    <a:solidFill>
                      <a:srgbClr val="FFFFFF"/>
                    </a:solidFill>
                  </a:tcPr>
                </a:tc>
                <a:tc>
                  <a:txBody>
                    <a:bodyPr/>
                    <a:lstStyle/>
                    <a:p>
                      <a:r>
                        <a:rPr sz="1300">
                          <a:solidFill>
                            <a:srgbClr val="1A1A2E"/>
                          </a:solidFill>
                          <a:latin typeface="Calibri"/>
                        </a:rPr>
                        <a:t>Chosen: clear ownership, easy to trace, matches 4 distinct expertises</a:t>
                      </a:r>
                    </a:p>
                  </a:txBody>
                  <a:tcPr>
                    <a:solidFill>
                      <a:srgbClr val="FFFFFF"/>
                    </a:solidFill>
                  </a:tcPr>
                </a:tc>
              </a:tr>
            </a:tbl>
          </a:graphicData>
        </a:graphic>
      </p:graphicFrame>
      <p:sp>
        <p:nvSpPr>
          <p:cNvPr id="19" name="Rectangle 18"/>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Agentic System Architecture (10 pts)</a:t>
            </a:r>
            <a:r>
              <a:rPr sz="1100" b="1">
                <a:solidFill>
                  <a:srgbClr val="0A1F6B"/>
                </a:solidFill>
                <a:latin typeface="Calibri"/>
              </a:rPr>
              <a:t>     |     Handout: </a:t>
            </a:r>
            <a:r>
              <a:rPr sz="1100" b="0">
                <a:solidFill>
                  <a:srgbClr val="555555"/>
                </a:solidFill>
                <a:latin typeface="Calibri"/>
              </a:rPr>
              <a:t>Section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TOOLS &amp; ACTIONS</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5. Tools: the agent decides, tools execute</a:t>
            </a:r>
          </a:p>
        </p:txBody>
      </p:sp>
      <p:sp>
        <p:nvSpPr>
          <p:cNvPr id="5" name="Rectangle 4"/>
          <p:cNvSpPr/>
          <p:nvPr/>
        </p:nvSpPr>
        <p:spPr>
          <a:xfrm>
            <a:off x="548640" y="1243584"/>
            <a:ext cx="2011680" cy="54864"/>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417320"/>
          <a:ext cx="11064240" cy="3520440"/>
        </p:xfrm>
        <a:graphic>
          <a:graphicData uri="http://schemas.openxmlformats.org/drawingml/2006/table">
            <a:tbl>
              <a:tblPr firstRow="1" bandRow="1">
                <a:tableStyleId>{5C22544A-7EE6-4342-B048-85BDC9FD1C3A}</a:tableStyleId>
              </a:tblPr>
              <a:tblGrid>
                <a:gridCol w="7315200"/>
                <a:gridCol w="1920240"/>
                <a:gridCol w="1828800"/>
              </a:tblGrid>
              <a:tr h="502920">
                <a:tc>
                  <a:txBody>
                    <a:bodyPr/>
                    <a:lstStyle/>
                    <a:p>
                      <a:r>
                        <a:rPr sz="1300" b="1">
                          <a:solidFill>
                            <a:srgbClr val="FFFFFF"/>
                          </a:solidFill>
                          <a:latin typeface="Calibri"/>
                        </a:rPr>
                        <a:t>Tool</a:t>
                      </a:r>
                    </a:p>
                  </a:txBody>
                  <a:tcPr>
                    <a:solidFill>
                      <a:srgbClr val="0A1F6B"/>
                    </a:solidFill>
                  </a:tcPr>
                </a:tc>
                <a:tc>
                  <a:txBody>
                    <a:bodyPr/>
                    <a:lstStyle/>
                    <a:p>
                      <a:r>
                        <a:rPr sz="1300" b="1">
                          <a:solidFill>
                            <a:srgbClr val="FFFFFF"/>
                          </a:solidFill>
                          <a:latin typeface="Calibri"/>
                        </a:rPr>
                        <a:t>Type</a:t>
                      </a:r>
                    </a:p>
                  </a:txBody>
                  <a:tcPr>
                    <a:solidFill>
                      <a:srgbClr val="0A1F6B"/>
                    </a:solidFill>
                  </a:tcPr>
                </a:tc>
                <a:tc>
                  <a:txBody>
                    <a:bodyPr/>
                    <a:lstStyle/>
                    <a:p>
                      <a:r>
                        <a:rPr sz="1300" b="1">
                          <a:solidFill>
                            <a:srgbClr val="FFFFFF"/>
                          </a:solidFill>
                          <a:latin typeface="Calibri"/>
                        </a:rPr>
                        <a:t>Approval</a:t>
                      </a:r>
                    </a:p>
                  </a:txBody>
                  <a:tcPr>
                    <a:solidFill>
                      <a:srgbClr val="0A1F6B"/>
                    </a:solidFill>
                  </a:tcPr>
                </a:tc>
              </a:tr>
              <a:tr h="502920">
                <a:tc>
                  <a:txBody>
                    <a:bodyPr/>
                    <a:lstStyle/>
                    <a:p>
                      <a:r>
                        <a:rPr sz="1300">
                          <a:solidFill>
                            <a:srgbClr val="1A1A2E"/>
                          </a:solidFill>
                          <a:latin typeface="Calibri"/>
                        </a:rPr>
                        <a:t>supplier_graph_db, shipment_tracker, inventory_system, external_risk_feed</a:t>
                      </a:r>
                    </a:p>
                  </a:txBody>
                  <a:tcPr>
                    <a:solidFill>
                      <a:srgbClr val="FFFFFF"/>
                    </a:solidFill>
                  </a:tcPr>
                </a:tc>
                <a:tc>
                  <a:txBody>
                    <a:bodyPr/>
                    <a:lstStyle/>
                    <a:p>
                      <a:r>
                        <a:rPr sz="1300">
                          <a:solidFill>
                            <a:srgbClr val="1A1A2E"/>
                          </a:solidFill>
                          <a:latin typeface="Calibri"/>
                        </a:rPr>
                        <a:t>read</a:t>
                      </a:r>
                    </a:p>
                  </a:txBody>
                  <a:tcPr>
                    <a:solidFill>
                      <a:srgbClr val="FFFFFF"/>
                    </a:solidFill>
                  </a:tcPr>
                </a:tc>
                <a:tc>
                  <a:txBody>
                    <a:bodyPr/>
                    <a:lstStyle/>
                    <a:p>
                      <a:r>
                        <a:rPr sz="1300">
                          <a:solidFill>
                            <a:srgbClr val="1A1A2E"/>
                          </a:solidFill>
                          <a:latin typeface="Calibri"/>
                        </a:rPr>
                        <a:t>No</a:t>
                      </a:r>
                    </a:p>
                  </a:txBody>
                  <a:tcPr>
                    <a:solidFill>
                      <a:srgbClr val="FFFFFF"/>
                    </a:solidFill>
                  </a:tcPr>
                </a:tc>
              </a:tr>
              <a:tr h="502920">
                <a:tc>
                  <a:txBody>
                    <a:bodyPr/>
                    <a:lstStyle/>
                    <a:p>
                      <a:r>
                        <a:rPr sz="1300">
                          <a:solidFill>
                            <a:srgbClr val="1A1A2E"/>
                          </a:solidFill>
                          <a:latin typeface="Calibri"/>
                        </a:rPr>
                        <a:t>eta_predictor, risk_scorer</a:t>
                      </a:r>
                    </a:p>
                  </a:txBody>
                  <a:tcPr>
                    <a:solidFill>
                      <a:srgbClr val="F2F4F8"/>
                    </a:solidFill>
                  </a:tcPr>
                </a:tc>
                <a:tc>
                  <a:txBody>
                    <a:bodyPr/>
                    <a:lstStyle/>
                    <a:p>
                      <a:r>
                        <a:rPr sz="1300">
                          <a:solidFill>
                            <a:srgbClr val="1A1A2E"/>
                          </a:solidFill>
                          <a:latin typeface="Calibri"/>
                        </a:rPr>
                        <a:t>execute</a:t>
                      </a:r>
                    </a:p>
                  </a:txBody>
                  <a:tcPr>
                    <a:solidFill>
                      <a:srgbClr val="F2F4F8"/>
                    </a:solidFill>
                  </a:tcPr>
                </a:tc>
                <a:tc>
                  <a:txBody>
                    <a:bodyPr/>
                    <a:lstStyle/>
                    <a:p>
                      <a:r>
                        <a:rPr sz="1300">
                          <a:solidFill>
                            <a:srgbClr val="1A1A2E"/>
                          </a:solidFill>
                          <a:latin typeface="Calibri"/>
                        </a:rPr>
                        <a:t>No</a:t>
                      </a:r>
                    </a:p>
                  </a:txBody>
                  <a:tcPr>
                    <a:solidFill>
                      <a:srgbClr val="F2F4F8"/>
                    </a:solidFill>
                  </a:tcPr>
                </a:tc>
              </a:tr>
              <a:tr h="502920">
                <a:tc>
                  <a:txBody>
                    <a:bodyPr/>
                    <a:lstStyle/>
                    <a:p>
                      <a:r>
                        <a:rPr sz="1300">
                          <a:solidFill>
                            <a:srgbClr val="1A1A2E"/>
                          </a:solidFill>
                          <a:latin typeface="Calibri"/>
                        </a:rPr>
                        <a:t>notify_stakeholders</a:t>
                      </a:r>
                    </a:p>
                  </a:txBody>
                  <a:tcPr>
                    <a:solidFill>
                      <a:srgbClr val="FFFFFF"/>
                    </a:solidFill>
                  </a:tcPr>
                </a:tc>
                <a:tc>
                  <a:txBody>
                    <a:bodyPr/>
                    <a:lstStyle/>
                    <a:p>
                      <a:r>
                        <a:rPr sz="1300">
                          <a:solidFill>
                            <a:srgbClr val="1A1A2E"/>
                          </a:solidFill>
                          <a:latin typeface="Calibri"/>
                        </a:rPr>
                        <a:t>write</a:t>
                      </a:r>
                    </a:p>
                  </a:txBody>
                  <a:tcPr>
                    <a:solidFill>
                      <a:srgbClr val="FFFFFF"/>
                    </a:solidFill>
                  </a:tcPr>
                </a:tc>
                <a:tc>
                  <a:txBody>
                    <a:bodyPr/>
                    <a:lstStyle/>
                    <a:p>
                      <a:r>
                        <a:rPr sz="1300">
                          <a:solidFill>
                            <a:srgbClr val="1A1A2E"/>
                          </a:solidFill>
                          <a:latin typeface="Calibri"/>
                        </a:rPr>
                        <a:t>No (reversible)</a:t>
                      </a:r>
                    </a:p>
                  </a:txBody>
                  <a:tcPr>
                    <a:solidFill>
                      <a:srgbClr val="FFFFFF"/>
                    </a:solidFill>
                  </a:tcPr>
                </a:tc>
              </a:tr>
              <a:tr h="502920">
                <a:tc>
                  <a:txBody>
                    <a:bodyPr/>
                    <a:lstStyle/>
                    <a:p>
                      <a:r>
                        <a:rPr sz="1300">
                          <a:solidFill>
                            <a:srgbClr val="1A1A2E"/>
                          </a:solidFill>
                          <a:latin typeface="Calibri"/>
                        </a:rPr>
                        <a:t>erp_create_po (draft)</a:t>
                      </a:r>
                    </a:p>
                  </a:txBody>
                  <a:tcPr>
                    <a:solidFill>
                      <a:srgbClr val="F2F4F8"/>
                    </a:solidFill>
                  </a:tcPr>
                </a:tc>
                <a:tc>
                  <a:txBody>
                    <a:bodyPr/>
                    <a:lstStyle/>
                    <a:p>
                      <a:r>
                        <a:rPr sz="1300">
                          <a:solidFill>
                            <a:srgbClr val="1A1A2E"/>
                          </a:solidFill>
                          <a:latin typeface="Calibri"/>
                        </a:rPr>
                        <a:t>write</a:t>
                      </a:r>
                    </a:p>
                  </a:txBody>
                  <a:tcPr>
                    <a:solidFill>
                      <a:srgbClr val="F2F4F8"/>
                    </a:solidFill>
                  </a:tcPr>
                </a:tc>
                <a:tc>
                  <a:txBody>
                    <a:bodyPr/>
                    <a:lstStyle/>
                    <a:p>
                      <a:r>
                        <a:rPr sz="1300">
                          <a:solidFill>
                            <a:srgbClr val="1A1A2E"/>
                          </a:solidFill>
                          <a:latin typeface="Calibri"/>
                        </a:rPr>
                        <a:t>No (reversible)</a:t>
                      </a:r>
                    </a:p>
                  </a:txBody>
                  <a:tcPr>
                    <a:solidFill>
                      <a:srgbClr val="F2F4F8"/>
                    </a:solidFill>
                  </a:tcPr>
                </a:tc>
              </a:tr>
              <a:tr h="502920">
                <a:tc>
                  <a:txBody>
                    <a:bodyPr/>
                    <a:lstStyle/>
                    <a:p>
                      <a:r>
                        <a:rPr sz="1300">
                          <a:solidFill>
                            <a:srgbClr val="1A1A2E"/>
                          </a:solidFill>
                          <a:latin typeface="Calibri"/>
                        </a:rPr>
                        <a:t>erp_create_po (commit over limit)</a:t>
                      </a:r>
                    </a:p>
                  </a:txBody>
                  <a:tcPr>
                    <a:solidFill>
                      <a:srgbClr val="FFFFFF"/>
                    </a:solidFill>
                  </a:tcPr>
                </a:tc>
                <a:tc>
                  <a:txBody>
                    <a:bodyPr/>
                    <a:lstStyle/>
                    <a:p>
                      <a:r>
                        <a:rPr sz="1300">
                          <a:solidFill>
                            <a:srgbClr val="1A1A2E"/>
                          </a:solidFill>
                          <a:latin typeface="Calibri"/>
                        </a:rPr>
                        <a:t>write</a:t>
                      </a:r>
                    </a:p>
                  </a:txBody>
                  <a:tcPr>
                    <a:solidFill>
                      <a:srgbClr val="FFFFFF"/>
                    </a:solidFill>
                  </a:tcPr>
                </a:tc>
                <a:tc>
                  <a:txBody>
                    <a:bodyPr/>
                    <a:lstStyle/>
                    <a:p>
                      <a:r>
                        <a:rPr sz="1300">
                          <a:solidFill>
                            <a:srgbClr val="1A1A2E"/>
                          </a:solidFill>
                          <a:latin typeface="Calibri"/>
                        </a:rPr>
                        <a:t>Yes</a:t>
                      </a:r>
                    </a:p>
                  </a:txBody>
                  <a:tcPr>
                    <a:solidFill>
                      <a:srgbClr val="FFFFFF"/>
                    </a:solidFill>
                  </a:tcPr>
                </a:tc>
              </a:tr>
              <a:tr h="502920">
                <a:tc>
                  <a:txBody>
                    <a:bodyPr/>
                    <a:lstStyle/>
                    <a:p>
                      <a:r>
                        <a:rPr sz="1300">
                          <a:solidFill>
                            <a:srgbClr val="1A1A2E"/>
                          </a:solidFill>
                          <a:latin typeface="Calibri"/>
                        </a:rPr>
                        <a:t>expedite_logistics, production_scheduler</a:t>
                      </a:r>
                    </a:p>
                  </a:txBody>
                  <a:tcPr>
                    <a:solidFill>
                      <a:srgbClr val="F2F4F8"/>
                    </a:solidFill>
                  </a:tcPr>
                </a:tc>
                <a:tc>
                  <a:txBody>
                    <a:bodyPr/>
                    <a:lstStyle/>
                    <a:p>
                      <a:r>
                        <a:rPr sz="1300">
                          <a:solidFill>
                            <a:srgbClr val="1A1A2E"/>
                          </a:solidFill>
                          <a:latin typeface="Calibri"/>
                        </a:rPr>
                        <a:t>write</a:t>
                      </a:r>
                    </a:p>
                  </a:txBody>
                  <a:tcPr>
                    <a:solidFill>
                      <a:srgbClr val="F2F4F8"/>
                    </a:solidFill>
                  </a:tcPr>
                </a:tc>
                <a:tc>
                  <a:txBody>
                    <a:bodyPr/>
                    <a:lstStyle/>
                    <a:p>
                      <a:r>
                        <a:rPr sz="1300">
                          <a:solidFill>
                            <a:srgbClr val="1A1A2E"/>
                          </a:solidFill>
                          <a:latin typeface="Calibri"/>
                        </a:rPr>
                        <a:t>Yes (costly / live)</a:t>
                      </a:r>
                    </a:p>
                  </a:txBody>
                  <a:tcPr>
                    <a:solidFill>
                      <a:srgbClr val="F2F4F8"/>
                    </a:solidFill>
                  </a:tcPr>
                </a:tc>
              </a:tr>
            </a:tbl>
          </a:graphicData>
        </a:graphic>
      </p:graphicFrame>
      <p:sp>
        <p:nvSpPr>
          <p:cNvPr id="7" name="Rectangle 6"/>
          <p:cNvSpPr/>
          <p:nvPr/>
        </p:nvSpPr>
        <p:spPr>
          <a:xfrm>
            <a:off x="548640" y="5349240"/>
            <a:ext cx="11064240" cy="86868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440680"/>
            <a:ext cx="10698480" cy="731520"/>
          </a:xfrm>
          <a:prstGeom prst="rect">
            <a:avLst/>
          </a:prstGeom>
          <a:noFill/>
        </p:spPr>
        <p:txBody>
          <a:bodyPr wrap="square" anchor="ctr">
            <a:spAutoFit/>
          </a:bodyPr>
          <a:lstStyle/>
          <a:p>
            <a:pPr algn="l">
              <a:lnSpc>
                <a:spcPct val="105000"/>
              </a:lnSpc>
              <a:spcAft>
                <a:spcPts val="600"/>
              </a:spcAft>
            </a:pPr>
            <a:r>
              <a:rPr sz="1400" b="1">
                <a:solidFill>
                  <a:srgbClr val="6CB400"/>
                </a:solidFill>
                <a:latin typeface="Calibri"/>
              </a:rPr>
              <a:t>Decide vs execute: </a:t>
            </a:r>
            <a:r>
              <a:rPr sz="1350" b="0">
                <a:solidFill>
                  <a:srgbClr val="1A1A2E"/>
                </a:solidFill>
                <a:latin typeface="Calibri"/>
              </a:rPr>
              <a:t>the agent reasons about WHICH tool to call and with what arguments; the tool just performs the operation. Each tool carries a machine-readable description, an action type and an approval flag. Full tool descriptions are in docs/04.</a:t>
            </a:r>
          </a:p>
        </p:txBody>
      </p:sp>
      <p:sp>
        <p:nvSpPr>
          <p:cNvPr id="9" name="Rectangle 8"/>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Tools, Actions &amp; Feasibility (15 pts)</a:t>
            </a:r>
            <a:r>
              <a:rPr sz="1100" b="1">
                <a:solidFill>
                  <a:srgbClr val="0A1F6B"/>
                </a:solidFill>
                <a:latin typeface="Calibri"/>
              </a:rPr>
              <a:t>     |     Handout: </a:t>
            </a:r>
            <a:r>
              <a:rPr sz="1100" b="0">
                <a:solidFill>
                  <a:srgbClr val="555555"/>
                </a:solidFill>
                <a:latin typeface="Calibri"/>
              </a:rPr>
              <a:t>Section 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AGENTIC THINKING</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6. How the agent thinks: perceive, reason, act, learn</a:t>
            </a:r>
          </a:p>
        </p:txBody>
      </p:sp>
      <p:sp>
        <p:nvSpPr>
          <p:cNvPr id="5" name="Rectangle 4"/>
          <p:cNvSpPr/>
          <p:nvPr/>
        </p:nvSpPr>
        <p:spPr>
          <a:xfrm>
            <a:off x="548640" y="1243584"/>
            <a:ext cx="2011680" cy="54864"/>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2011680" cy="566928"/>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54480"/>
            <a:ext cx="2011680" cy="566928"/>
          </a:xfrm>
          <a:prstGeom prst="rect">
            <a:avLst/>
          </a:prstGeom>
          <a:noFill/>
        </p:spPr>
        <p:txBody>
          <a:bodyPr wrap="square" anchor="ctr">
            <a:spAutoFit/>
          </a:bodyPr>
          <a:lstStyle/>
          <a:p>
            <a:pPr algn="ctr">
              <a:lnSpc>
                <a:spcPct val="105000"/>
              </a:lnSpc>
              <a:spcAft>
                <a:spcPts val="600"/>
              </a:spcAft>
            </a:pPr>
            <a:r>
              <a:rPr sz="1400" b="1">
                <a:solidFill>
                  <a:srgbClr val="FFFFFF"/>
                </a:solidFill>
                <a:latin typeface="Calibri"/>
              </a:rPr>
              <a:t>PERCEIVE</a:t>
            </a:r>
          </a:p>
        </p:txBody>
      </p:sp>
      <p:sp>
        <p:nvSpPr>
          <p:cNvPr id="8" name="TextBox 7"/>
          <p:cNvSpPr txBox="1"/>
          <p:nvPr/>
        </p:nvSpPr>
        <p:spPr>
          <a:xfrm>
            <a:off x="2743200" y="1554480"/>
            <a:ext cx="8869680" cy="566928"/>
          </a:xfrm>
          <a:prstGeom prst="rect">
            <a:avLst/>
          </a:prstGeom>
          <a:noFill/>
        </p:spPr>
        <p:txBody>
          <a:bodyPr wrap="square" anchor="ctr">
            <a:spAutoFit/>
          </a:bodyPr>
          <a:lstStyle/>
          <a:p>
            <a:pPr algn="l">
              <a:lnSpc>
                <a:spcPct val="105000"/>
              </a:lnSpc>
              <a:spcAft>
                <a:spcPts val="600"/>
              </a:spcAft>
            </a:pPr>
            <a:r>
              <a:rPr sz="1450" b="0">
                <a:solidFill>
                  <a:srgbClr val="1A1A2E"/>
                </a:solidFill>
                <a:latin typeface="Calibri"/>
              </a:rPr>
              <a:t>RiskIntel scans the external feed and flags high-severity events</a:t>
            </a:r>
          </a:p>
        </p:txBody>
      </p:sp>
      <p:sp>
        <p:nvSpPr>
          <p:cNvPr id="9" name="Rectangle 8"/>
          <p:cNvSpPr/>
          <p:nvPr/>
        </p:nvSpPr>
        <p:spPr>
          <a:xfrm>
            <a:off x="548640" y="2267712"/>
            <a:ext cx="2011680" cy="566928"/>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267712"/>
            <a:ext cx="2011680" cy="566928"/>
          </a:xfrm>
          <a:prstGeom prst="rect">
            <a:avLst/>
          </a:prstGeom>
          <a:noFill/>
        </p:spPr>
        <p:txBody>
          <a:bodyPr wrap="square" anchor="ctr">
            <a:spAutoFit/>
          </a:bodyPr>
          <a:lstStyle/>
          <a:p>
            <a:pPr algn="ctr">
              <a:lnSpc>
                <a:spcPct val="105000"/>
              </a:lnSpc>
              <a:spcAft>
                <a:spcPts val="600"/>
              </a:spcAft>
            </a:pPr>
            <a:r>
              <a:rPr sz="1400" b="1">
                <a:solidFill>
                  <a:srgbClr val="FFFFFF"/>
                </a:solidFill>
                <a:latin typeface="Calibri"/>
              </a:rPr>
              <a:t>REASON</a:t>
            </a:r>
          </a:p>
        </p:txBody>
      </p:sp>
      <p:sp>
        <p:nvSpPr>
          <p:cNvPr id="11" name="TextBox 10"/>
          <p:cNvSpPr txBox="1"/>
          <p:nvPr/>
        </p:nvSpPr>
        <p:spPr>
          <a:xfrm>
            <a:off x="2743200" y="2267712"/>
            <a:ext cx="8869680" cy="566928"/>
          </a:xfrm>
          <a:prstGeom prst="rect">
            <a:avLst/>
          </a:prstGeom>
          <a:noFill/>
        </p:spPr>
        <p:txBody>
          <a:bodyPr wrap="square" anchor="ctr">
            <a:spAutoFit/>
          </a:bodyPr>
          <a:lstStyle/>
          <a:p>
            <a:pPr algn="l">
              <a:lnSpc>
                <a:spcPct val="105000"/>
              </a:lnSpc>
              <a:spcAft>
                <a:spcPts val="600"/>
              </a:spcAft>
            </a:pPr>
            <a:r>
              <a:rPr sz="1450" b="0">
                <a:solidFill>
                  <a:srgbClr val="1A1A2E"/>
                </a:solidFill>
                <a:latin typeface="Calibri"/>
              </a:rPr>
              <a:t>SupplierGraph traces each event to the critical parts it threatens</a:t>
            </a:r>
          </a:p>
        </p:txBody>
      </p:sp>
      <p:sp>
        <p:nvSpPr>
          <p:cNvPr id="12" name="Rectangle 11"/>
          <p:cNvSpPr/>
          <p:nvPr/>
        </p:nvSpPr>
        <p:spPr>
          <a:xfrm>
            <a:off x="548640" y="2980944"/>
            <a:ext cx="2011680" cy="566928"/>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980944"/>
            <a:ext cx="2011680" cy="566928"/>
          </a:xfrm>
          <a:prstGeom prst="rect">
            <a:avLst/>
          </a:prstGeom>
          <a:noFill/>
        </p:spPr>
        <p:txBody>
          <a:bodyPr wrap="square" anchor="ctr">
            <a:spAutoFit/>
          </a:bodyPr>
          <a:lstStyle/>
          <a:p>
            <a:pPr algn="ctr">
              <a:lnSpc>
                <a:spcPct val="105000"/>
              </a:lnSpc>
              <a:spcAft>
                <a:spcPts val="600"/>
              </a:spcAft>
            </a:pPr>
            <a:r>
              <a:rPr sz="1400" b="1">
                <a:solidFill>
                  <a:srgbClr val="FFFFFF"/>
                </a:solidFill>
                <a:latin typeface="Calibri"/>
              </a:rPr>
              <a:t>PLAN</a:t>
            </a:r>
          </a:p>
        </p:txBody>
      </p:sp>
      <p:sp>
        <p:nvSpPr>
          <p:cNvPr id="14" name="TextBox 13"/>
          <p:cNvSpPr txBox="1"/>
          <p:nvPr/>
        </p:nvSpPr>
        <p:spPr>
          <a:xfrm>
            <a:off x="2743200" y="2980944"/>
            <a:ext cx="8869680" cy="566928"/>
          </a:xfrm>
          <a:prstGeom prst="rect">
            <a:avLst/>
          </a:prstGeom>
          <a:noFill/>
        </p:spPr>
        <p:txBody>
          <a:bodyPr wrap="square" anchor="ctr">
            <a:spAutoFit/>
          </a:bodyPr>
          <a:lstStyle/>
          <a:p>
            <a:pPr algn="l">
              <a:lnSpc>
                <a:spcPct val="105000"/>
              </a:lnSpc>
              <a:spcAft>
                <a:spcPts val="600"/>
              </a:spcAft>
            </a:pPr>
            <a:r>
              <a:rPr sz="1450" b="0">
                <a:solidFill>
                  <a:srgbClr val="1A1A2E"/>
                </a:solidFill>
                <a:latin typeface="Calibri"/>
              </a:rPr>
              <a:t>ETALogistics predicts the real arrival date and the exposure in days and dollars</a:t>
            </a:r>
          </a:p>
        </p:txBody>
      </p:sp>
      <p:sp>
        <p:nvSpPr>
          <p:cNvPr id="15" name="Rectangle 14"/>
          <p:cNvSpPr/>
          <p:nvPr/>
        </p:nvSpPr>
        <p:spPr>
          <a:xfrm>
            <a:off x="548640" y="3694176"/>
            <a:ext cx="2011680" cy="566928"/>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694176"/>
            <a:ext cx="2011680" cy="566928"/>
          </a:xfrm>
          <a:prstGeom prst="rect">
            <a:avLst/>
          </a:prstGeom>
          <a:noFill/>
        </p:spPr>
        <p:txBody>
          <a:bodyPr wrap="square" anchor="ctr">
            <a:spAutoFit/>
          </a:bodyPr>
          <a:lstStyle/>
          <a:p>
            <a:pPr algn="ctr">
              <a:lnSpc>
                <a:spcPct val="105000"/>
              </a:lnSpc>
              <a:spcAft>
                <a:spcPts val="600"/>
              </a:spcAft>
            </a:pPr>
            <a:r>
              <a:rPr sz="1400" b="1">
                <a:solidFill>
                  <a:srgbClr val="FFFFFF"/>
                </a:solidFill>
                <a:latin typeface="Calibri"/>
              </a:rPr>
              <a:t>ACT</a:t>
            </a:r>
          </a:p>
        </p:txBody>
      </p:sp>
      <p:sp>
        <p:nvSpPr>
          <p:cNvPr id="17" name="TextBox 16"/>
          <p:cNvSpPr txBox="1"/>
          <p:nvPr/>
        </p:nvSpPr>
        <p:spPr>
          <a:xfrm>
            <a:off x="2743200" y="3694176"/>
            <a:ext cx="8869680" cy="566928"/>
          </a:xfrm>
          <a:prstGeom prst="rect">
            <a:avLst/>
          </a:prstGeom>
          <a:noFill/>
        </p:spPr>
        <p:txBody>
          <a:bodyPr wrap="square" anchor="ctr">
            <a:spAutoFit/>
          </a:bodyPr>
          <a:lstStyle/>
          <a:p>
            <a:pPr algn="l">
              <a:lnSpc>
                <a:spcPct val="105000"/>
              </a:lnSpc>
              <a:spcAft>
                <a:spcPts val="600"/>
              </a:spcAft>
            </a:pPr>
            <a:r>
              <a:rPr sz="1450" b="0">
                <a:solidFill>
                  <a:srgbClr val="1A1A2E"/>
                </a:solidFill>
                <a:latin typeface="Calibri"/>
              </a:rPr>
              <a:t>Mitigation scores the risk, drafts the lowest-cost fix and calls the write tools</a:t>
            </a:r>
          </a:p>
        </p:txBody>
      </p:sp>
      <p:sp>
        <p:nvSpPr>
          <p:cNvPr id="18" name="Rectangle 17"/>
          <p:cNvSpPr/>
          <p:nvPr/>
        </p:nvSpPr>
        <p:spPr>
          <a:xfrm>
            <a:off x="548640" y="4407408"/>
            <a:ext cx="2011680" cy="566928"/>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407408"/>
            <a:ext cx="2011680" cy="566928"/>
          </a:xfrm>
          <a:prstGeom prst="rect">
            <a:avLst/>
          </a:prstGeom>
          <a:noFill/>
        </p:spPr>
        <p:txBody>
          <a:bodyPr wrap="square" anchor="ctr">
            <a:spAutoFit/>
          </a:bodyPr>
          <a:lstStyle/>
          <a:p>
            <a:pPr algn="ctr">
              <a:lnSpc>
                <a:spcPct val="105000"/>
              </a:lnSpc>
              <a:spcAft>
                <a:spcPts val="600"/>
              </a:spcAft>
            </a:pPr>
            <a:r>
              <a:rPr sz="1400" b="1">
                <a:solidFill>
                  <a:srgbClr val="FFFFFF"/>
                </a:solidFill>
                <a:latin typeface="Calibri"/>
              </a:rPr>
              <a:t>OBSERVE</a:t>
            </a:r>
          </a:p>
        </p:txBody>
      </p:sp>
      <p:sp>
        <p:nvSpPr>
          <p:cNvPr id="20" name="TextBox 19"/>
          <p:cNvSpPr txBox="1"/>
          <p:nvPr/>
        </p:nvSpPr>
        <p:spPr>
          <a:xfrm>
            <a:off x="2743200" y="4407408"/>
            <a:ext cx="8869680" cy="566928"/>
          </a:xfrm>
          <a:prstGeom prst="rect">
            <a:avLst/>
          </a:prstGeom>
          <a:noFill/>
        </p:spPr>
        <p:txBody>
          <a:bodyPr wrap="square" anchor="ctr">
            <a:spAutoFit/>
          </a:bodyPr>
          <a:lstStyle/>
          <a:p>
            <a:pPr algn="l">
              <a:lnSpc>
                <a:spcPct val="105000"/>
              </a:lnSpc>
              <a:spcAft>
                <a:spcPts val="600"/>
              </a:spcAft>
            </a:pPr>
            <a:r>
              <a:rPr sz="1450" b="0">
                <a:solidFill>
                  <a:srgbClr val="1A1A2E"/>
                </a:solidFill>
                <a:latin typeface="Calibri"/>
              </a:rPr>
              <a:t>Every step is logged to a full audit trail (Langfuse-style tracing)</a:t>
            </a:r>
          </a:p>
        </p:txBody>
      </p:sp>
      <p:sp>
        <p:nvSpPr>
          <p:cNvPr id="21" name="Rectangle 20"/>
          <p:cNvSpPr/>
          <p:nvPr/>
        </p:nvSpPr>
        <p:spPr>
          <a:xfrm>
            <a:off x="548640" y="5120640"/>
            <a:ext cx="2011680" cy="566928"/>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120640"/>
            <a:ext cx="2011680" cy="566928"/>
          </a:xfrm>
          <a:prstGeom prst="rect">
            <a:avLst/>
          </a:prstGeom>
          <a:noFill/>
        </p:spPr>
        <p:txBody>
          <a:bodyPr wrap="square" anchor="ctr">
            <a:spAutoFit/>
          </a:bodyPr>
          <a:lstStyle/>
          <a:p>
            <a:pPr algn="ctr">
              <a:lnSpc>
                <a:spcPct val="105000"/>
              </a:lnSpc>
              <a:spcAft>
                <a:spcPts val="600"/>
              </a:spcAft>
            </a:pPr>
            <a:r>
              <a:rPr sz="1400" b="1">
                <a:solidFill>
                  <a:srgbClr val="FFFFFF"/>
                </a:solidFill>
                <a:latin typeface="Calibri"/>
              </a:rPr>
              <a:t>ADAPT</a:t>
            </a:r>
          </a:p>
        </p:txBody>
      </p:sp>
      <p:sp>
        <p:nvSpPr>
          <p:cNvPr id="23" name="TextBox 22"/>
          <p:cNvSpPr txBox="1"/>
          <p:nvPr/>
        </p:nvSpPr>
        <p:spPr>
          <a:xfrm>
            <a:off x="2743200" y="5120640"/>
            <a:ext cx="8869680" cy="566928"/>
          </a:xfrm>
          <a:prstGeom prst="rect">
            <a:avLst/>
          </a:prstGeom>
          <a:noFill/>
        </p:spPr>
        <p:txBody>
          <a:bodyPr wrap="square" anchor="ctr">
            <a:spAutoFit/>
          </a:bodyPr>
          <a:lstStyle/>
          <a:p>
            <a:pPr algn="l">
              <a:lnSpc>
                <a:spcPct val="105000"/>
              </a:lnSpc>
              <a:spcAft>
                <a:spcPts val="600"/>
              </a:spcAft>
            </a:pPr>
            <a:r>
              <a:rPr sz="1450" b="0">
                <a:solidFill>
                  <a:srgbClr val="1A1A2E"/>
                </a:solidFill>
                <a:latin typeface="Calibri"/>
              </a:rPr>
              <a:t>If the first plan is poor, the agent discards it and chooses a better one</a:t>
            </a:r>
          </a:p>
        </p:txBody>
      </p:sp>
      <p:sp>
        <p:nvSpPr>
          <p:cNvPr id="24" name="Rectangle 23"/>
          <p:cNvSpPr/>
          <p:nvPr/>
        </p:nvSpPr>
        <p:spPr>
          <a:xfrm>
            <a:off x="548640" y="5897880"/>
            <a:ext cx="11064240" cy="502920"/>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897880"/>
            <a:ext cx="10698480" cy="502920"/>
          </a:xfrm>
          <a:prstGeom prst="rect">
            <a:avLst/>
          </a:prstGeom>
          <a:noFill/>
        </p:spPr>
        <p:txBody>
          <a:bodyPr wrap="square" anchor="ctr">
            <a:spAutoFit/>
          </a:bodyPr>
          <a:lstStyle/>
          <a:p>
            <a:pPr algn="l">
              <a:lnSpc>
                <a:spcPct val="105000"/>
              </a:lnSpc>
              <a:spcAft>
                <a:spcPts val="600"/>
              </a:spcAft>
            </a:pPr>
            <a:r>
              <a:rPr sz="1400" b="1">
                <a:solidFill>
                  <a:srgbClr val="FFFFFF"/>
                </a:solidFill>
                <a:latin typeface="Calibri"/>
              </a:rPr>
              <a:t>Autonomy with accountability: it acts on its own, but pauses at the moments that matter.</a:t>
            </a:r>
          </a:p>
        </p:txBody>
      </p:sp>
      <p:sp>
        <p:nvSpPr>
          <p:cNvPr id="26" name="Rectangle 25"/>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Agentic Thinking and Autonomy (25 pts)</a:t>
            </a:r>
            <a:r>
              <a:rPr sz="1100" b="1">
                <a:solidFill>
                  <a:srgbClr val="0A1F6B"/>
                </a:solidFill>
                <a:latin typeface="Calibri"/>
              </a:rPr>
              <a:t>     |     Handout: </a:t>
            </a:r>
            <a:r>
              <a:rPr sz="1100" b="0">
                <a:solidFill>
                  <a:srgbClr val="555555"/>
                </a:solidFill>
                <a:latin typeface="Calibri"/>
              </a:rPr>
              <a:t>Section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MVP DEMO FLOW</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7. Example run: a live, traceable walkthrough</a:t>
            </a:r>
          </a:p>
        </p:txBody>
      </p:sp>
      <p:sp>
        <p:nvSpPr>
          <p:cNvPr id="5" name="Rectangle 4"/>
          <p:cNvSpPr/>
          <p:nvPr/>
        </p:nvSpPr>
        <p:spPr>
          <a:xfrm>
            <a:off x="548640" y="1243584"/>
            <a:ext cx="2011680" cy="54864"/>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63040"/>
            <a:ext cx="11064240" cy="3566160"/>
          </a:xfrm>
          <a:prstGeom prst="rect">
            <a:avLst/>
          </a:prstGeom>
          <a:noFill/>
        </p:spPr>
        <p:txBody>
          <a:bodyPr wrap="square" anchor="t">
            <a:spAutoFit/>
          </a:bodyPr>
          <a:lstStyle/>
          <a:p>
            <a:pPr algn="l">
              <a:lnSpc>
                <a:spcPct val="108000"/>
              </a:lnSpc>
              <a:spcAft>
                <a:spcPts val="800"/>
              </a:spcAft>
            </a:pPr>
            <a:r>
              <a:rPr sz="1500" b="1">
                <a:solidFill>
                  <a:srgbClr val="6CB400"/>
                </a:solidFill>
                <a:latin typeface="Calibri"/>
              </a:rPr>
              <a:t>•  </a:t>
            </a:r>
            <a:r>
              <a:rPr sz="1500" b="1">
                <a:solidFill>
                  <a:srgbClr val="1A1A2E"/>
                </a:solidFill>
                <a:latin typeface="Calibri"/>
              </a:rPr>
              <a:t>Trigger: </a:t>
            </a:r>
            <a:r>
              <a:rPr sz="1500" b="0">
                <a:solidFill>
                  <a:srgbClr val="1A1A2E"/>
                </a:solidFill>
                <a:latin typeface="Calibri"/>
              </a:rPr>
              <a:t>a typhoon and power cut hit a chip plant in Taiwan.</a:t>
            </a:r>
          </a:p>
          <a:p>
            <a:pPr algn="l">
              <a:lnSpc>
                <a:spcPct val="108000"/>
              </a:lnSpc>
              <a:spcAft>
                <a:spcPts val="800"/>
              </a:spcAft>
            </a:pPr>
            <a:r>
              <a:rPr sz="1500" b="1">
                <a:solidFill>
                  <a:srgbClr val="6CB400"/>
                </a:solidFill>
                <a:latin typeface="Calibri"/>
              </a:rPr>
              <a:t>•  </a:t>
            </a:r>
            <a:r>
              <a:rPr sz="1500" b="1">
                <a:solidFill>
                  <a:srgbClr val="1A1A2E"/>
                </a:solidFill>
                <a:latin typeface="Calibri"/>
              </a:rPr>
              <a:t>Perceive: </a:t>
            </a:r>
            <a:r>
              <a:rPr sz="1500" b="0">
                <a:solidFill>
                  <a:srgbClr val="1A1A2E"/>
                </a:solidFill>
                <a:latin typeface="Calibri"/>
              </a:rPr>
              <a:t>RiskIntel flags the high-severity event from the risk feed.</a:t>
            </a:r>
          </a:p>
          <a:p>
            <a:pPr algn="l">
              <a:lnSpc>
                <a:spcPct val="108000"/>
              </a:lnSpc>
              <a:spcAft>
                <a:spcPts val="800"/>
              </a:spcAft>
            </a:pPr>
            <a:r>
              <a:rPr sz="1500" b="1">
                <a:solidFill>
                  <a:srgbClr val="6CB400"/>
                </a:solidFill>
                <a:latin typeface="Calibri"/>
              </a:rPr>
              <a:t>•  </a:t>
            </a:r>
            <a:r>
              <a:rPr sz="1500" b="1">
                <a:solidFill>
                  <a:srgbClr val="1A1A2E"/>
                </a:solidFill>
                <a:latin typeface="Calibri"/>
              </a:rPr>
              <a:t>Reason: </a:t>
            </a:r>
            <a:r>
              <a:rPr sz="1500" b="0">
                <a:solidFill>
                  <a:srgbClr val="1A1A2E"/>
                </a:solidFill>
                <a:latin typeface="Calibri"/>
              </a:rPr>
              <a:t>SupplierGraph finds the chip is a hidden Tier-2 input to our Stuttgart controllers, a link invisible before.</a:t>
            </a:r>
          </a:p>
          <a:p>
            <a:pPr algn="l">
              <a:lnSpc>
                <a:spcPct val="108000"/>
              </a:lnSpc>
              <a:spcAft>
                <a:spcPts val="800"/>
              </a:spcAft>
            </a:pPr>
            <a:r>
              <a:rPr sz="1500" b="1">
                <a:solidFill>
                  <a:srgbClr val="6CB400"/>
                </a:solidFill>
                <a:latin typeface="Calibri"/>
              </a:rPr>
              <a:t>•  </a:t>
            </a:r>
            <a:r>
              <a:rPr sz="1500" b="1">
                <a:solidFill>
                  <a:srgbClr val="1A1A2E"/>
                </a:solidFill>
                <a:latin typeface="Calibri"/>
              </a:rPr>
              <a:t>Predict: </a:t>
            </a:r>
            <a:r>
              <a:rPr sz="1500" b="0">
                <a:solidFill>
                  <a:srgbClr val="1A1A2E"/>
                </a:solidFill>
                <a:latin typeface="Calibri"/>
              </a:rPr>
              <a:t>the Tier-1 order looks on time but is stuck awaiting that chip; real delay about 19 days against 2 days of stock left, roughly 3 million at risk.</a:t>
            </a:r>
          </a:p>
          <a:p>
            <a:pPr algn="l">
              <a:lnSpc>
                <a:spcPct val="108000"/>
              </a:lnSpc>
              <a:spcAft>
                <a:spcPts val="800"/>
              </a:spcAft>
            </a:pPr>
            <a:r>
              <a:rPr sz="1500" b="1">
                <a:solidFill>
                  <a:srgbClr val="6CB400"/>
                </a:solidFill>
                <a:latin typeface="Calibri"/>
              </a:rPr>
              <a:t>•  </a:t>
            </a:r>
            <a:r>
              <a:rPr sz="1500" b="1">
                <a:solidFill>
                  <a:srgbClr val="1A1A2E"/>
                </a:solidFill>
                <a:latin typeface="Calibri"/>
              </a:rPr>
              <a:t>Adapt: </a:t>
            </a:r>
            <a:r>
              <a:rPr sz="1500" b="0">
                <a:solidFill>
                  <a:srgbClr val="1A1A2E"/>
                </a:solidFill>
                <a:latin typeface="Calibri"/>
              </a:rPr>
              <a:t>it rejects rushing the stuck shipment and switches to a qualified European supplier instead.</a:t>
            </a:r>
          </a:p>
          <a:p>
            <a:pPr algn="l">
              <a:lnSpc>
                <a:spcPct val="108000"/>
              </a:lnSpc>
              <a:spcAft>
                <a:spcPts val="800"/>
              </a:spcAft>
            </a:pPr>
            <a:r>
              <a:rPr sz="1500" b="1">
                <a:solidFill>
                  <a:srgbClr val="6CB400"/>
                </a:solidFill>
                <a:latin typeface="Calibri"/>
              </a:rPr>
              <a:t>•  </a:t>
            </a:r>
            <a:r>
              <a:rPr sz="1500" b="1">
                <a:solidFill>
                  <a:srgbClr val="1A1A2E"/>
                </a:solidFill>
                <a:latin typeface="Calibri"/>
              </a:rPr>
              <a:t>Act + HITL: </a:t>
            </a:r>
            <a:r>
              <a:rPr sz="1500" b="0">
                <a:solidFill>
                  <a:srgbClr val="1A1A2E"/>
                </a:solidFill>
                <a:latin typeface="Calibri"/>
              </a:rPr>
              <a:t>it drafts the PO and pauses for a manager to approve the spend and the schedule change.</a:t>
            </a:r>
          </a:p>
        </p:txBody>
      </p:sp>
      <p:sp>
        <p:nvSpPr>
          <p:cNvPr id="7" name="Rectangle 6"/>
          <p:cNvSpPr/>
          <p:nvPr/>
        </p:nvSpPr>
        <p:spPr>
          <a:xfrm>
            <a:off x="548640" y="5257800"/>
            <a:ext cx="11064240" cy="960120"/>
          </a:xfrm>
          <a:prstGeom prst="rect">
            <a:avLst/>
          </a:prstGeom>
          <a:solidFill>
            <a:srgbClr val="0A1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349240"/>
            <a:ext cx="10698480" cy="777240"/>
          </a:xfrm>
          <a:prstGeom prst="rect">
            <a:avLst/>
          </a:prstGeom>
          <a:noFill/>
        </p:spPr>
        <p:txBody>
          <a:bodyPr wrap="square" anchor="ctr">
            <a:spAutoFit/>
          </a:bodyPr>
          <a:lstStyle/>
          <a:p>
            <a:pPr algn="l">
              <a:lnSpc>
                <a:spcPct val="105000"/>
              </a:lnSpc>
              <a:spcAft>
                <a:spcPts val="600"/>
              </a:spcAft>
            </a:pPr>
            <a:r>
              <a:rPr sz="1400" b="1">
                <a:solidFill>
                  <a:srgbClr val="6CB400"/>
                </a:solidFill>
                <a:latin typeface="Calibri"/>
              </a:rPr>
              <a:t>Runs live and offline: </a:t>
            </a:r>
            <a:r>
              <a:rPr sz="1400" b="0">
                <a:solidFill>
                  <a:srgbClr val="FFFFFF"/>
                </a:solidFill>
                <a:latin typeface="Calibri"/>
              </a:rPr>
              <a:t>python run_demo.py --slow prints the full reasoning trace, both human-approval pauses, and the executive briefing. A 3 million dollar problem caught three weeks early.</a:t>
            </a:r>
          </a:p>
        </p:txBody>
      </p:sp>
      <p:sp>
        <p:nvSpPr>
          <p:cNvPr id="9" name="Rectangle 8"/>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Agentic Thinking and Autonomy (25 pts)</a:t>
            </a:r>
            <a:r>
              <a:rPr sz="1100" b="1">
                <a:solidFill>
                  <a:srgbClr val="0A1F6B"/>
                </a:solidFill>
                <a:latin typeface="Calibri"/>
              </a:rPr>
              <a:t>     |     Handout: </a:t>
            </a:r>
            <a:r>
              <a:rPr sz="1100" b="0">
                <a:solidFill>
                  <a:srgbClr val="555555"/>
                </a:solidFill>
                <a:latin typeface="Calibri"/>
              </a:rPr>
              <a:t>Section 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RISK &amp; GUARDRAILS</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8. Risks, guardrails and human-in-the-loop</a:t>
            </a:r>
          </a:p>
        </p:txBody>
      </p:sp>
      <p:sp>
        <p:nvSpPr>
          <p:cNvPr id="5" name="Rectangle 4"/>
          <p:cNvSpPr/>
          <p:nvPr/>
        </p:nvSpPr>
        <p:spPr>
          <a:xfrm>
            <a:off x="548640" y="1243584"/>
            <a:ext cx="2011680" cy="54864"/>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417320"/>
          <a:ext cx="11064240" cy="3291840"/>
        </p:xfrm>
        <a:graphic>
          <a:graphicData uri="http://schemas.openxmlformats.org/drawingml/2006/table">
            <a:tbl>
              <a:tblPr firstRow="1" bandRow="1">
                <a:tableStyleId>{5C22544A-7EE6-4342-B048-85BDC9FD1C3A}</a:tableStyleId>
              </a:tblPr>
              <a:tblGrid>
                <a:gridCol w="3931920"/>
                <a:gridCol w="7132320"/>
              </a:tblGrid>
              <a:tr h="548640">
                <a:tc>
                  <a:txBody>
                    <a:bodyPr/>
                    <a:lstStyle/>
                    <a:p>
                      <a:r>
                        <a:rPr sz="1350" b="1">
                          <a:solidFill>
                            <a:srgbClr val="FFFFFF"/>
                          </a:solidFill>
                          <a:latin typeface="Calibri"/>
                        </a:rPr>
                        <a:t>Risk</a:t>
                      </a:r>
                    </a:p>
                  </a:txBody>
                  <a:tcPr>
                    <a:solidFill>
                      <a:srgbClr val="0A1F6B"/>
                    </a:solidFill>
                  </a:tcPr>
                </a:tc>
                <a:tc>
                  <a:txBody>
                    <a:bodyPr/>
                    <a:lstStyle/>
                    <a:p>
                      <a:r>
                        <a:rPr sz="1350" b="1">
                          <a:solidFill>
                            <a:srgbClr val="FFFFFF"/>
                          </a:solidFill>
                          <a:latin typeface="Calibri"/>
                        </a:rPr>
                        <a:t>Guardrail / mitigation</a:t>
                      </a:r>
                    </a:p>
                  </a:txBody>
                  <a:tcPr>
                    <a:solidFill>
                      <a:srgbClr val="0A1F6B"/>
                    </a:solidFill>
                  </a:tcPr>
                </a:tc>
              </a:tr>
              <a:tr h="548640">
                <a:tc>
                  <a:txBody>
                    <a:bodyPr/>
                    <a:lstStyle/>
                    <a:p>
                      <a:r>
                        <a:rPr sz="1350">
                          <a:solidFill>
                            <a:srgbClr val="1A1A2E"/>
                          </a:solidFill>
                          <a:latin typeface="Calibri"/>
                        </a:rPr>
                        <a:t>Wrong or irreversible action</a:t>
                      </a:r>
                    </a:p>
                  </a:txBody>
                  <a:tcPr>
                    <a:solidFill>
                      <a:srgbClr val="FFFFFF"/>
                    </a:solidFill>
                  </a:tcPr>
                </a:tc>
                <a:tc>
                  <a:txBody>
                    <a:bodyPr/>
                    <a:lstStyle/>
                    <a:p>
                      <a:r>
                        <a:rPr sz="1350">
                          <a:solidFill>
                            <a:srgbClr val="1A1A2E"/>
                          </a:solidFill>
                          <a:latin typeface="Calibri"/>
                        </a:rPr>
                        <a:t>Costly or live-system writes require human approval</a:t>
                      </a:r>
                    </a:p>
                  </a:txBody>
                  <a:tcPr>
                    <a:solidFill>
                      <a:srgbClr val="FFFFFF"/>
                    </a:solidFill>
                  </a:tcPr>
                </a:tc>
              </a:tr>
              <a:tr h="548640">
                <a:tc>
                  <a:txBody>
                    <a:bodyPr/>
                    <a:lstStyle/>
                    <a:p>
                      <a:r>
                        <a:rPr sz="1350">
                          <a:solidFill>
                            <a:srgbClr val="1A1A2E"/>
                          </a:solidFill>
                          <a:latin typeface="Calibri"/>
                        </a:rPr>
                        <a:t>Hallucinated disruption</a:t>
                      </a:r>
                    </a:p>
                  </a:txBody>
                  <a:tcPr>
                    <a:solidFill>
                      <a:srgbClr val="F2F4F8"/>
                    </a:solidFill>
                  </a:tcPr>
                </a:tc>
                <a:tc>
                  <a:txBody>
                    <a:bodyPr/>
                    <a:lstStyle/>
                    <a:p>
                      <a:r>
                        <a:rPr sz="1350">
                          <a:solidFill>
                            <a:srgbClr val="1A1A2E"/>
                          </a:solidFill>
                          <a:latin typeface="Calibri"/>
                        </a:rPr>
                        <a:t>Acts only on confirmed feed data, never on guesses</a:t>
                      </a:r>
                    </a:p>
                  </a:txBody>
                  <a:tcPr>
                    <a:solidFill>
                      <a:srgbClr val="F2F4F8"/>
                    </a:solidFill>
                  </a:tcPr>
                </a:tc>
              </a:tr>
              <a:tr h="548640">
                <a:tc>
                  <a:txBody>
                    <a:bodyPr/>
                    <a:lstStyle/>
                    <a:p>
                      <a:r>
                        <a:rPr sz="1350">
                          <a:solidFill>
                            <a:srgbClr val="1A1A2E"/>
                          </a:solidFill>
                          <a:latin typeface="Calibri"/>
                        </a:rPr>
                        <a:t>Over-spend</a:t>
                      </a:r>
                    </a:p>
                  </a:txBody>
                  <a:tcPr>
                    <a:solidFill>
                      <a:srgbClr val="FFFFFF"/>
                    </a:solidFill>
                  </a:tcPr>
                </a:tc>
                <a:tc>
                  <a:txBody>
                    <a:bodyPr/>
                    <a:lstStyle/>
                    <a:p>
                      <a:r>
                        <a:rPr sz="1350">
                          <a:solidFill>
                            <a:srgbClr val="1A1A2E"/>
                          </a:solidFill>
                          <a:latin typeface="Calibri"/>
                        </a:rPr>
                        <a:t>Hard spending limit; orders only to pre-qualified suppliers</a:t>
                      </a:r>
                    </a:p>
                  </a:txBody>
                  <a:tcPr>
                    <a:solidFill>
                      <a:srgbClr val="FFFFFF"/>
                    </a:solidFill>
                  </a:tcPr>
                </a:tc>
              </a:tr>
              <a:tr h="548640">
                <a:tc>
                  <a:txBody>
                    <a:bodyPr/>
                    <a:lstStyle/>
                    <a:p>
                      <a:r>
                        <a:rPr sz="1350">
                          <a:solidFill>
                            <a:srgbClr val="1A1A2E"/>
                          </a:solidFill>
                          <a:latin typeface="Calibri"/>
                        </a:rPr>
                        <a:t>Prompt injection</a:t>
                      </a:r>
                    </a:p>
                  </a:txBody>
                  <a:tcPr>
                    <a:solidFill>
                      <a:srgbClr val="F2F4F8"/>
                    </a:solidFill>
                  </a:tcPr>
                </a:tc>
                <a:tc>
                  <a:txBody>
                    <a:bodyPr/>
                    <a:lstStyle/>
                    <a:p>
                      <a:r>
                        <a:rPr sz="1350">
                          <a:solidFill>
                            <a:srgbClr val="1A1A2E"/>
                          </a:solidFill>
                          <a:latin typeface="Calibri"/>
                        </a:rPr>
                        <a:t>External text treated as data, never as commands</a:t>
                      </a:r>
                    </a:p>
                  </a:txBody>
                  <a:tcPr>
                    <a:solidFill>
                      <a:srgbClr val="F2F4F8"/>
                    </a:solidFill>
                  </a:tcPr>
                </a:tc>
              </a:tr>
              <a:tr h="548640">
                <a:tc>
                  <a:txBody>
                    <a:bodyPr/>
                    <a:lstStyle/>
                    <a:p>
                      <a:r>
                        <a:rPr sz="1350">
                          <a:solidFill>
                            <a:srgbClr val="1A1A2E"/>
                          </a:solidFill>
                          <a:latin typeface="Calibri"/>
                        </a:rPr>
                        <a:t>Stale or missing data</a:t>
                      </a:r>
                    </a:p>
                  </a:txBody>
                  <a:tcPr>
                    <a:solidFill>
                      <a:srgbClr val="FFFFFF"/>
                    </a:solidFill>
                  </a:tcPr>
                </a:tc>
                <a:tc>
                  <a:txBody>
                    <a:bodyPr/>
                    <a:lstStyle/>
                    <a:p>
                      <a:r>
                        <a:rPr sz="1350">
                          <a:solidFill>
                            <a:srgbClr val="1A1A2E"/>
                          </a:solidFill>
                          <a:latin typeface="Calibri"/>
                        </a:rPr>
                        <a:t>Confidence flags and as-of timestamps on every input</a:t>
                      </a:r>
                    </a:p>
                  </a:txBody>
                  <a:tcPr>
                    <a:solidFill>
                      <a:srgbClr val="FFFFFF"/>
                    </a:solidFill>
                  </a:tcPr>
                </a:tc>
              </a:tr>
            </a:tbl>
          </a:graphicData>
        </a:graphic>
      </p:graphicFrame>
      <p:sp>
        <p:nvSpPr>
          <p:cNvPr id="7" name="Rectangle 6"/>
          <p:cNvSpPr/>
          <p:nvPr/>
        </p:nvSpPr>
        <p:spPr>
          <a:xfrm>
            <a:off x="548640" y="5166360"/>
            <a:ext cx="11064240" cy="960120"/>
          </a:xfrm>
          <a:prstGeom prst="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257800"/>
            <a:ext cx="10698480" cy="777240"/>
          </a:xfrm>
          <a:prstGeom prst="rect">
            <a:avLst/>
          </a:prstGeom>
          <a:noFill/>
        </p:spPr>
        <p:txBody>
          <a:bodyPr wrap="square" anchor="ctr">
            <a:spAutoFit/>
          </a:bodyPr>
          <a:lstStyle/>
          <a:p>
            <a:pPr algn="l">
              <a:lnSpc>
                <a:spcPct val="105000"/>
              </a:lnSpc>
              <a:spcAft>
                <a:spcPts val="600"/>
              </a:spcAft>
            </a:pPr>
            <a:r>
              <a:rPr sz="1400" b="1">
                <a:solidFill>
                  <a:srgbClr val="C02A2A"/>
                </a:solidFill>
                <a:latin typeface="Calibri"/>
              </a:rPr>
              <a:t>Human-in-the-loop points: </a:t>
            </a:r>
            <a:r>
              <a:rPr sz="1400" b="0">
                <a:solidFill>
                  <a:srgbClr val="1A1A2E"/>
                </a:solidFill>
                <a:latin typeface="Calibri"/>
              </a:rPr>
              <a:t>committing spend over the limit, booking expedited freight, and changing a live production schedule. Everything else runs autonomously and is fully logged.</a:t>
            </a:r>
          </a:p>
        </p:txBody>
      </p:sp>
      <p:sp>
        <p:nvSpPr>
          <p:cNvPr id="9" name="Rectangle 8"/>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Risk Awareness and Mitigation (15 pts)</a:t>
            </a:r>
            <a:r>
              <a:rPr sz="1100" b="1">
                <a:solidFill>
                  <a:srgbClr val="0A1F6B"/>
                </a:solidFill>
                <a:latin typeface="Calibri"/>
              </a:rPr>
              <a:t>     |     Handout: </a:t>
            </a:r>
            <a:r>
              <a:rPr sz="1100" b="0">
                <a:solidFill>
                  <a:srgbClr val="555555"/>
                </a:solidFill>
                <a:latin typeface="Calibri"/>
              </a:rPr>
              <a:t>Section 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TECHNOLOGY STACK</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9. Resources and technology stack</a:t>
            </a:r>
          </a:p>
        </p:txBody>
      </p:sp>
      <p:sp>
        <p:nvSpPr>
          <p:cNvPr id="5" name="Rectangle 4"/>
          <p:cNvSpPr/>
          <p:nvPr/>
        </p:nvSpPr>
        <p:spPr>
          <a:xfrm>
            <a:off x="548640" y="1243584"/>
            <a:ext cx="2011680" cy="54864"/>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463040"/>
          <a:ext cx="11064240" cy="3401568"/>
        </p:xfrm>
        <a:graphic>
          <a:graphicData uri="http://schemas.openxmlformats.org/drawingml/2006/table">
            <a:tbl>
              <a:tblPr firstRow="1" bandRow="1">
                <a:tableStyleId>{5C22544A-7EE6-4342-B048-85BDC9FD1C3A}</a:tableStyleId>
              </a:tblPr>
              <a:tblGrid>
                <a:gridCol w="1920240"/>
                <a:gridCol w="4572000"/>
                <a:gridCol w="4572000"/>
              </a:tblGrid>
              <a:tr h="566928">
                <a:tc>
                  <a:txBody>
                    <a:bodyPr/>
                    <a:lstStyle/>
                    <a:p>
                      <a:r>
                        <a:rPr sz="1250" b="1">
                          <a:solidFill>
                            <a:srgbClr val="FFFFFF"/>
                          </a:solidFill>
                          <a:latin typeface="Calibri"/>
                        </a:rPr>
                        <a:t>Choice</a:t>
                      </a:r>
                    </a:p>
                  </a:txBody>
                  <a:tcPr>
                    <a:solidFill>
                      <a:srgbClr val="0A1F6B"/>
                    </a:solidFill>
                  </a:tcPr>
                </a:tc>
                <a:tc>
                  <a:txBody>
                    <a:bodyPr/>
                    <a:lstStyle/>
                    <a:p>
                      <a:r>
                        <a:rPr sz="1250" b="1">
                          <a:solidFill>
                            <a:srgbClr val="FFFFFF"/>
                          </a:solidFill>
                          <a:latin typeface="Calibri"/>
                        </a:rPr>
                        <a:t>What</a:t>
                      </a:r>
                    </a:p>
                  </a:txBody>
                  <a:tcPr>
                    <a:solidFill>
                      <a:srgbClr val="0A1F6B"/>
                    </a:solidFill>
                  </a:tcPr>
                </a:tc>
                <a:tc>
                  <a:txBody>
                    <a:bodyPr/>
                    <a:lstStyle/>
                    <a:p>
                      <a:r>
                        <a:rPr sz="1250" b="1">
                          <a:solidFill>
                            <a:srgbClr val="FFFFFF"/>
                          </a:solidFill>
                          <a:latin typeface="Calibri"/>
                        </a:rPr>
                        <a:t>Why</a:t>
                      </a:r>
                    </a:p>
                  </a:txBody>
                  <a:tcPr>
                    <a:solidFill>
                      <a:srgbClr val="0A1F6B"/>
                    </a:solidFill>
                  </a:tcPr>
                </a:tc>
              </a:tr>
              <a:tr h="566928">
                <a:tc>
                  <a:txBody>
                    <a:bodyPr/>
                    <a:lstStyle/>
                    <a:p>
                      <a:r>
                        <a:rPr sz="1250">
                          <a:solidFill>
                            <a:srgbClr val="1A1A2E"/>
                          </a:solidFill>
                          <a:latin typeface="Calibri"/>
                        </a:rPr>
                        <a:t>LLM</a:t>
                      </a:r>
                    </a:p>
                  </a:txBody>
                  <a:tcPr>
                    <a:solidFill>
                      <a:srgbClr val="FFFFFF"/>
                    </a:solidFill>
                  </a:tcPr>
                </a:tc>
                <a:tc>
                  <a:txBody>
                    <a:bodyPr/>
                    <a:lstStyle/>
                    <a:p>
                      <a:r>
                        <a:rPr sz="1250">
                          <a:solidFill>
                            <a:srgbClr val="1A1A2E"/>
                          </a:solidFill>
                          <a:latin typeface="Calibri"/>
                        </a:rPr>
                        <a:t>Claude (Opus 4.8 for reasoning, Haiku for cheap scanning)</a:t>
                      </a:r>
                    </a:p>
                  </a:txBody>
                  <a:tcPr>
                    <a:solidFill>
                      <a:srgbClr val="FFFFFF"/>
                    </a:solidFill>
                  </a:tcPr>
                </a:tc>
                <a:tc>
                  <a:txBody>
                    <a:bodyPr/>
                    <a:lstStyle/>
                    <a:p>
                      <a:r>
                        <a:rPr sz="1250">
                          <a:solidFill>
                            <a:srgbClr val="1A1A2E"/>
                          </a:solidFill>
                          <a:latin typeface="Calibri"/>
                        </a:rPr>
                        <a:t>Strong tool-use and reasoning; model-agnostic layer lets us swap</a:t>
                      </a:r>
                    </a:p>
                  </a:txBody>
                  <a:tcPr>
                    <a:solidFill>
                      <a:srgbClr val="FFFFFF"/>
                    </a:solidFill>
                  </a:tcPr>
                </a:tc>
              </a:tr>
              <a:tr h="566928">
                <a:tc>
                  <a:txBody>
                    <a:bodyPr/>
                    <a:lstStyle/>
                    <a:p>
                      <a:r>
                        <a:rPr sz="1250">
                          <a:solidFill>
                            <a:srgbClr val="1A1A2E"/>
                          </a:solidFill>
                          <a:latin typeface="Calibri"/>
                        </a:rPr>
                        <a:t>Cloud</a:t>
                      </a:r>
                    </a:p>
                  </a:txBody>
                  <a:tcPr>
                    <a:solidFill>
                      <a:srgbClr val="F2F4F8"/>
                    </a:solidFill>
                  </a:tcPr>
                </a:tc>
                <a:tc>
                  <a:txBody>
                    <a:bodyPr/>
                    <a:lstStyle/>
                    <a:p>
                      <a:r>
                        <a:rPr sz="1250">
                          <a:solidFill>
                            <a:srgbClr val="1A1A2E"/>
                          </a:solidFill>
                          <a:latin typeface="Calibri"/>
                        </a:rPr>
                        <a:t>AWS Bedrock / multi-cloud (Bedrock + Vertex)</a:t>
                      </a:r>
                    </a:p>
                  </a:txBody>
                  <a:tcPr>
                    <a:solidFill>
                      <a:srgbClr val="F2F4F8"/>
                    </a:solidFill>
                  </a:tcPr>
                </a:tc>
                <a:tc>
                  <a:txBody>
                    <a:bodyPr/>
                    <a:lstStyle/>
                    <a:p>
                      <a:r>
                        <a:rPr sz="1250">
                          <a:solidFill>
                            <a:srgbClr val="1A1A2E"/>
                          </a:solidFill>
                          <a:latin typeface="Calibri"/>
                        </a:rPr>
                        <a:t>Keeps data in our own tenant; avoids single-vendor lock-in</a:t>
                      </a:r>
                    </a:p>
                  </a:txBody>
                  <a:tcPr>
                    <a:solidFill>
                      <a:srgbClr val="F2F4F8"/>
                    </a:solidFill>
                  </a:tcPr>
                </a:tc>
              </a:tr>
              <a:tr h="566928">
                <a:tc>
                  <a:txBody>
                    <a:bodyPr/>
                    <a:lstStyle/>
                    <a:p>
                      <a:r>
                        <a:rPr sz="1250">
                          <a:solidFill>
                            <a:srgbClr val="1A1A2E"/>
                          </a:solidFill>
                          <a:latin typeface="Calibri"/>
                        </a:rPr>
                        <a:t>Language</a:t>
                      </a:r>
                    </a:p>
                  </a:txBody>
                  <a:tcPr>
                    <a:solidFill>
                      <a:srgbClr val="FFFFFF"/>
                    </a:solidFill>
                  </a:tcPr>
                </a:tc>
                <a:tc>
                  <a:txBody>
                    <a:bodyPr/>
                    <a:lstStyle/>
                    <a:p>
                      <a:r>
                        <a:rPr sz="1250">
                          <a:solidFill>
                            <a:srgbClr val="1A1A2E"/>
                          </a:solidFill>
                          <a:latin typeface="Calibri"/>
                        </a:rPr>
                        <a:t>Python</a:t>
                      </a:r>
                    </a:p>
                  </a:txBody>
                  <a:tcPr>
                    <a:solidFill>
                      <a:srgbClr val="FFFFFF"/>
                    </a:solidFill>
                  </a:tcPr>
                </a:tc>
                <a:tc>
                  <a:txBody>
                    <a:bodyPr/>
                    <a:lstStyle/>
                    <a:p>
                      <a:r>
                        <a:rPr sz="1250">
                          <a:solidFill>
                            <a:srgbClr val="1A1A2E"/>
                          </a:solidFill>
                          <a:latin typeface="Calibri"/>
                        </a:rPr>
                        <a:t>Richest agent ecosystem; the MVP is pure-Python and runs offline</a:t>
                      </a:r>
                    </a:p>
                  </a:txBody>
                  <a:tcPr>
                    <a:solidFill>
                      <a:srgbClr val="FFFFFF"/>
                    </a:solidFill>
                  </a:tcPr>
                </a:tc>
              </a:tr>
              <a:tr h="566928">
                <a:tc>
                  <a:txBody>
                    <a:bodyPr/>
                    <a:lstStyle/>
                    <a:p>
                      <a:r>
                        <a:rPr sz="1250">
                          <a:solidFill>
                            <a:srgbClr val="1A1A2E"/>
                          </a:solidFill>
                          <a:latin typeface="Calibri"/>
                        </a:rPr>
                        <a:t>Interop</a:t>
                      </a:r>
                    </a:p>
                  </a:txBody>
                  <a:tcPr>
                    <a:solidFill>
                      <a:srgbClr val="F2F4F8"/>
                    </a:solidFill>
                  </a:tcPr>
                </a:tc>
                <a:tc>
                  <a:txBody>
                    <a:bodyPr/>
                    <a:lstStyle/>
                    <a:p>
                      <a:r>
                        <a:rPr sz="1250">
                          <a:solidFill>
                            <a:srgbClr val="1A1A2E"/>
                          </a:solidFill>
                          <a:latin typeface="Calibri"/>
                        </a:rPr>
                        <a:t>MCP for tools, A2A for agent-to-agent</a:t>
                      </a:r>
                    </a:p>
                  </a:txBody>
                  <a:tcPr>
                    <a:solidFill>
                      <a:srgbClr val="F2F4F8"/>
                    </a:solidFill>
                  </a:tcPr>
                </a:tc>
                <a:tc>
                  <a:txBody>
                    <a:bodyPr/>
                    <a:lstStyle/>
                    <a:p>
                      <a:r>
                        <a:rPr sz="1250">
                          <a:solidFill>
                            <a:srgbClr val="1A1A2E"/>
                          </a:solidFill>
                          <a:latin typeface="Calibri"/>
                        </a:rPr>
                        <a:t>Open standards so tools and agents stay portable</a:t>
                      </a:r>
                    </a:p>
                  </a:txBody>
                  <a:tcPr>
                    <a:solidFill>
                      <a:srgbClr val="F2F4F8"/>
                    </a:solidFill>
                  </a:tcPr>
                </a:tc>
              </a:tr>
              <a:tr h="566928">
                <a:tc>
                  <a:txBody>
                    <a:bodyPr/>
                    <a:lstStyle/>
                    <a:p>
                      <a:r>
                        <a:rPr sz="1250">
                          <a:solidFill>
                            <a:srgbClr val="1A1A2E"/>
                          </a:solidFill>
                          <a:latin typeface="Calibri"/>
                        </a:rPr>
                        <a:t>Observability</a:t>
                      </a:r>
                    </a:p>
                  </a:txBody>
                  <a:tcPr>
                    <a:solidFill>
                      <a:srgbClr val="FFFFFF"/>
                    </a:solidFill>
                  </a:tcPr>
                </a:tc>
                <a:tc>
                  <a:txBody>
                    <a:bodyPr/>
                    <a:lstStyle/>
                    <a:p>
                      <a:r>
                        <a:rPr sz="1250">
                          <a:solidFill>
                            <a:srgbClr val="1A1A2E"/>
                          </a:solidFill>
                          <a:latin typeface="Calibri"/>
                        </a:rPr>
                        <a:t>Langfuse / LangSmith-style tracing</a:t>
                      </a:r>
                    </a:p>
                  </a:txBody>
                  <a:tcPr>
                    <a:solidFill>
                      <a:srgbClr val="FFFFFF"/>
                    </a:solidFill>
                  </a:tcPr>
                </a:tc>
                <a:tc>
                  <a:txBody>
                    <a:bodyPr/>
                    <a:lstStyle/>
                    <a:p>
                      <a:r>
                        <a:rPr sz="1250">
                          <a:solidFill>
                            <a:srgbClr val="1A1A2E"/>
                          </a:solidFill>
                          <a:latin typeface="Calibri"/>
                        </a:rPr>
                        <a:t>Every decision is logged for audit and debugging</a:t>
                      </a:r>
                    </a:p>
                  </a:txBody>
                  <a:tcPr>
                    <a:solidFill>
                      <a:srgbClr val="FFFFFF"/>
                    </a:solidFill>
                  </a:tcPr>
                </a:tc>
              </a:tr>
            </a:tbl>
          </a:graphicData>
        </a:graphic>
      </p:graphicFrame>
      <p:sp>
        <p:nvSpPr>
          <p:cNvPr id="7" name="Rectangle 6"/>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Architecture (10 pts) + Feasibility (15 pts)</a:t>
            </a:r>
            <a:r>
              <a:rPr sz="1100" b="1">
                <a:solidFill>
                  <a:srgbClr val="0A1F6B"/>
                </a:solidFill>
                <a:latin typeface="Calibri"/>
              </a:rPr>
              <a:t>     |     Handout: </a:t>
            </a:r>
            <a:r>
              <a:rPr sz="1100" b="0">
                <a:solidFill>
                  <a:srgbClr val="555555"/>
                </a:solidFill>
                <a:latin typeface="Calibri"/>
              </a:rPr>
              <a:t>Section 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BENEFITS &amp; OUTCOMES</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10. Benefits and desired outcomes</a:t>
            </a:r>
          </a:p>
        </p:txBody>
      </p:sp>
      <p:sp>
        <p:nvSpPr>
          <p:cNvPr id="5" name="Rectangle 4"/>
          <p:cNvSpPr/>
          <p:nvPr/>
        </p:nvSpPr>
        <p:spPr>
          <a:xfrm>
            <a:off x="548640" y="1243584"/>
            <a:ext cx="2011680" cy="54864"/>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554480"/>
          <a:ext cx="11064240" cy="2743200"/>
        </p:xfrm>
        <a:graphic>
          <a:graphicData uri="http://schemas.openxmlformats.org/drawingml/2006/table">
            <a:tbl>
              <a:tblPr firstRow="1" bandRow="1">
                <a:tableStyleId>{5C22544A-7EE6-4342-B048-85BDC9FD1C3A}</a:tableStyleId>
              </a:tblPr>
              <a:tblGrid>
                <a:gridCol w="5486400"/>
                <a:gridCol w="5577840"/>
              </a:tblGrid>
              <a:tr h="548640">
                <a:tc>
                  <a:txBody>
                    <a:bodyPr/>
                    <a:lstStyle/>
                    <a:p>
                      <a:r>
                        <a:rPr sz="1500" b="1">
                          <a:solidFill>
                            <a:srgbClr val="FFFFFF"/>
                          </a:solidFill>
                          <a:latin typeface="Calibri"/>
                        </a:rPr>
                        <a:t>Today</a:t>
                      </a:r>
                    </a:p>
                  </a:txBody>
                  <a:tcPr>
                    <a:solidFill>
                      <a:srgbClr val="0A1F6B"/>
                    </a:solidFill>
                  </a:tcPr>
                </a:tc>
                <a:tc>
                  <a:txBody>
                    <a:bodyPr/>
                    <a:lstStyle/>
                    <a:p>
                      <a:r>
                        <a:rPr sz="1500" b="1">
                          <a:solidFill>
                            <a:srgbClr val="FFFFFF"/>
                          </a:solidFill>
                          <a:latin typeface="Calibri"/>
                        </a:rPr>
                        <a:t>With the Sentinel</a:t>
                      </a:r>
                    </a:p>
                  </a:txBody>
                  <a:tcPr>
                    <a:solidFill>
                      <a:srgbClr val="0A1F6B"/>
                    </a:solidFill>
                  </a:tcPr>
                </a:tc>
              </a:tr>
              <a:tr h="548640">
                <a:tc>
                  <a:txBody>
                    <a:bodyPr/>
                    <a:lstStyle/>
                    <a:p>
                      <a:r>
                        <a:rPr sz="1500">
                          <a:solidFill>
                            <a:srgbClr val="1A1A2E"/>
                          </a:solidFill>
                          <a:latin typeface="Calibri"/>
                        </a:rPr>
                        <a:t>Problems found after the line stops</a:t>
                      </a:r>
                    </a:p>
                  </a:txBody>
                  <a:tcPr>
                    <a:solidFill>
                      <a:srgbClr val="FFFFFF"/>
                    </a:solidFill>
                  </a:tcPr>
                </a:tc>
                <a:tc>
                  <a:txBody>
                    <a:bodyPr/>
                    <a:lstStyle/>
                    <a:p>
                      <a:r>
                        <a:rPr sz="1500">
                          <a:solidFill>
                            <a:srgbClr val="1A1A2E"/>
                          </a:solidFill>
                          <a:latin typeface="Calibri"/>
                        </a:rPr>
                        <a:t>Caught about three weeks earlier</a:t>
                      </a:r>
                    </a:p>
                  </a:txBody>
                  <a:tcPr>
                    <a:solidFill>
                      <a:srgbClr val="FFFFFF"/>
                    </a:solidFill>
                  </a:tcPr>
                </a:tc>
              </a:tr>
              <a:tr h="548640">
                <a:tc>
                  <a:txBody>
                    <a:bodyPr/>
                    <a:lstStyle/>
                    <a:p>
                      <a:r>
                        <a:rPr sz="1500">
                          <a:solidFill>
                            <a:srgbClr val="1A1A2E"/>
                          </a:solidFill>
                          <a:latin typeface="Calibri"/>
                        </a:rPr>
                        <a:t>Static, unreliable promised dates</a:t>
                      </a:r>
                    </a:p>
                  </a:txBody>
                  <a:tcPr>
                    <a:solidFill>
                      <a:srgbClr val="F2F4F8"/>
                    </a:solidFill>
                  </a:tcPr>
                </a:tc>
                <a:tc>
                  <a:txBody>
                    <a:bodyPr/>
                    <a:lstStyle/>
                    <a:p>
                      <a:r>
                        <a:rPr sz="1500">
                          <a:solidFill>
                            <a:srgbClr val="1A1A2E"/>
                          </a:solidFill>
                          <a:latin typeface="Calibri"/>
                        </a:rPr>
                        <a:t>Real-time ETA and cost of delay</a:t>
                      </a:r>
                    </a:p>
                  </a:txBody>
                  <a:tcPr>
                    <a:solidFill>
                      <a:srgbClr val="F2F4F8"/>
                    </a:solidFill>
                  </a:tcPr>
                </a:tc>
              </a:tr>
              <a:tr h="548640">
                <a:tc>
                  <a:txBody>
                    <a:bodyPr/>
                    <a:lstStyle/>
                    <a:p>
                      <a:r>
                        <a:rPr sz="1500">
                          <a:solidFill>
                            <a:srgbClr val="1A1A2E"/>
                          </a:solidFill>
                          <a:latin typeface="Calibri"/>
                        </a:rPr>
                        <a:t>Expensive last-minute freight</a:t>
                      </a:r>
                    </a:p>
                  </a:txBody>
                  <a:tcPr>
                    <a:solidFill>
                      <a:srgbClr val="FFFFFF"/>
                    </a:solidFill>
                  </a:tcPr>
                </a:tc>
                <a:tc>
                  <a:txBody>
                    <a:bodyPr/>
                    <a:lstStyle/>
                    <a:p>
                      <a:r>
                        <a:rPr sz="1500">
                          <a:solidFill>
                            <a:srgbClr val="1A1A2E"/>
                          </a:solidFill>
                          <a:latin typeface="Calibri"/>
                        </a:rPr>
                        <a:t>Planned, lower-cost fixes</a:t>
                      </a:r>
                    </a:p>
                  </a:txBody>
                  <a:tcPr>
                    <a:solidFill>
                      <a:srgbClr val="FFFFFF"/>
                    </a:solidFill>
                  </a:tcPr>
                </a:tc>
              </a:tr>
              <a:tr h="548640">
                <a:tc>
                  <a:txBody>
                    <a:bodyPr/>
                    <a:lstStyle/>
                    <a:p>
                      <a:r>
                        <a:rPr sz="1500">
                          <a:solidFill>
                            <a:srgbClr val="1A1A2E"/>
                          </a:solidFill>
                          <a:latin typeface="Calibri"/>
                        </a:rPr>
                        <a:t>Thousands of unsorted alerts</a:t>
                      </a:r>
                    </a:p>
                  </a:txBody>
                  <a:tcPr>
                    <a:solidFill>
                      <a:srgbClr val="F2F4F8"/>
                    </a:solidFill>
                  </a:tcPr>
                </a:tc>
                <a:tc>
                  <a:txBody>
                    <a:bodyPr/>
                    <a:lstStyle/>
                    <a:p>
                      <a:r>
                        <a:rPr sz="1500">
                          <a:solidFill>
                            <a:srgbClr val="1A1A2E"/>
                          </a:solidFill>
                          <a:latin typeface="Calibri"/>
                        </a:rPr>
                        <a:t>A short, prioritised risk list</a:t>
                      </a:r>
                    </a:p>
                  </a:txBody>
                  <a:tcPr>
                    <a:solidFill>
                      <a:srgbClr val="F2F4F8"/>
                    </a:solidFill>
                  </a:tcPr>
                </a:tc>
              </a:tr>
            </a:tbl>
          </a:graphicData>
        </a:graphic>
      </p:graphicFrame>
      <p:sp>
        <p:nvSpPr>
          <p:cNvPr id="7" name="Rectangle 6"/>
          <p:cNvSpPr/>
          <p:nvPr/>
        </p:nvSpPr>
        <p:spPr>
          <a:xfrm>
            <a:off x="548640" y="4572000"/>
            <a:ext cx="11064240" cy="960120"/>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0"/>
            <a:ext cx="10698480" cy="960120"/>
          </a:xfrm>
          <a:prstGeom prst="rect">
            <a:avLst/>
          </a:prstGeom>
          <a:noFill/>
        </p:spPr>
        <p:txBody>
          <a:bodyPr wrap="square" anchor="ctr">
            <a:spAutoFit/>
          </a:bodyPr>
          <a:lstStyle/>
          <a:p>
            <a:pPr algn="l">
              <a:lnSpc>
                <a:spcPct val="105000"/>
              </a:lnSpc>
              <a:spcAft>
                <a:spcPts val="600"/>
              </a:spcAft>
            </a:pPr>
            <a:r>
              <a:rPr sz="1700" b="1">
                <a:solidFill>
                  <a:srgbClr val="FFFFFF"/>
                </a:solidFill>
                <a:latin typeface="Calibri"/>
              </a:rPr>
              <a:t>Target impact: </a:t>
            </a:r>
            <a:r>
              <a:rPr sz="1700" b="0">
                <a:solidFill>
                  <a:srgbClr val="FFFFFF"/>
                </a:solidFill>
                <a:latin typeface="Calibri"/>
              </a:rPr>
              <a:t>protect the 14 million dollar quarterly loss, cut expedited freight by about a third, and turn days of analysis into minutes.</a:t>
            </a:r>
          </a:p>
        </p:txBody>
      </p:sp>
      <p:sp>
        <p:nvSpPr>
          <p:cNvPr id="9" name="Rectangle 8"/>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Problem Framing, measurable value (15 pts)</a:t>
            </a:r>
            <a:r>
              <a:rPr sz="1100" b="1">
                <a:solidFill>
                  <a:srgbClr val="0A1F6B"/>
                </a:solidFill>
                <a:latin typeface="Calibri"/>
              </a:rPr>
              <a:t>     |     Handout: </a:t>
            </a:r>
            <a:r>
              <a:rPr sz="1100" b="0">
                <a:solidFill>
                  <a:srgbClr val="555555"/>
                </a:solidFill>
                <a:latin typeface="Calibri"/>
              </a:rPr>
              <a:t>Section 1 metrics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NEXT STEPS</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11. Next steps and improvements</a:t>
            </a:r>
          </a:p>
        </p:txBody>
      </p:sp>
      <p:sp>
        <p:nvSpPr>
          <p:cNvPr id="5" name="Rectangle 4"/>
          <p:cNvSpPr/>
          <p:nvPr/>
        </p:nvSpPr>
        <p:spPr>
          <a:xfrm>
            <a:off x="548640" y="1243584"/>
            <a:ext cx="2011680" cy="54864"/>
          </a:xfrm>
          <a:prstGeom prst="rect">
            <a:avLst/>
          </a:prstGeom>
          <a:solidFill>
            <a:srgbClr val="6C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54480"/>
            <a:ext cx="11064240" cy="2743200"/>
          </a:xfrm>
          <a:prstGeom prst="rect">
            <a:avLst/>
          </a:prstGeom>
          <a:noFill/>
        </p:spPr>
        <p:txBody>
          <a:bodyPr wrap="square" anchor="t">
            <a:spAutoFit/>
          </a:bodyPr>
          <a:lstStyle/>
          <a:p>
            <a:pPr algn="l">
              <a:lnSpc>
                <a:spcPct val="108000"/>
              </a:lnSpc>
              <a:spcAft>
                <a:spcPts val="1200"/>
              </a:spcAft>
            </a:pPr>
            <a:r>
              <a:rPr sz="1700" b="1">
                <a:solidFill>
                  <a:srgbClr val="6CB400"/>
                </a:solidFill>
                <a:latin typeface="Calibri"/>
              </a:rPr>
              <a:t>•  </a:t>
            </a:r>
            <a:r>
              <a:rPr sz="1700" b="1">
                <a:solidFill>
                  <a:srgbClr val="1A1A2E"/>
                </a:solidFill>
                <a:latin typeface="Calibri"/>
              </a:rPr>
              <a:t>Pilot: </a:t>
            </a:r>
            <a:r>
              <a:rPr sz="1700" b="0">
                <a:solidFill>
                  <a:srgbClr val="1A1A2E"/>
                </a:solidFill>
                <a:latin typeface="Calibri"/>
              </a:rPr>
              <a:t>run a 3-month pilot on the Stuttgart line; measure stoppage hours and freight cost.</a:t>
            </a:r>
          </a:p>
          <a:p>
            <a:pPr algn="l">
              <a:lnSpc>
                <a:spcPct val="108000"/>
              </a:lnSpc>
              <a:spcAft>
                <a:spcPts val="1200"/>
              </a:spcAft>
            </a:pPr>
            <a:r>
              <a:rPr sz="1700" b="1">
                <a:solidFill>
                  <a:srgbClr val="6CB400"/>
                </a:solidFill>
                <a:latin typeface="Calibri"/>
              </a:rPr>
              <a:t>•  </a:t>
            </a:r>
            <a:r>
              <a:rPr sz="1700" b="1">
                <a:solidFill>
                  <a:srgbClr val="1A1A2E"/>
                </a:solidFill>
                <a:latin typeface="Calibri"/>
              </a:rPr>
              <a:t>Learn: </a:t>
            </a:r>
            <a:r>
              <a:rPr sz="1700" b="0">
                <a:solidFill>
                  <a:srgbClr val="1A1A2E"/>
                </a:solidFill>
                <a:latin typeface="Calibri"/>
              </a:rPr>
              <a:t>feed approve/override decisions back so risk scoring improves over time (the learning loop).</a:t>
            </a:r>
          </a:p>
          <a:p>
            <a:pPr algn="l">
              <a:lnSpc>
                <a:spcPct val="108000"/>
              </a:lnSpc>
              <a:spcAft>
                <a:spcPts val="1200"/>
              </a:spcAft>
            </a:pPr>
            <a:r>
              <a:rPr sz="1700" b="1">
                <a:solidFill>
                  <a:srgbClr val="6CB400"/>
                </a:solidFill>
                <a:latin typeface="Calibri"/>
              </a:rPr>
              <a:t>•  </a:t>
            </a:r>
            <a:r>
              <a:rPr sz="1700" b="1">
                <a:solidFill>
                  <a:srgbClr val="1A1A2E"/>
                </a:solidFill>
                <a:latin typeface="Calibri"/>
              </a:rPr>
              <a:t>Scale: </a:t>
            </a:r>
            <a:r>
              <a:rPr sz="1700" b="0">
                <a:solidFill>
                  <a:srgbClr val="1A1A2E"/>
                </a:solidFill>
                <a:latin typeface="Calibri"/>
              </a:rPr>
              <a:t>extend to all 28 plants, then to related case challenges such as predictive maintenance and quality.</a:t>
            </a:r>
          </a:p>
          <a:p>
            <a:pPr algn="l">
              <a:lnSpc>
                <a:spcPct val="108000"/>
              </a:lnSpc>
              <a:spcAft>
                <a:spcPts val="1200"/>
              </a:spcAft>
            </a:pPr>
            <a:r>
              <a:rPr sz="1700" b="1">
                <a:solidFill>
                  <a:srgbClr val="6CB400"/>
                </a:solidFill>
                <a:latin typeface="Calibri"/>
              </a:rPr>
              <a:t>•  </a:t>
            </a:r>
            <a:r>
              <a:rPr sz="1700" b="1">
                <a:solidFill>
                  <a:srgbClr val="1A1A2E"/>
                </a:solidFill>
                <a:latin typeface="Calibri"/>
              </a:rPr>
              <a:t>Harden: </a:t>
            </a:r>
            <a:r>
              <a:rPr sz="1700" b="0">
                <a:solidFill>
                  <a:srgbClr val="1A1A2E"/>
                </a:solidFill>
                <a:latin typeface="Calibri"/>
              </a:rPr>
              <a:t>add live data connectors (ERP, TMS, news APIs) and full MCP tool servers.</a:t>
            </a:r>
          </a:p>
        </p:txBody>
      </p:sp>
      <p:sp>
        <p:nvSpPr>
          <p:cNvPr id="7" name="Rectangle 6"/>
          <p:cNvSpPr/>
          <p:nvPr/>
        </p:nvSpPr>
        <p:spPr>
          <a:xfrm>
            <a:off x="548640" y="4754880"/>
            <a:ext cx="11064240" cy="1097280"/>
          </a:xfrm>
          <a:prstGeom prst="rect">
            <a:avLst/>
          </a:prstGeom>
          <a:solidFill>
            <a:srgbClr val="0A1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754880"/>
            <a:ext cx="10698480" cy="1097280"/>
          </a:xfrm>
          <a:prstGeom prst="rect">
            <a:avLst/>
          </a:prstGeom>
          <a:noFill/>
        </p:spPr>
        <p:txBody>
          <a:bodyPr wrap="square" anchor="ctr">
            <a:spAutoFit/>
          </a:bodyPr>
          <a:lstStyle/>
          <a:p>
            <a:pPr algn="l">
              <a:lnSpc>
                <a:spcPct val="105000"/>
              </a:lnSpc>
              <a:spcAft>
                <a:spcPts val="600"/>
              </a:spcAft>
            </a:pPr>
            <a:r>
              <a:rPr sz="1800" b="1">
                <a:solidFill>
                  <a:srgbClr val="6CB400"/>
                </a:solidFill>
                <a:latin typeface="Calibri"/>
              </a:rPr>
              <a:t>The ask: </a:t>
            </a:r>
            <a:r>
              <a:rPr sz="1800" b="0">
                <a:solidFill>
                  <a:srgbClr val="FFFFFF"/>
                </a:solidFill>
                <a:latin typeface="Calibri"/>
              </a:rPr>
              <a:t>approve a one-line, one-quarter pilot. Low cost, low risk, clearly measurable.</a:t>
            </a:r>
          </a:p>
        </p:txBody>
      </p:sp>
      <p:sp>
        <p:nvSpPr>
          <p:cNvPr id="9" name="TextBox 8"/>
          <p:cNvSpPr txBox="1"/>
          <p:nvPr/>
        </p:nvSpPr>
        <p:spPr>
          <a:xfrm>
            <a:off x="548640" y="5989320"/>
            <a:ext cx="11064240" cy="457200"/>
          </a:xfrm>
          <a:prstGeom prst="rect">
            <a:avLst/>
          </a:prstGeom>
          <a:noFill/>
        </p:spPr>
        <p:txBody>
          <a:bodyPr wrap="square" anchor="t">
            <a:spAutoFit/>
          </a:bodyPr>
          <a:lstStyle/>
          <a:p>
            <a:pPr algn="ctr">
              <a:lnSpc>
                <a:spcPct val="105000"/>
              </a:lnSpc>
              <a:spcAft>
                <a:spcPts val="600"/>
              </a:spcAft>
            </a:pPr>
            <a:r>
              <a:rPr sz="1700" b="1">
                <a:solidFill>
                  <a:srgbClr val="0A1F6B"/>
                </a:solidFill>
                <a:latin typeface="Calibri"/>
              </a:rPr>
              <a:t>Thank you. We welcome your questions.</a:t>
            </a:r>
          </a:p>
        </p:txBody>
      </p:sp>
      <p:sp>
        <p:nvSpPr>
          <p:cNvPr id="10" name="Rectangle 9"/>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Clarity, Presentation Quality &amp; Creativity (20 pts)</a:t>
            </a:r>
            <a:r>
              <a:rPr sz="1100" b="1">
                <a:solidFill>
                  <a:srgbClr val="0A1F6B"/>
                </a:solidFill>
                <a:latin typeface="Calibri"/>
              </a:rPr>
              <a:t>     |     Handout: </a:t>
            </a:r>
            <a:r>
              <a:rPr sz="1100" b="0">
                <a:solidFill>
                  <a:srgbClr val="555555"/>
                </a:solidFill>
                <a:latin typeface="Calibri"/>
              </a:rPr>
              <a:t>Next steps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