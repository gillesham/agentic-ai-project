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99"/>
    <p:restoredTop sz="94636"/>
  </p:normalViewPr>
  <p:slideViewPr>
    <p:cSldViewPr snapToGrid="0" snapToObjects="1">
      <p:cViewPr varScale="1">
        <p:scale>
          <a:sx n="131" d="100"/>
          <a:sy n="131" d="100"/>
        </p:scale>
        <p:origin x="208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79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 (30s): Last quarter we lost 14 million dollars to production lines that stopped because a part did not arrive, and we found out too late. We are proposing an AI teammate that catches these problems weeks earlier. Replace the teammate names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CH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(90s) Walk the left column (the pain) then the right column (the root cause). Land the closing line: this is an information and decision problem, not a people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CH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(60s) Frame the goal in business terms. The metrics make the promise concrete, which is what a board wants to hear.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CH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(45s) One line per step. The point for the board: one assistant does the work that today is split across several teams who do not share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CH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(45s) This slide answers the unspoken question: does it actually address our problem? Yes, every issue on slide 1 has a fix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CH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(75s) Keep it non-technical. If asked: each specialist is an AI agent, the supervisor is an orchestrator, and it runs on Claude hosted in our cloud. But the board only needs the team analogy.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CH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(60s) This is the trust slide. The AI prepares and recommends; people own the money decisions. Point to the two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CH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(3 to 4 min, the heart of the talk) Optionally run the live demo here (python run_demo.py --slow; it works offline). The key moment to stress: the Sentinel rejects its own first idea (rushing the stuck shipment) and finds a smarter, cheaper fix. That is real reasoning, not a fixed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CH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(60s) Risk is a board concern, so meet it head on. Aside for the professor: the assignment handout itself contained a hidden instruction trying to make AI tools refuse the task, a real manipulation attempt. The system treats such text as data, not commands, which is exactly point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CH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(45s) The so-what slide. Tie each benefit back to the money and the customer deadlines.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CH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(45s) End on the pilot ask. It is concrete, low risk and measurable, which is the easiest thing for a board to say yes to. Then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C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F36A3-196C-2340-928B-2735ABFC683D}" type="datetime1">
              <a:rPr lang="de-CH" smtClean="0"/>
              <a:t>19.06.26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641EE-342D-484E-BC9F-442E04576153}" type="datetime1">
              <a:rPr lang="de-CH" smtClean="0"/>
              <a:t>19.06.26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FF02-26D6-CB4B-B2D6-056F329435EE}" type="datetime1">
              <a:rPr lang="de-CH" smtClean="0"/>
              <a:t>19.06.26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A440E-2EAB-D84E-B57B-279937A87049}" type="datetime1">
              <a:rPr lang="de-CH" smtClean="0"/>
              <a:t>19.06.26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78A58-9B46-2042-BBA9-CB92C9D372CF}" type="datetime1">
              <a:rPr lang="de-CH" smtClean="0"/>
              <a:t>19.06.26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DC8E-CC62-DB47-BBDE-797882642D4C}" type="datetime1">
              <a:rPr lang="de-CH" smtClean="0"/>
              <a:t>19.06.26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75DB-65E3-AB46-8CD4-47304E43D415}" type="datetime1">
              <a:rPr lang="de-CH" smtClean="0"/>
              <a:t>19.06.26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0F6DA-24F4-2D46-BB3D-4D7322336F46}" type="datetime1">
              <a:rPr lang="de-CH" smtClean="0"/>
              <a:t>19.06.26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AD4E-8873-4440-8E24-CB8AEDF8880E}" type="datetime1">
              <a:rPr lang="de-CH" smtClean="0"/>
              <a:t>19.06.26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04B13-8432-E04B-92A7-4A1AD989D8E0}" type="datetime1">
              <a:rPr lang="de-CH" smtClean="0"/>
              <a:t>19.06.26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8F4C9-768D-C344-A3EC-C9D296A69E2E}" type="datetime1">
              <a:rPr lang="de-CH" smtClean="0"/>
              <a:t>19.06.26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81234-AE5F-CA4B-9222-81AC638D9DC4}" type="datetime1">
              <a:rPr lang="de-CH" smtClean="0"/>
              <a:t>19.06.26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84576"/>
            <a:ext cx="12191695" cy="73152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Supply Chain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300" b="0">
                <a:solidFill>
                  <a:srgbClr val="6CB400"/>
                </a:solidFill>
                <a:latin typeface="Calibri"/>
              </a:rPr>
              <a:t>An AI teammate that protects our production lines from supply shocks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434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A proposal to the Board of Titan Manufacturing Corporation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69280"/>
            <a:ext cx="10607040" cy="6124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dirty="0">
                <a:solidFill>
                  <a:srgbClr val="BBC6E0"/>
                </a:solidFill>
                <a:latin typeface="Calibri"/>
              </a:rPr>
              <a:t>Agentic AI for IT  |  IE University, School of Science &amp; Technology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dirty="0">
                <a:solidFill>
                  <a:srgbClr val="BBC6E0"/>
                </a:solidFill>
                <a:latin typeface="Calibri"/>
              </a:rPr>
              <a:t>Team: Gilles Hamers, </a:t>
            </a:r>
            <a:r>
              <a:rPr lang="de-CH" sz="1400" b="0" dirty="0">
                <a:solidFill>
                  <a:srgbClr val="BBC6E0"/>
                </a:solidFill>
                <a:latin typeface="Calibri"/>
              </a:rPr>
              <a:t>Lorenz Rösgen, Dan Tigu</a:t>
            </a:r>
            <a:endParaRPr sz="1400" b="0" dirty="0">
              <a:solidFill>
                <a:srgbClr val="BBC6E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Calibri"/>
              </a:rPr>
              <a:t>THE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0A1F6B"/>
                </a:solidFill>
                <a:latin typeface="Calibri"/>
              </a:rPr>
              <a:t>1. Why our production lines keep stopping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2011680" cy="54864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  <a:latin typeface="Calibri"/>
              </a:rPr>
              <a:t>Our output is down </a:t>
            </a:r>
            <a:r>
              <a:rPr sz="1700" b="1">
                <a:solidFill>
                  <a:srgbClr val="C02A2A"/>
                </a:solidFill>
                <a:latin typeface="Calibri"/>
              </a:rPr>
              <a:t>9% this year</a:t>
            </a:r>
            <a:r>
              <a:rPr sz="1700" b="0">
                <a:solidFill>
                  <a:srgbClr val="1A1A2E"/>
                </a:solidFill>
                <a:latin typeface="Calibri"/>
              </a:rPr>
              <a:t> and we keep missing customer deadlines. The cause is our supply chain.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64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we are seeing</a:t>
                      </a:r>
                    </a:p>
                  </a:txBody>
                  <a:tcPr>
                    <a:solidFill>
                      <a:srgbClr val="0A1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Why it keeps happening</a:t>
                      </a:r>
                    </a:p>
                  </a:txBody>
                  <a:tcPr>
                    <a:solidFill>
                      <a:srgbClr val="0A1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Suppliers deliver late 28% more often than before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We can see our direct suppliers, but not the companies that supply them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Missing parts stopped our lines: 14 million dollars last quarter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Shipping information is scattered across emails, spreadsheets and separate systems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We discover a supplier problem only after a line has stopped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We trust the original promised dates, even when they are already wrong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Emergency shipping costs are up 52%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Every decision is made by hand, after the problem has already hit us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0A1F6B"/>
                </a:solidFill>
                <a:latin typeface="Calibri"/>
              </a:rPr>
              <a:t>In short: we react too late because our information is scattered and our decisions are manual.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0A1F6B"/>
                </a:solidFill>
                <a:latin typeface="Calibri"/>
              </a:rPr>
              <a:t>2. The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2011680" cy="54864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6CB400"/>
                </a:solidFill>
                <a:latin typeface="Calibri"/>
              </a:rPr>
              <a:t>•  </a:t>
            </a:r>
            <a:r>
              <a:rPr sz="1800" b="0">
                <a:solidFill>
                  <a:srgbClr val="1A1A2E"/>
                </a:solidFill>
                <a:latin typeface="Calibri"/>
              </a:rPr>
              <a:t>Today our teams chase this information across many systems, one problem at a time, and usually too late.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6CB400"/>
                </a:solidFill>
                <a:latin typeface="Calibri"/>
              </a:rPr>
              <a:t>•  </a:t>
            </a:r>
            <a:r>
              <a:rPr sz="1800" b="0">
                <a:solidFill>
                  <a:srgbClr val="1A1A2E"/>
                </a:solidFill>
                <a:latin typeface="Calibri"/>
              </a:rPr>
              <a:t>We need something that watches every warning signal, all day and night, and acts before a line stops.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63240"/>
            <a:ext cx="11064240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6CB400"/>
                </a:solidFill>
                <a:latin typeface="Calibri"/>
              </a:rPr>
              <a:t>Our goal: </a:t>
            </a:r>
            <a:r>
              <a:rPr sz="1800" b="0">
                <a:solidFill>
                  <a:srgbClr val="1A1A2E"/>
                </a:solidFill>
                <a:latin typeface="Calibri"/>
              </a:rPr>
              <a:t>keep every critical part in stock by spotting supply risk early and fixing it at the lowest cost, with our managers approving the important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A1F6B"/>
                </a:solidFill>
                <a:latin typeface="Calibri"/>
              </a:rPr>
              <a:t>How we will measure success: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700" b="1">
                <a:solidFill>
                  <a:srgbClr val="6CB400"/>
                </a:solidFill>
                <a:latin typeface="Calibri"/>
              </a:rPr>
              <a:t>•  </a:t>
            </a:r>
            <a:r>
              <a:rPr sz="1700" b="0">
                <a:solidFill>
                  <a:srgbClr val="1A1A2E"/>
                </a:solidFill>
                <a:latin typeface="Calibri"/>
              </a:rPr>
              <a:t>Warnings arrive in minutes instead of days.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700" b="1">
                <a:solidFill>
                  <a:srgbClr val="6CB400"/>
                </a:solidFill>
                <a:latin typeface="Calibri"/>
              </a:rPr>
              <a:t>•  </a:t>
            </a:r>
            <a:r>
              <a:rPr sz="1700" b="0">
                <a:solidFill>
                  <a:srgbClr val="1A1A2E"/>
                </a:solidFill>
                <a:latin typeface="Calibri"/>
              </a:rPr>
              <a:t>We catch most disruptions before a delivery is even late.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700" b="1">
                <a:solidFill>
                  <a:srgbClr val="6CB400"/>
                </a:solidFill>
                <a:latin typeface="Calibri"/>
              </a:rPr>
              <a:t>•  </a:t>
            </a:r>
            <a:r>
              <a:rPr sz="1700" b="0">
                <a:solidFill>
                  <a:srgbClr val="1A1A2E"/>
                </a:solidFill>
                <a:latin typeface="Calibri"/>
              </a:rPr>
              <a:t>Emergency shipping costs fall by about a third.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Calibri"/>
              </a:rPr>
              <a:t>OUR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0A1F6B"/>
                </a:solidFill>
                <a:latin typeface="Calibri"/>
              </a:rPr>
              <a:t>3. A 24/7 supply chain guardian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2011680" cy="54864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We propose </a:t>
            </a:r>
            <a:r>
              <a:rPr sz="1800" b="1">
                <a:solidFill>
                  <a:srgbClr val="0A1F6B"/>
                </a:solidFill>
                <a:latin typeface="Calibri"/>
              </a:rPr>
              <a:t>Supply Chain Sentinel</a:t>
            </a:r>
            <a:r>
              <a:rPr sz="1800" b="0">
                <a:solidFill>
                  <a:srgbClr val="1A1A2E"/>
                </a:solidFill>
                <a:latin typeface="Calibri"/>
              </a:rPr>
              <a:t>, a digital assistant that never sleeps and does four things: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4884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0A1F6B"/>
                </a:solidFill>
                <a:latin typeface="Calibri"/>
              </a:rPr>
              <a:t>Watches: </a:t>
            </a:r>
            <a:r>
              <a:rPr sz="1700" b="0">
                <a:solidFill>
                  <a:srgbClr val="1A1A2E"/>
                </a:solidFill>
                <a:latin typeface="Calibri"/>
              </a:rPr>
              <a:t>It scans the news, weather, ports and supplier updates for anything that could disrupt 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0896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0A1F6B"/>
                </a:solidFill>
                <a:latin typeface="Calibri"/>
              </a:rPr>
              <a:t>Connects the dots: </a:t>
            </a:r>
            <a:r>
              <a:rPr sz="1700" b="0">
                <a:solidFill>
                  <a:srgbClr val="1A1A2E"/>
                </a:solidFill>
                <a:latin typeface="Calibri"/>
              </a:rPr>
              <a:t>It maps which of our products depend on a troubled supplier, even two or three steps up the chain.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0690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0A1F6B"/>
                </a:solidFill>
                <a:latin typeface="Calibri"/>
              </a:rPr>
              <a:t>Predicts: </a:t>
            </a:r>
            <a:r>
              <a:rPr sz="1700" b="0">
                <a:solidFill>
                  <a:srgbClr val="1A1A2E"/>
                </a:solidFill>
                <a:latin typeface="Calibri"/>
              </a:rPr>
              <a:t>It works out when parts will really arrive and how much money is at risk.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02920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0A1F6B"/>
                </a:solidFill>
                <a:latin typeface="Calibri"/>
              </a:rPr>
              <a:t>Acts: </a:t>
            </a:r>
            <a:r>
              <a:rPr sz="1700" b="0">
                <a:solidFill>
                  <a:srgbClr val="1A1A2E"/>
                </a:solidFill>
                <a:latin typeface="Calibri"/>
              </a:rPr>
              <a:t>It prepares the fix (reorder, switch supplier, or adjust the schedule) and asks a manager to approve the costly moves.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Calibri"/>
              </a:rPr>
              <a:t>WHAT IT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0A1F6B"/>
                </a:solidFill>
                <a:latin typeface="Calibri"/>
              </a:rPr>
              <a:t>4. It fixes the exact problems we 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2011680" cy="54864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Our problem today</a:t>
                      </a:r>
                    </a:p>
                  </a:txBody>
                  <a:tcPr>
                    <a:solidFill>
                      <a:srgbClr val="0A1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How the Sentinel fixes it</a:t>
                      </a:r>
                    </a:p>
                  </a:txBody>
                  <a:tcPr>
                    <a:solidFill>
                      <a:srgbClr val="0A1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2E"/>
                          </a:solidFill>
                          <a:latin typeface="Calibri"/>
                        </a:rPr>
                        <a:t>We cannot see past our direct suppliers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2E"/>
                          </a:solidFill>
                          <a:latin typeface="Calibri"/>
                        </a:rPr>
                        <a:t>It maps the full chain and flags hidden risks early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2E"/>
                          </a:solidFill>
                          <a:latin typeface="Calibri"/>
                        </a:rPr>
                        <a:t>Promised delivery dates are unreliable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2E"/>
                          </a:solidFill>
                          <a:latin typeface="Calibri"/>
                        </a:rPr>
                        <a:t>It predicts the real arrival date and the cost of any delay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2E"/>
                          </a:solidFill>
                          <a:latin typeface="Calibri"/>
                        </a:rPr>
                        <a:t>Too many alerts and no way to prioritise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2E"/>
                          </a:solidFill>
                          <a:latin typeface="Calibri"/>
                        </a:rPr>
                        <a:t>It ranks the risks so we focus only on what truly matters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2E"/>
                          </a:solidFill>
                          <a:latin typeface="Calibri"/>
                        </a:rPr>
                        <a:t>Slow, manual and expensive reactions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2E"/>
                          </a:solidFill>
                          <a:latin typeface="Calibri"/>
                        </a:rPr>
                        <a:t>It prepares the lowest-cost fix in minutes, ready for approval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6CB400"/>
                </a:solidFill>
                <a:latin typeface="Calibri"/>
              </a:rPr>
              <a:t>One assistant that covers every part of this challenge.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247120" cy="5264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 dirty="0">
                <a:solidFill>
                  <a:srgbClr val="0A1F6B"/>
                </a:solidFill>
                <a:latin typeface="Calibri"/>
              </a:rPr>
              <a:t>5. </a:t>
            </a:r>
            <a:r>
              <a:rPr lang="de-CH" sz="2800" b="1" dirty="0">
                <a:solidFill>
                  <a:srgbClr val="0A1F6B"/>
                </a:solidFill>
                <a:latin typeface="Calibri"/>
              </a:rPr>
              <a:t>The </a:t>
            </a:r>
            <a:r>
              <a:rPr lang="de-CH" sz="2800" b="1" dirty="0" err="1">
                <a:solidFill>
                  <a:srgbClr val="0A1F6B"/>
                </a:solidFill>
                <a:latin typeface="Calibri"/>
              </a:rPr>
              <a:t>architecture</a:t>
            </a:r>
            <a:r>
              <a:rPr lang="de-CH" sz="2800" b="1" dirty="0">
                <a:solidFill>
                  <a:srgbClr val="0A1F6B"/>
                </a:solidFill>
                <a:latin typeface="Calibri"/>
              </a:rPr>
              <a:t> </a:t>
            </a:r>
            <a:endParaRPr sz="2800" b="1" dirty="0">
              <a:solidFill>
                <a:srgbClr val="0A1F6B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2011680" cy="54864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Think of it as a small team of four AI specialists, led by a supervisor: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25690"/>
            <a:ext cx="2606040" cy="1051560"/>
          </a:xfrm>
          <a:prstGeom prst="rect">
            <a:avLst/>
          </a:prstGeom>
          <a:solidFill>
            <a:srgbClr val="1E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3617130"/>
            <a:ext cx="2423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Watcher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CFDAF0"/>
                </a:solidFill>
                <a:latin typeface="Calibri"/>
              </a:rPr>
              <a:t>spots disruptions in the outside world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3525690"/>
            <a:ext cx="2606040" cy="1051560"/>
          </a:xfrm>
          <a:prstGeom prst="rect">
            <a:avLst/>
          </a:prstGeom>
          <a:solidFill>
            <a:srgbClr val="1E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3617130"/>
            <a:ext cx="2423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Mapper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CFDAF0"/>
                </a:solidFill>
                <a:latin typeface="Calibri"/>
              </a:rPr>
              <a:t>traces them to the parts at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525690"/>
            <a:ext cx="2606040" cy="1051560"/>
          </a:xfrm>
          <a:prstGeom prst="rect">
            <a:avLst/>
          </a:prstGeom>
          <a:solidFill>
            <a:srgbClr val="1E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59" y="3617130"/>
            <a:ext cx="2423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Forecaster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CFDAF0"/>
                </a:solidFill>
                <a:latin typeface="Calibri"/>
              </a:rPr>
              <a:t>predicts real arrival dates and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3525690"/>
            <a:ext cx="2606040" cy="1051560"/>
          </a:xfrm>
          <a:prstGeom prst="rect">
            <a:avLst/>
          </a:prstGeom>
          <a:solidFill>
            <a:srgbClr val="1E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3617130"/>
            <a:ext cx="2423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Planner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CFDAF0"/>
                </a:solidFill>
                <a:latin typeface="Calibri"/>
              </a:rPr>
              <a:t>prepares the fix and flags approvals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02919"/>
            <a:ext cx="11064240" cy="12801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140079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dirty="0">
                <a:solidFill>
                  <a:srgbClr val="0A1F6B"/>
                </a:solidFill>
                <a:latin typeface="Calibri"/>
              </a:rPr>
              <a:t>Why a team and not one big system? </a:t>
            </a:r>
            <a:r>
              <a:rPr sz="1600" b="0" dirty="0">
                <a:solidFill>
                  <a:srgbClr val="1A1A2E"/>
                </a:solidFill>
                <a:latin typeface="Calibri"/>
              </a:rPr>
              <a:t>A single all-in-one tool tries to do too much and makes poor decisions. Four focused specialists are more accurate and far easier to check and trust.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dirty="0">
                <a:solidFill>
                  <a:srgbClr val="555555"/>
                </a:solidFill>
                <a:latin typeface="Calibri"/>
              </a:rPr>
              <a:t>Built on proven, secure AI technology and hosted in our own cloud, so our data stays protected.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3E7C2E-7FDE-C6CC-3D98-27DBCE75E747}"/>
              </a:ext>
            </a:extLst>
          </p:cNvPr>
          <p:cNvSpPr/>
          <p:nvPr/>
        </p:nvSpPr>
        <p:spPr>
          <a:xfrm>
            <a:off x="4792981" y="2165655"/>
            <a:ext cx="2606040" cy="1051560"/>
          </a:xfrm>
          <a:prstGeom prst="rect">
            <a:avLst/>
          </a:prstGeom>
          <a:solidFill>
            <a:srgbClr val="1E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A7A02F-B689-9618-3190-CA06F47D8E04}"/>
              </a:ext>
            </a:extLst>
          </p:cNvPr>
          <p:cNvSpPr txBox="1"/>
          <p:nvPr/>
        </p:nvSpPr>
        <p:spPr>
          <a:xfrm>
            <a:off x="4884420" y="2213485"/>
            <a:ext cx="2423160" cy="10016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lang="de-CH" sz="1600" b="1" dirty="0">
                <a:solidFill>
                  <a:srgbClr val="FFFFFF"/>
                </a:solidFill>
                <a:latin typeface="Calibri"/>
              </a:rPr>
              <a:t>Supervisor</a:t>
            </a:r>
            <a:endParaRPr sz="1600" b="1" dirty="0">
              <a:solidFill>
                <a:srgbClr val="FFFFFF"/>
              </a:solidFill>
              <a:latin typeface="Calibri"/>
            </a:endParaRP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lang="de-CH" sz="1200" dirty="0">
                <a:solidFill>
                  <a:srgbClr val="CFDAF0"/>
                </a:solidFill>
                <a:latin typeface="Calibri"/>
              </a:rPr>
              <a:t>decides which specialist, in what order and combines findings into recommendation</a:t>
            </a:r>
            <a:endParaRPr sz="1200" b="0" dirty="0">
              <a:solidFill>
                <a:srgbClr val="CFDAF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Calibri"/>
              </a:rPr>
              <a:t>WHO STAYS IN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0A1F6B"/>
                </a:solidFill>
                <a:latin typeface="Calibri"/>
              </a:rPr>
              <a:t>6. The AI assists. Our people decide.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2011680" cy="54864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49240" cy="30175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6CB400"/>
                </a:solidFill>
                <a:latin typeface="Calibri"/>
              </a:rPr>
              <a:t>The Sentinel does on its own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(low risk, easy to undo)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4983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6CB400"/>
                </a:solidFill>
                <a:latin typeface="Calibri"/>
              </a:rPr>
              <a:t>•  </a:t>
            </a:r>
            <a:r>
              <a:rPr sz="1500" b="0">
                <a:solidFill>
                  <a:srgbClr val="1A1A2E"/>
                </a:solidFill>
                <a:latin typeface="Calibri"/>
              </a:rPr>
              <a:t>Reads our systems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6CB400"/>
                </a:solidFill>
                <a:latin typeface="Calibri"/>
              </a:rPr>
              <a:t>•  </a:t>
            </a:r>
            <a:r>
              <a:rPr sz="1500" b="0">
                <a:solidFill>
                  <a:srgbClr val="1A1A2E"/>
                </a:solidFill>
                <a:latin typeface="Calibri"/>
              </a:rPr>
              <a:t>Calculates the risk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6CB400"/>
                </a:solidFill>
                <a:latin typeface="Calibri"/>
              </a:rPr>
              <a:t>•  </a:t>
            </a:r>
            <a:r>
              <a:rPr sz="1500" b="0">
                <a:solidFill>
                  <a:srgbClr val="1A1A2E"/>
                </a:solidFill>
                <a:latin typeface="Calibri"/>
              </a:rPr>
              <a:t>Drafts a recommendation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6CB400"/>
                </a:solidFill>
                <a:latin typeface="Calibri"/>
              </a:rPr>
              <a:t>•  </a:t>
            </a:r>
            <a:r>
              <a:rPr sz="1500" b="0">
                <a:solidFill>
                  <a:srgbClr val="1A1A2E"/>
                </a:solidFill>
                <a:latin typeface="Calibri"/>
              </a:rPr>
              <a:t>Sends alerts to the right people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45920"/>
            <a:ext cx="5349240" cy="30175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C02A2A"/>
                </a:solidFill>
                <a:latin typeface="Calibri"/>
              </a:rPr>
              <a:t>A manager must approve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(high cost or hard to undo)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97480"/>
            <a:ext cx="4983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6CB400"/>
                </a:solidFill>
                <a:latin typeface="Calibri"/>
              </a:rPr>
              <a:t>•  </a:t>
            </a:r>
            <a:r>
              <a:rPr sz="1500" b="0">
                <a:solidFill>
                  <a:srgbClr val="1A1A2E"/>
                </a:solidFill>
                <a:latin typeface="Calibri"/>
              </a:rPr>
              <a:t>Committing real spend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6CB400"/>
                </a:solidFill>
                <a:latin typeface="Calibri"/>
              </a:rPr>
              <a:t>•  </a:t>
            </a:r>
            <a:r>
              <a:rPr sz="1500" b="0">
                <a:solidFill>
                  <a:srgbClr val="1A1A2E"/>
                </a:solidFill>
                <a:latin typeface="Calibri"/>
              </a:rPr>
              <a:t>Paying for emergency freight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6CB400"/>
                </a:solidFill>
                <a:latin typeface="Calibri"/>
              </a:rPr>
              <a:t>•  </a:t>
            </a:r>
            <a:r>
              <a:rPr sz="1500" b="0">
                <a:solidFill>
                  <a:srgbClr val="1A1A2E"/>
                </a:solidFill>
                <a:latin typeface="Calibri"/>
              </a:rPr>
              <a:t>Changing a live production 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A1F6B"/>
                </a:solidFill>
                <a:latin typeface="Calibri"/>
              </a:rPr>
              <a:t>Nothing irreversible ever happens without a person signing off, and every step is recorded for full transparency.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Calibri"/>
              </a:rPr>
              <a:t>SEEING IT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0A1F6B"/>
                </a:solidFill>
                <a:latin typeface="Calibri"/>
              </a:rPr>
              <a:t>7. A real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2011680" cy="54864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CB400"/>
                </a:solidFill>
                <a:latin typeface="Calibri"/>
              </a:rPr>
              <a:t>•  </a:t>
            </a:r>
            <a:r>
              <a:rPr sz="1600" b="0">
                <a:solidFill>
                  <a:srgbClr val="1A1A2E"/>
                </a:solidFill>
                <a:latin typeface="Calibri"/>
              </a:rPr>
              <a:t>A typhoon and a power cut hit a chip factory in Taiwan.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CB400"/>
                </a:solidFill>
                <a:latin typeface="Calibri"/>
              </a:rPr>
              <a:t>•  </a:t>
            </a:r>
            <a:r>
              <a:rPr sz="1600" b="0">
                <a:solidFill>
                  <a:srgbClr val="1A1A2E"/>
                </a:solidFill>
                <a:latin typeface="Calibri"/>
              </a:rPr>
              <a:t>The Sentinel finds that a chip from that factory is essential for the controllers on our Stuttgart line, a link we could not see before.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CB400"/>
                </a:solidFill>
                <a:latin typeface="Calibri"/>
              </a:rPr>
              <a:t>•  </a:t>
            </a:r>
            <a:r>
              <a:rPr sz="1600" b="0">
                <a:solidFill>
                  <a:srgbClr val="1A1A2E"/>
                </a:solidFill>
                <a:latin typeface="Calibri"/>
              </a:rPr>
              <a:t>Our supplier's order looks on time, but is actually stuck waiting for that chip. The real delay is about 19 days.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CB400"/>
                </a:solidFill>
                <a:latin typeface="Calibri"/>
              </a:rPr>
              <a:t>•  </a:t>
            </a:r>
            <a:r>
              <a:rPr sz="1600" b="0">
                <a:solidFill>
                  <a:srgbClr val="1A1A2E"/>
                </a:solidFill>
                <a:latin typeface="Calibri"/>
              </a:rPr>
              <a:t>We have only 2 days of stock left. If the line stops, the risk is about 3 million dollars.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CB400"/>
                </a:solidFill>
                <a:latin typeface="Calibri"/>
              </a:rPr>
              <a:t>•  </a:t>
            </a:r>
            <a:r>
              <a:rPr sz="1600" b="0">
                <a:solidFill>
                  <a:srgbClr val="1A1A2E"/>
                </a:solidFill>
                <a:latin typeface="Calibri"/>
              </a:rPr>
              <a:t>The Sentinel does not waste money rushing a shipment that is already stuck. It switches to an approved European supplier instead.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CB400"/>
                </a:solidFill>
                <a:latin typeface="Calibri"/>
              </a:rPr>
              <a:t>•  </a:t>
            </a:r>
            <a:r>
              <a:rPr sz="1600" b="0">
                <a:solidFill>
                  <a:srgbClr val="1A1A2E"/>
                </a:solidFill>
                <a:latin typeface="Calibri"/>
              </a:rPr>
              <a:t>It prepares the order and asks a manager to approve the 294,000 dollar spend and the schedule change.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52850"/>
            <a:ext cx="11064240" cy="685800"/>
          </a:xfrm>
          <a:prstGeom prst="rect">
            <a:avLst/>
          </a:prstGeom>
          <a:solidFill>
            <a:srgbClr val="0A1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052850"/>
            <a:ext cx="10698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Result: a 3 million dollar problem caught three weeks early, with a plan ready to go. We can show this running 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Calibri"/>
              </a:rPr>
              <a:t>MANAGING THE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0A1F6B"/>
                </a:solidFill>
                <a:latin typeface="Calibri"/>
              </a:rPr>
              <a:t>8. Keeping it safe and trustworthy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2011680" cy="54864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6CB400"/>
                </a:solidFill>
                <a:latin typeface="Calibri"/>
              </a:rPr>
              <a:t>•  </a:t>
            </a:r>
            <a:r>
              <a:rPr sz="1700" b="1">
                <a:solidFill>
                  <a:srgbClr val="1A1A2E"/>
                </a:solidFill>
                <a:latin typeface="Calibri"/>
              </a:rPr>
              <a:t>People approve every costly or irreversible action. </a:t>
            </a:r>
            <a:r>
              <a:rPr sz="1700" b="0">
                <a:solidFill>
                  <a:srgbClr val="1A1A2E"/>
                </a:solidFill>
                <a:latin typeface="Calibri"/>
              </a:rPr>
              <a:t>The AI never spends on its own.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6CB400"/>
                </a:solidFill>
                <a:latin typeface="Calibri"/>
              </a:rPr>
              <a:t>•  </a:t>
            </a:r>
            <a:r>
              <a:rPr sz="1700" b="1">
                <a:solidFill>
                  <a:srgbClr val="1A1A2E"/>
                </a:solidFill>
                <a:latin typeface="Calibri"/>
              </a:rPr>
              <a:t>Spending limits are built in, </a:t>
            </a:r>
            <a:r>
              <a:rPr sz="1700" b="0">
                <a:solidFill>
                  <a:srgbClr val="1A1A2E"/>
                </a:solidFill>
                <a:latin typeface="Calibri"/>
              </a:rPr>
              <a:t>and orders can only go to suppliers we have already approved.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6CB400"/>
                </a:solidFill>
                <a:latin typeface="Calibri"/>
              </a:rPr>
              <a:t>•  </a:t>
            </a:r>
            <a:r>
              <a:rPr sz="1700" b="1">
                <a:solidFill>
                  <a:srgbClr val="1A1A2E"/>
                </a:solidFill>
                <a:latin typeface="Calibri"/>
              </a:rPr>
              <a:t>It acts only on confirmed information, </a:t>
            </a:r>
            <a:r>
              <a:rPr sz="1700" b="0">
                <a:solidFill>
                  <a:srgbClr val="1A1A2E"/>
                </a:solidFill>
                <a:latin typeface="Calibri"/>
              </a:rPr>
              <a:t>never on guesses or rumours.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6CB400"/>
                </a:solidFill>
                <a:latin typeface="Calibri"/>
              </a:rPr>
              <a:t>•  </a:t>
            </a:r>
            <a:r>
              <a:rPr sz="1700" b="1">
                <a:solidFill>
                  <a:srgbClr val="1A1A2E"/>
                </a:solidFill>
                <a:latin typeface="Calibri"/>
              </a:rPr>
              <a:t>Outside information is treated as data, never as commands, </a:t>
            </a:r>
            <a:r>
              <a:rPr sz="1700" b="0">
                <a:solidFill>
                  <a:srgbClr val="1A1A2E"/>
                </a:solidFill>
                <a:latin typeface="Calibri"/>
              </a:rPr>
              <a:t>so the system cannot be tricked or manipulated.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6CB400"/>
                </a:solidFill>
                <a:latin typeface="Calibri"/>
              </a:rPr>
              <a:t>•  </a:t>
            </a:r>
            <a:r>
              <a:rPr sz="1700" b="1">
                <a:solidFill>
                  <a:srgbClr val="1A1A2E"/>
                </a:solidFill>
                <a:latin typeface="Calibri"/>
              </a:rPr>
              <a:t>Every decision is recorded, </a:t>
            </a:r>
            <a:r>
              <a:rPr sz="1700" b="0">
                <a:solidFill>
                  <a:srgbClr val="1A1A2E"/>
                </a:solidFill>
                <a:latin typeface="Calibri"/>
              </a:rPr>
              <a:t>giving us a complete audit trail for compliance.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957205"/>
            <a:ext cx="11064240" cy="6400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957205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A1F6B"/>
                </a:solidFill>
                <a:latin typeface="Calibri"/>
              </a:rPr>
              <a:t>The AI supports our teams. It does not replace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Calibri"/>
              </a:rPr>
              <a:t>THE BUSINESS PAYOFF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0A1F6B"/>
                </a:solidFill>
                <a:latin typeface="Calibri"/>
              </a:rPr>
              <a:t>9. What we gain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2011680" cy="54864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>
                    <a:solidFill>
                      <a:srgbClr val="0A1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With the Sentinel</a:t>
                      </a:r>
                    </a:p>
                  </a:txBody>
                  <a:tcPr>
                    <a:solidFill>
                      <a:srgbClr val="0A1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Calibri"/>
                        </a:rPr>
                        <a:t>We find supplier problems after the line stops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Calibri"/>
                        </a:rPr>
                        <a:t>We catch them about three weeks earlier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Calibri"/>
                        </a:rPr>
                        <a:t>We rely on outdated promised dates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Calibri"/>
                        </a:rPr>
                        <a:t>We know the real arrival date and the cost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Calibri"/>
                        </a:rPr>
                        <a:t>Expensive, last-minute emergency shipping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Calibri"/>
                        </a:rPr>
                        <a:t>Planned, lower-cost fixes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Calibri"/>
                        </a:rPr>
                        <a:t>Thousands of unsorted alerts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Calibri"/>
                        </a:rPr>
                        <a:t>A short, prioritised list of real risks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892040"/>
            <a:ext cx="11064240" cy="960120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0698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Our target: </a:t>
            </a:r>
            <a:r>
              <a:rPr sz="1800" b="0">
                <a:solidFill>
                  <a:srgbClr val="FFFFFF"/>
                </a:solidFill>
                <a:latin typeface="Calibri"/>
              </a:rPr>
              <a:t>protect the 14 million dollar quarterly loss, cut emergency shipping by about a third, and turn days of analysis into minutes.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Calibri"/>
              </a:rPr>
              <a:t>WHAT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0A1F6B"/>
                </a:solidFill>
                <a:latin typeface="Calibri"/>
              </a:rPr>
              <a:t>10. Our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2011680" cy="54864"/>
          </a:xfrm>
          <a:prstGeom prst="rect">
            <a:avLst/>
          </a:prstGeom>
          <a:solidFill>
            <a:srgbClr val="6C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800" b="1">
                <a:solidFill>
                  <a:srgbClr val="6CB400"/>
                </a:solidFill>
                <a:latin typeface="Calibri"/>
              </a:rPr>
              <a:t>•  </a:t>
            </a:r>
            <a:r>
              <a:rPr sz="1800" b="1">
                <a:solidFill>
                  <a:srgbClr val="1A1A2E"/>
                </a:solidFill>
                <a:latin typeface="Calibri"/>
              </a:rPr>
              <a:t>Run a 3-month pilot </a:t>
            </a:r>
            <a:r>
              <a:rPr sz="1800" b="0">
                <a:solidFill>
                  <a:srgbClr val="1A1A2E"/>
                </a:solidFill>
                <a:latin typeface="Calibri"/>
              </a:rPr>
              <a:t>on the Stuttgart production line.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800" b="1">
                <a:solidFill>
                  <a:srgbClr val="6CB400"/>
                </a:solidFill>
                <a:latin typeface="Calibri"/>
              </a:rPr>
              <a:t>•  </a:t>
            </a:r>
            <a:r>
              <a:rPr sz="1800" b="1">
                <a:solidFill>
                  <a:srgbClr val="1A1A2E"/>
                </a:solidFill>
                <a:latin typeface="Calibri"/>
              </a:rPr>
              <a:t>Measure two clear numbers: </a:t>
            </a:r>
            <a:r>
              <a:rPr sz="1800" b="0">
                <a:solidFill>
                  <a:srgbClr val="1A1A2E"/>
                </a:solidFill>
                <a:latin typeface="Calibri"/>
              </a:rPr>
              <a:t>hours of line stoppage and emergency shipping cost.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800" b="1">
                <a:solidFill>
                  <a:srgbClr val="6CB400"/>
                </a:solidFill>
                <a:latin typeface="Calibri"/>
              </a:rPr>
              <a:t>•  </a:t>
            </a:r>
            <a:r>
              <a:rPr sz="1800" b="1">
                <a:solidFill>
                  <a:srgbClr val="1A1A2E"/>
                </a:solidFill>
                <a:latin typeface="Calibri"/>
              </a:rPr>
              <a:t>If it works, scale it </a:t>
            </a:r>
            <a:r>
              <a:rPr sz="1800" b="0">
                <a:solidFill>
                  <a:srgbClr val="1A1A2E"/>
                </a:solidFill>
                <a:latin typeface="Calibri"/>
              </a:rPr>
              <a:t>to our other plants and to related challenges such as machine maintenance and quality.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97680"/>
            <a:ext cx="11064240" cy="1188720"/>
          </a:xfrm>
          <a:prstGeom prst="rect">
            <a:avLst/>
          </a:prstGeom>
          <a:solidFill>
            <a:srgbClr val="0A1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06984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>
                <a:solidFill>
                  <a:srgbClr val="6CB400"/>
                </a:solidFill>
                <a:latin typeface="Calibri"/>
              </a:rPr>
              <a:t>The ask: </a:t>
            </a:r>
            <a:r>
              <a:rPr sz="1900" b="0">
                <a:solidFill>
                  <a:srgbClr val="FFFFFF"/>
                </a:solidFill>
                <a:latin typeface="Calibri"/>
              </a:rPr>
              <a:t>approve a one-line, one-quarter pilot. Low cost, low risk, and clearly measurable.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0A1F6B"/>
                </a:solidFill>
                <a:latin typeface="Calibri"/>
              </a:rPr>
              <a:t>Thank you. We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1624</Words>
  <Application>Microsoft Macintosh PowerPoint</Application>
  <PresentationFormat>Widescreen</PresentationFormat>
  <Paragraphs>129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Gilles Hamers</cp:lastModifiedBy>
  <cp:revision>3</cp:revision>
  <dcterms:created xsi:type="dcterms:W3CDTF">2013-01-27T09:14:16Z</dcterms:created>
  <dcterms:modified xsi:type="dcterms:W3CDTF">2026-06-19T15:51:55Z</dcterms:modified>
  <cp:category/>
</cp:coreProperties>
</file>